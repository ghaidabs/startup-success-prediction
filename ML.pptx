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6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Lst>
  <p:sldSz cx="18288000" cy="10287000"/>
  <p:notesSz cx="6858000" cy="9144000"/>
  <p:embeddedFontLst>
    <p:embeddedFont>
      <p:font typeface="Quicksand Bold" charset="1" panose="00000000000000000000"/>
      <p:regular r:id="rId52"/>
    </p:embeddedFont>
    <p:embeddedFont>
      <p:font typeface="Quicksand" charset="1" panose="00000000000000000000"/>
      <p:regular r:id="rId53"/>
    </p:embeddedFont>
    <p:embeddedFont>
      <p:font typeface="Genty Sans" charset="1" panose="00000600000000000000"/>
      <p:regular r:id="rId54"/>
    </p:embeddedFont>
    <p:embeddedFont>
      <p:font typeface="Balsamiq Sans" charset="1" panose="02000603000000000000"/>
      <p:regular r:id="rId55"/>
    </p:embeddedFont>
    <p:embeddedFont>
      <p:font typeface="Funtastic" charset="1" panose="00000000000000000000"/>
      <p:regular r:id="rId56"/>
    </p:embeddedFont>
    <p:embeddedFont>
      <p:font typeface="Canva Sans" charset="1" panose="020B0503030501040103"/>
      <p:regular r:id="rId57"/>
    </p:embeddedFont>
    <p:embeddedFont>
      <p:font typeface="Canva Sans Bold" charset="1" panose="020B0803030501040103"/>
      <p:regular r:id="rId58"/>
    </p:embeddedFont>
    <p:embeddedFont>
      <p:font typeface="Open Sans" charset="1" panose="020B0606030504020204"/>
      <p:regular r:id="rId59"/>
    </p:embeddedFont>
    <p:embeddedFont>
      <p:font typeface="Open Sans Bold" charset="1" panose="020B0806030504020204"/>
      <p:regular r:id="rId6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fonts/font52.fntdata" Type="http://schemas.openxmlformats.org/officeDocument/2006/relationships/font"/><Relationship Id="rId53" Target="fonts/font53.fntdata" Type="http://schemas.openxmlformats.org/officeDocument/2006/relationships/font"/><Relationship Id="rId54" Target="fonts/font54.fntdata" Type="http://schemas.openxmlformats.org/officeDocument/2006/relationships/font"/><Relationship Id="rId55" Target="fonts/font55.fntdata" Type="http://schemas.openxmlformats.org/officeDocument/2006/relationships/font"/><Relationship Id="rId56" Target="fonts/font56.fntdata" Type="http://schemas.openxmlformats.org/officeDocument/2006/relationships/font"/><Relationship Id="rId57" Target="fonts/font57.fntdata" Type="http://schemas.openxmlformats.org/officeDocument/2006/relationships/font"/><Relationship Id="rId58" Target="fonts/font58.fntdata" Type="http://schemas.openxmlformats.org/officeDocument/2006/relationships/font"/><Relationship Id="rId59" Target="fonts/font59.fntdata" Type="http://schemas.openxmlformats.org/officeDocument/2006/relationships/font"/><Relationship Id="rId6" Target="slides/slide1.xml" Type="http://schemas.openxmlformats.org/officeDocument/2006/relationships/slide"/><Relationship Id="rId60" Target="fonts/font60.fntdata" Type="http://schemas.openxmlformats.org/officeDocument/2006/relationships/font"/><Relationship Id="rId61" Target="notesMasters/notesMaster1.xml" Type="http://schemas.openxmlformats.org/officeDocument/2006/relationships/notesMaster"/><Relationship Id="rId62" Target="theme/theme2.xml" Type="http://schemas.openxmlformats.org/officeDocument/2006/relationships/theme"/><Relationship Id="rId63" Target="notesSlides/notesSlide1.xml" Type="http://schemas.openxmlformats.org/officeDocument/2006/relationships/notesSlide"/><Relationship Id="rId64" Target="notesSlides/notesSlide2.xml" Type="http://schemas.openxmlformats.org/officeDocument/2006/relationships/notesSlide"/><Relationship Id="rId65" Target="notesSlides/notesSlide3.xml" Type="http://schemas.openxmlformats.org/officeDocument/2006/relationships/notesSlide"/><Relationship Id="rId66" Target="notesSlides/notesSlide4.xml" Type="http://schemas.openxmlformats.org/officeDocument/2006/relationships/note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funding_total_usd is not float type.</a:t>
            </a:r>
          </a:p>
          <a:p>
            <a:r>
              <a:rPr lang="en-US"/>
              <a:t>Missing data regarding startup category, funding, location and founding date</a:t>
            </a:r>
          </a:p>
          <a:p>
            <a:r>
              <a:rPr lang="en-US"/>
              <a:t>For the columns related to location, we can see that when data is missing in one, data is almost always missing in the others.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combine_first() method in pandas is used to combine two Series (or DataFrames) by filling missing values (NaN) in the first Series with corresponding values from the second Series.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inplace=True parameter modifies the DataFrame directly without creating a new one. When you set inplace=True, the operation is performed on the existing df object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setting random_state=42 ensures that every time you run this code, the split between training and testing data will be the same. If you omit the random_state, the split will be random each time you execute the code, which may lead to slightly different results with each run.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6.pn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 Id="rId6" Target="../media/image1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32.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34.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 Id="rId3" Target="../media/image37.png" Type="http://schemas.openxmlformats.org/officeDocument/2006/relationships/image"/><Relationship Id="rId4" Target="../media/image38.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39.png" Type="http://schemas.openxmlformats.org/officeDocument/2006/relationships/image"/><Relationship Id="rId4" Target="../media/image40.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 Id="rId3" Target="../media/image42.png" Type="http://schemas.openxmlformats.org/officeDocument/2006/relationships/image"/><Relationship Id="rId4" Target="../media/image43.png" Type="http://schemas.openxmlformats.org/officeDocument/2006/relationships/image"/><Relationship Id="rId5" Target="../media/image44.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png" Type="http://schemas.openxmlformats.org/officeDocument/2006/relationships/image"/><Relationship Id="rId3" Target="../media/image47.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48.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png" Type="http://schemas.openxmlformats.org/officeDocument/2006/relationships/image"/><Relationship Id="rId3" Target="../media/image50.png" Type="http://schemas.openxmlformats.org/officeDocument/2006/relationships/image"/><Relationship Id="rId4" Target="../media/image51.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2.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53.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4.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5.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6.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7.png" Type="http://schemas.openxmlformats.org/officeDocument/2006/relationships/image"/><Relationship Id="rId3" Target="../media/image58.sv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7.png" Type="http://schemas.openxmlformats.org/officeDocument/2006/relationships/image"/><Relationship Id="rId3" Target="../media/image58.sv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9.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0.png" Type="http://schemas.openxmlformats.org/officeDocument/2006/relationships/image"/><Relationship Id="rId3" Target="../media/image61.sv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sp>
        <p:nvSpPr>
          <p:cNvPr name="AutoShape 2" id="2"/>
          <p:cNvSpPr/>
          <p:nvPr/>
        </p:nvSpPr>
        <p:spPr>
          <a:xfrm>
            <a:off x="9158735" y="990600"/>
            <a:ext cx="8114971" cy="0"/>
          </a:xfrm>
          <a:prstGeom prst="line">
            <a:avLst/>
          </a:prstGeom>
          <a:ln cap="flat" w="76200">
            <a:solidFill>
              <a:srgbClr val="0F4662"/>
            </a:solidFill>
            <a:prstDash val="solid"/>
            <a:headEnd type="none" len="sm" w="sm"/>
            <a:tailEnd type="none" len="sm" w="sm"/>
          </a:ln>
        </p:spPr>
      </p:sp>
      <p:sp>
        <p:nvSpPr>
          <p:cNvPr name="AutoShape 3" id="3"/>
          <p:cNvSpPr/>
          <p:nvPr/>
        </p:nvSpPr>
        <p:spPr>
          <a:xfrm>
            <a:off x="1043764" y="9296400"/>
            <a:ext cx="8114971" cy="0"/>
          </a:xfrm>
          <a:prstGeom prst="line">
            <a:avLst/>
          </a:prstGeom>
          <a:ln cap="flat" w="76200">
            <a:solidFill>
              <a:srgbClr val="0F4662"/>
            </a:solidFill>
            <a:prstDash val="solid"/>
            <a:headEnd type="none" len="sm" w="sm"/>
            <a:tailEnd type="none" len="sm" w="sm"/>
          </a:ln>
        </p:spPr>
      </p:sp>
      <p:sp>
        <p:nvSpPr>
          <p:cNvPr name="TextBox 4" id="4"/>
          <p:cNvSpPr txBox="true"/>
          <p:nvPr/>
        </p:nvSpPr>
        <p:spPr>
          <a:xfrm rot="0">
            <a:off x="1265309" y="5807822"/>
            <a:ext cx="16008397" cy="1846410"/>
          </a:xfrm>
          <a:prstGeom prst="rect">
            <a:avLst/>
          </a:prstGeom>
        </p:spPr>
        <p:txBody>
          <a:bodyPr anchor="t" rtlCol="false" tIns="0" lIns="0" bIns="0" rIns="0">
            <a:spAutoFit/>
          </a:bodyPr>
          <a:lstStyle/>
          <a:p>
            <a:pPr algn="l">
              <a:lnSpc>
                <a:spcPts val="7429"/>
              </a:lnSpc>
            </a:pPr>
            <a:r>
              <a:rPr lang="en-US" sz="5306" b="true">
                <a:solidFill>
                  <a:srgbClr val="6F6D71"/>
                </a:solidFill>
                <a:latin typeface="Quicksand Bold"/>
                <a:ea typeface="Quicksand Bold"/>
                <a:cs typeface="Quicksand Bold"/>
                <a:sym typeface="Quicksand Bold"/>
              </a:rPr>
              <a:t>Presented By : </a:t>
            </a:r>
            <a:r>
              <a:rPr lang="en-US" sz="5306">
                <a:solidFill>
                  <a:srgbClr val="6F6D71"/>
                </a:solidFill>
                <a:latin typeface="Quicksand"/>
                <a:ea typeface="Quicksand"/>
                <a:cs typeface="Quicksand"/>
                <a:sym typeface="Quicksand"/>
              </a:rPr>
              <a:t>Ghaida Ben Salah - Nada Haddad</a:t>
            </a:r>
          </a:p>
          <a:p>
            <a:pPr algn="l" marL="0" indent="0" lvl="0">
              <a:lnSpc>
                <a:spcPts val="7429"/>
              </a:lnSpc>
              <a:spcBef>
                <a:spcPct val="0"/>
              </a:spcBef>
            </a:pPr>
            <a:r>
              <a:rPr lang="en-US" b="true" sz="5306">
                <a:solidFill>
                  <a:srgbClr val="6F6D71"/>
                </a:solidFill>
                <a:latin typeface="Quicksand Bold"/>
                <a:ea typeface="Quicksand Bold"/>
                <a:cs typeface="Quicksand Bold"/>
                <a:sym typeface="Quicksand Bold"/>
              </a:rPr>
              <a:t>Group : </a:t>
            </a:r>
            <a:r>
              <a:rPr lang="en-US" sz="5306">
                <a:solidFill>
                  <a:srgbClr val="6F6D71"/>
                </a:solidFill>
                <a:latin typeface="Quicksand"/>
                <a:ea typeface="Quicksand"/>
                <a:cs typeface="Quicksand"/>
                <a:sym typeface="Quicksand"/>
              </a:rPr>
              <a:t>LSI-A3-03-01</a:t>
            </a:r>
          </a:p>
        </p:txBody>
      </p:sp>
      <p:sp>
        <p:nvSpPr>
          <p:cNvPr name="TextBox 5" id="5"/>
          <p:cNvSpPr txBox="true"/>
          <p:nvPr/>
        </p:nvSpPr>
        <p:spPr>
          <a:xfrm rot="0">
            <a:off x="777819" y="2204230"/>
            <a:ext cx="16732361" cy="2393917"/>
          </a:xfrm>
          <a:prstGeom prst="rect">
            <a:avLst/>
          </a:prstGeom>
        </p:spPr>
        <p:txBody>
          <a:bodyPr anchor="t" rtlCol="false" tIns="0" lIns="0" bIns="0" rIns="0">
            <a:spAutoFit/>
          </a:bodyPr>
          <a:lstStyle/>
          <a:p>
            <a:pPr algn="ctr" marL="0" indent="0" lvl="0">
              <a:lnSpc>
                <a:spcPts val="9626"/>
              </a:lnSpc>
              <a:spcBef>
                <a:spcPct val="0"/>
              </a:spcBef>
            </a:pPr>
            <a:r>
              <a:rPr lang="en-US" sz="6876">
                <a:solidFill>
                  <a:srgbClr val="0F4662"/>
                </a:solidFill>
                <a:latin typeface="Genty Sans"/>
                <a:ea typeface="Genty Sans"/>
                <a:cs typeface="Genty Sans"/>
                <a:sym typeface="Genty Sans"/>
              </a:rPr>
              <a:t>STARTUP SUCCESS PREDICTION USING SUPERVISED LEARNING MODELS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907687"/>
            <a:chOff x="0" y="0"/>
            <a:chExt cx="4816593" cy="502436"/>
          </a:xfrm>
        </p:grpSpPr>
        <p:sp>
          <p:nvSpPr>
            <p:cNvPr name="Freeform 3" id="3"/>
            <p:cNvSpPr/>
            <p:nvPr/>
          </p:nvSpPr>
          <p:spPr>
            <a:xfrm flipH="false" flipV="false" rot="0">
              <a:off x="0" y="0"/>
              <a:ext cx="4816592" cy="502436"/>
            </a:xfrm>
            <a:custGeom>
              <a:avLst/>
              <a:gdLst/>
              <a:ahLst/>
              <a:cxnLst/>
              <a:rect r="r" b="b" t="t" l="l"/>
              <a:pathLst>
                <a:path h="502436" w="4816592">
                  <a:moveTo>
                    <a:pt x="0" y="0"/>
                  </a:moveTo>
                  <a:lnTo>
                    <a:pt x="4816592" y="0"/>
                  </a:lnTo>
                  <a:lnTo>
                    <a:pt x="4816592" y="502436"/>
                  </a:lnTo>
                  <a:lnTo>
                    <a:pt x="0" y="502436"/>
                  </a:lnTo>
                  <a:close/>
                </a:path>
              </a:pathLst>
            </a:custGeom>
            <a:solidFill>
              <a:srgbClr val="DBE5EA"/>
            </a:solidFill>
          </p:spPr>
        </p:sp>
        <p:sp>
          <p:nvSpPr>
            <p:cNvPr name="TextBox 4" id="4"/>
            <p:cNvSpPr txBox="true"/>
            <p:nvPr/>
          </p:nvSpPr>
          <p:spPr>
            <a:xfrm>
              <a:off x="0" y="-47625"/>
              <a:ext cx="4816593" cy="550061"/>
            </a:xfrm>
            <a:prstGeom prst="rect">
              <a:avLst/>
            </a:prstGeom>
          </p:spPr>
          <p:txBody>
            <a:bodyPr anchor="ctr" rtlCol="false" tIns="50800" lIns="50800" bIns="50800" rIns="50800"/>
            <a:lstStyle/>
            <a:p>
              <a:pPr algn="ctr">
                <a:lnSpc>
                  <a:spcPts val="3693"/>
                </a:lnSpc>
              </a:pPr>
            </a:p>
          </p:txBody>
        </p:sp>
      </p:grpSp>
      <p:sp>
        <p:nvSpPr>
          <p:cNvPr name="TextBox 5" id="5"/>
          <p:cNvSpPr txBox="true"/>
          <p:nvPr/>
        </p:nvSpPr>
        <p:spPr>
          <a:xfrm rot="0">
            <a:off x="2728958" y="137575"/>
            <a:ext cx="12830084" cy="1601274"/>
          </a:xfrm>
          <a:prstGeom prst="rect">
            <a:avLst/>
          </a:prstGeom>
        </p:spPr>
        <p:txBody>
          <a:bodyPr anchor="t" rtlCol="false" tIns="0" lIns="0" bIns="0" rIns="0">
            <a:spAutoFit/>
          </a:bodyPr>
          <a:lstStyle/>
          <a:p>
            <a:pPr algn="ctr" marL="0" indent="0" lvl="0">
              <a:lnSpc>
                <a:spcPts val="13065"/>
              </a:lnSpc>
              <a:spcBef>
                <a:spcPct val="0"/>
              </a:spcBef>
            </a:pPr>
            <a:r>
              <a:rPr lang="en-US" sz="9332">
                <a:solidFill>
                  <a:srgbClr val="0F4662"/>
                </a:solidFill>
                <a:latin typeface="Genty Sans"/>
                <a:ea typeface="Genty Sans"/>
                <a:cs typeface="Genty Sans"/>
                <a:sym typeface="Genty Sans"/>
              </a:rPr>
              <a:t>TABLE OF CONTENTS</a:t>
            </a:r>
          </a:p>
        </p:txBody>
      </p:sp>
      <p:sp>
        <p:nvSpPr>
          <p:cNvPr name="Freeform 6" id="6"/>
          <p:cNvSpPr/>
          <p:nvPr/>
        </p:nvSpPr>
        <p:spPr>
          <a:xfrm flipH="false" flipV="false" rot="0">
            <a:off x="3059448" y="2217454"/>
            <a:ext cx="7759225" cy="931107"/>
          </a:xfrm>
          <a:custGeom>
            <a:avLst/>
            <a:gdLst/>
            <a:ahLst/>
            <a:cxnLst/>
            <a:rect r="r" b="b" t="t" l="l"/>
            <a:pathLst>
              <a:path h="931107" w="7759225">
                <a:moveTo>
                  <a:pt x="0" y="0"/>
                </a:moveTo>
                <a:lnTo>
                  <a:pt x="7759226" y="0"/>
                </a:lnTo>
                <a:lnTo>
                  <a:pt x="7759226" y="931107"/>
                </a:lnTo>
                <a:lnTo>
                  <a:pt x="0" y="9311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8028738" y="3303251"/>
            <a:ext cx="8146248" cy="977550"/>
          </a:xfrm>
          <a:custGeom>
            <a:avLst/>
            <a:gdLst/>
            <a:ahLst/>
            <a:cxnLst/>
            <a:rect r="r" b="b" t="t" l="l"/>
            <a:pathLst>
              <a:path h="977550" w="8146248">
                <a:moveTo>
                  <a:pt x="0" y="0"/>
                </a:moveTo>
                <a:lnTo>
                  <a:pt x="8146248" y="0"/>
                </a:lnTo>
                <a:lnTo>
                  <a:pt x="8146248" y="977550"/>
                </a:lnTo>
                <a:lnTo>
                  <a:pt x="0" y="9775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2804496" y="4440436"/>
            <a:ext cx="8146248" cy="977550"/>
          </a:xfrm>
          <a:custGeom>
            <a:avLst/>
            <a:gdLst/>
            <a:ahLst/>
            <a:cxnLst/>
            <a:rect r="r" b="b" t="t" l="l"/>
            <a:pathLst>
              <a:path h="977550" w="8146248">
                <a:moveTo>
                  <a:pt x="0" y="0"/>
                </a:moveTo>
                <a:lnTo>
                  <a:pt x="8146248" y="0"/>
                </a:lnTo>
                <a:lnTo>
                  <a:pt x="8146248" y="977549"/>
                </a:lnTo>
                <a:lnTo>
                  <a:pt x="0" y="9775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8085270" y="5509763"/>
            <a:ext cx="8146248" cy="977550"/>
          </a:xfrm>
          <a:custGeom>
            <a:avLst/>
            <a:gdLst/>
            <a:ahLst/>
            <a:cxnLst/>
            <a:rect r="r" b="b" t="t" l="l"/>
            <a:pathLst>
              <a:path h="977550" w="8146248">
                <a:moveTo>
                  <a:pt x="0" y="0"/>
                </a:moveTo>
                <a:lnTo>
                  <a:pt x="8146248" y="0"/>
                </a:lnTo>
                <a:lnTo>
                  <a:pt x="8146248" y="977550"/>
                </a:lnTo>
                <a:lnTo>
                  <a:pt x="0" y="9775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4033138" y="2410681"/>
            <a:ext cx="6546202" cy="590550"/>
          </a:xfrm>
          <a:prstGeom prst="rect">
            <a:avLst/>
          </a:prstGeom>
        </p:spPr>
        <p:txBody>
          <a:bodyPr anchor="t" rtlCol="false" tIns="0" lIns="0" bIns="0" rIns="0">
            <a:spAutoFit/>
          </a:bodyPr>
          <a:lstStyle/>
          <a:p>
            <a:pPr algn="l">
              <a:lnSpc>
                <a:spcPts val="4679"/>
              </a:lnSpc>
              <a:spcBef>
                <a:spcPct val="0"/>
              </a:spcBef>
            </a:pPr>
            <a:r>
              <a:rPr lang="en-US" sz="3899">
                <a:solidFill>
                  <a:srgbClr val="0F4662"/>
                </a:solidFill>
                <a:latin typeface="Balsamiq Sans"/>
                <a:ea typeface="Balsamiq Sans"/>
                <a:cs typeface="Balsamiq Sans"/>
                <a:sym typeface="Balsamiq Sans"/>
              </a:rPr>
              <a:t>Introduction</a:t>
            </a:r>
          </a:p>
        </p:txBody>
      </p:sp>
      <p:sp>
        <p:nvSpPr>
          <p:cNvPr name="TextBox 11" id="11"/>
          <p:cNvSpPr txBox="true"/>
          <p:nvPr/>
        </p:nvSpPr>
        <p:spPr>
          <a:xfrm rot="0">
            <a:off x="3245193" y="2327067"/>
            <a:ext cx="787945" cy="666750"/>
          </a:xfrm>
          <a:prstGeom prst="rect">
            <a:avLst/>
          </a:prstGeom>
        </p:spPr>
        <p:txBody>
          <a:bodyPr anchor="t" rtlCol="false" tIns="0" lIns="0" bIns="0" rIns="0">
            <a:spAutoFit/>
          </a:bodyPr>
          <a:lstStyle/>
          <a:p>
            <a:pPr algn="ctr">
              <a:lnSpc>
                <a:spcPts val="4679"/>
              </a:lnSpc>
              <a:spcBef>
                <a:spcPct val="0"/>
              </a:spcBef>
            </a:pPr>
            <a:r>
              <a:rPr lang="en-US" sz="3899">
                <a:solidFill>
                  <a:srgbClr val="0F4662"/>
                </a:solidFill>
                <a:latin typeface="Funtastic"/>
                <a:ea typeface="Funtastic"/>
                <a:cs typeface="Funtastic"/>
                <a:sym typeface="Funtastic"/>
              </a:rPr>
              <a:t>1</a:t>
            </a:r>
          </a:p>
        </p:txBody>
      </p:sp>
      <p:sp>
        <p:nvSpPr>
          <p:cNvPr name="TextBox 12" id="12"/>
          <p:cNvSpPr txBox="true"/>
          <p:nvPr/>
        </p:nvSpPr>
        <p:spPr>
          <a:xfrm rot="0">
            <a:off x="3914826" y="4645010"/>
            <a:ext cx="6872720" cy="590550"/>
          </a:xfrm>
          <a:prstGeom prst="rect">
            <a:avLst/>
          </a:prstGeom>
        </p:spPr>
        <p:txBody>
          <a:bodyPr anchor="t" rtlCol="false" tIns="0" lIns="0" bIns="0" rIns="0">
            <a:spAutoFit/>
          </a:bodyPr>
          <a:lstStyle/>
          <a:p>
            <a:pPr algn="l">
              <a:lnSpc>
                <a:spcPts val="4679"/>
              </a:lnSpc>
              <a:spcBef>
                <a:spcPct val="0"/>
              </a:spcBef>
            </a:pPr>
            <a:r>
              <a:rPr lang="en-US" sz="3899">
                <a:solidFill>
                  <a:srgbClr val="0F4662"/>
                </a:solidFill>
                <a:latin typeface="Balsamiq Sans"/>
                <a:ea typeface="Balsamiq Sans"/>
                <a:cs typeface="Balsamiq Sans"/>
                <a:sym typeface="Balsamiq Sans"/>
              </a:rPr>
              <a:t>Data Overview</a:t>
            </a:r>
          </a:p>
        </p:txBody>
      </p:sp>
      <p:sp>
        <p:nvSpPr>
          <p:cNvPr name="TextBox 13" id="13"/>
          <p:cNvSpPr txBox="true"/>
          <p:nvPr/>
        </p:nvSpPr>
        <p:spPr>
          <a:xfrm rot="0">
            <a:off x="8251878" y="3426878"/>
            <a:ext cx="827247" cy="666750"/>
          </a:xfrm>
          <a:prstGeom prst="rect">
            <a:avLst/>
          </a:prstGeom>
        </p:spPr>
        <p:txBody>
          <a:bodyPr anchor="t" rtlCol="false" tIns="0" lIns="0" bIns="0" rIns="0">
            <a:spAutoFit/>
          </a:bodyPr>
          <a:lstStyle/>
          <a:p>
            <a:pPr algn="ctr">
              <a:lnSpc>
                <a:spcPts val="4679"/>
              </a:lnSpc>
              <a:spcBef>
                <a:spcPct val="0"/>
              </a:spcBef>
            </a:pPr>
            <a:r>
              <a:rPr lang="en-US" sz="3899">
                <a:solidFill>
                  <a:srgbClr val="0F4662"/>
                </a:solidFill>
                <a:latin typeface="Funtastic"/>
                <a:ea typeface="Funtastic"/>
                <a:cs typeface="Funtastic"/>
                <a:sym typeface="Funtastic"/>
              </a:rPr>
              <a:t>2</a:t>
            </a:r>
          </a:p>
        </p:txBody>
      </p:sp>
      <p:sp>
        <p:nvSpPr>
          <p:cNvPr name="TextBox 14" id="14"/>
          <p:cNvSpPr txBox="true"/>
          <p:nvPr/>
        </p:nvSpPr>
        <p:spPr>
          <a:xfrm rot="0">
            <a:off x="9191919" y="5703263"/>
            <a:ext cx="6872720" cy="590550"/>
          </a:xfrm>
          <a:prstGeom prst="rect">
            <a:avLst/>
          </a:prstGeom>
        </p:spPr>
        <p:txBody>
          <a:bodyPr anchor="t" rtlCol="false" tIns="0" lIns="0" bIns="0" rIns="0">
            <a:spAutoFit/>
          </a:bodyPr>
          <a:lstStyle/>
          <a:p>
            <a:pPr algn="l">
              <a:lnSpc>
                <a:spcPts val="4679"/>
              </a:lnSpc>
              <a:spcBef>
                <a:spcPct val="0"/>
              </a:spcBef>
            </a:pPr>
            <a:r>
              <a:rPr lang="en-US" sz="3899">
                <a:solidFill>
                  <a:srgbClr val="0F4662"/>
                </a:solidFill>
                <a:latin typeface="Balsamiq Sans"/>
                <a:ea typeface="Balsamiq Sans"/>
                <a:cs typeface="Balsamiq Sans"/>
                <a:sym typeface="Balsamiq Sans"/>
              </a:rPr>
              <a:t>Data Preprocessing</a:t>
            </a:r>
          </a:p>
        </p:txBody>
      </p:sp>
      <p:sp>
        <p:nvSpPr>
          <p:cNvPr name="TextBox 15" id="15"/>
          <p:cNvSpPr txBox="true"/>
          <p:nvPr/>
        </p:nvSpPr>
        <p:spPr>
          <a:xfrm rot="0">
            <a:off x="3059448" y="4568810"/>
            <a:ext cx="827247" cy="666750"/>
          </a:xfrm>
          <a:prstGeom prst="rect">
            <a:avLst/>
          </a:prstGeom>
        </p:spPr>
        <p:txBody>
          <a:bodyPr anchor="t" rtlCol="false" tIns="0" lIns="0" bIns="0" rIns="0">
            <a:spAutoFit/>
          </a:bodyPr>
          <a:lstStyle/>
          <a:p>
            <a:pPr algn="ctr">
              <a:lnSpc>
                <a:spcPts val="4679"/>
              </a:lnSpc>
              <a:spcBef>
                <a:spcPct val="0"/>
              </a:spcBef>
            </a:pPr>
            <a:r>
              <a:rPr lang="en-US" sz="3899">
                <a:solidFill>
                  <a:srgbClr val="0F4662"/>
                </a:solidFill>
                <a:latin typeface="Funtastic"/>
                <a:ea typeface="Funtastic"/>
                <a:cs typeface="Funtastic"/>
                <a:sym typeface="Funtastic"/>
              </a:rPr>
              <a:t>3</a:t>
            </a:r>
          </a:p>
        </p:txBody>
      </p:sp>
      <p:sp>
        <p:nvSpPr>
          <p:cNvPr name="TextBox 16" id="16"/>
          <p:cNvSpPr txBox="true"/>
          <p:nvPr/>
        </p:nvSpPr>
        <p:spPr>
          <a:xfrm rot="0">
            <a:off x="9079125" y="3494958"/>
            <a:ext cx="6872720" cy="590550"/>
          </a:xfrm>
          <a:prstGeom prst="rect">
            <a:avLst/>
          </a:prstGeom>
        </p:spPr>
        <p:txBody>
          <a:bodyPr anchor="t" rtlCol="false" tIns="0" lIns="0" bIns="0" rIns="0">
            <a:spAutoFit/>
          </a:bodyPr>
          <a:lstStyle/>
          <a:p>
            <a:pPr algn="l">
              <a:lnSpc>
                <a:spcPts val="4679"/>
              </a:lnSpc>
              <a:spcBef>
                <a:spcPct val="0"/>
              </a:spcBef>
            </a:pPr>
            <a:r>
              <a:rPr lang="en-US" sz="3899">
                <a:solidFill>
                  <a:srgbClr val="0F4662"/>
                </a:solidFill>
                <a:latin typeface="Balsamiq Sans"/>
                <a:ea typeface="Balsamiq Sans"/>
                <a:cs typeface="Balsamiq Sans"/>
                <a:sym typeface="Balsamiq Sans"/>
              </a:rPr>
              <a:t>Algorithms Overview</a:t>
            </a:r>
          </a:p>
        </p:txBody>
      </p:sp>
      <p:sp>
        <p:nvSpPr>
          <p:cNvPr name="TextBox 17" id="17"/>
          <p:cNvSpPr txBox="true"/>
          <p:nvPr/>
        </p:nvSpPr>
        <p:spPr>
          <a:xfrm rot="0">
            <a:off x="8364672" y="5644788"/>
            <a:ext cx="827247" cy="666750"/>
          </a:xfrm>
          <a:prstGeom prst="rect">
            <a:avLst/>
          </a:prstGeom>
        </p:spPr>
        <p:txBody>
          <a:bodyPr anchor="t" rtlCol="false" tIns="0" lIns="0" bIns="0" rIns="0">
            <a:spAutoFit/>
          </a:bodyPr>
          <a:lstStyle/>
          <a:p>
            <a:pPr algn="ctr">
              <a:lnSpc>
                <a:spcPts val="4679"/>
              </a:lnSpc>
              <a:spcBef>
                <a:spcPct val="0"/>
              </a:spcBef>
            </a:pPr>
            <a:r>
              <a:rPr lang="en-US" sz="3899">
                <a:solidFill>
                  <a:srgbClr val="0F4662"/>
                </a:solidFill>
                <a:latin typeface="Funtastic"/>
                <a:ea typeface="Funtastic"/>
                <a:cs typeface="Funtastic"/>
                <a:sym typeface="Funtastic"/>
              </a:rPr>
              <a:t>4</a:t>
            </a:r>
          </a:p>
        </p:txBody>
      </p:sp>
      <p:sp>
        <p:nvSpPr>
          <p:cNvPr name="Freeform 18" id="18"/>
          <p:cNvSpPr/>
          <p:nvPr/>
        </p:nvSpPr>
        <p:spPr>
          <a:xfrm flipH="false" flipV="false" rot="0">
            <a:off x="2728958" y="6637423"/>
            <a:ext cx="8146248" cy="977550"/>
          </a:xfrm>
          <a:custGeom>
            <a:avLst/>
            <a:gdLst/>
            <a:ahLst/>
            <a:cxnLst/>
            <a:rect r="r" b="b" t="t" l="l"/>
            <a:pathLst>
              <a:path h="977550" w="8146248">
                <a:moveTo>
                  <a:pt x="0" y="0"/>
                </a:moveTo>
                <a:lnTo>
                  <a:pt x="8146248" y="0"/>
                </a:lnTo>
                <a:lnTo>
                  <a:pt x="8146248" y="977550"/>
                </a:lnTo>
                <a:lnTo>
                  <a:pt x="0" y="9775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9" id="19"/>
          <p:cNvSpPr txBox="true"/>
          <p:nvPr/>
        </p:nvSpPr>
        <p:spPr>
          <a:xfrm rot="0">
            <a:off x="3671774" y="6830923"/>
            <a:ext cx="7115138" cy="590550"/>
          </a:xfrm>
          <a:prstGeom prst="rect">
            <a:avLst/>
          </a:prstGeom>
        </p:spPr>
        <p:txBody>
          <a:bodyPr anchor="t" rtlCol="false" tIns="0" lIns="0" bIns="0" rIns="0">
            <a:spAutoFit/>
          </a:bodyPr>
          <a:lstStyle/>
          <a:p>
            <a:pPr algn="l">
              <a:lnSpc>
                <a:spcPts val="4679"/>
              </a:lnSpc>
              <a:spcBef>
                <a:spcPct val="0"/>
              </a:spcBef>
            </a:pPr>
            <a:r>
              <a:rPr lang="en-US" sz="3899">
                <a:solidFill>
                  <a:srgbClr val="0F4662"/>
                </a:solidFill>
                <a:latin typeface="Balsamiq Sans"/>
                <a:ea typeface="Balsamiq Sans"/>
                <a:cs typeface="Balsamiq Sans"/>
                <a:sym typeface="Balsamiq Sans"/>
              </a:rPr>
              <a:t>Models Training and Evaluation</a:t>
            </a:r>
          </a:p>
        </p:txBody>
      </p:sp>
      <p:sp>
        <p:nvSpPr>
          <p:cNvPr name="TextBox 20" id="20"/>
          <p:cNvSpPr txBox="true"/>
          <p:nvPr/>
        </p:nvSpPr>
        <p:spPr>
          <a:xfrm rot="0">
            <a:off x="2844527" y="6789585"/>
            <a:ext cx="827247" cy="666750"/>
          </a:xfrm>
          <a:prstGeom prst="rect">
            <a:avLst/>
          </a:prstGeom>
        </p:spPr>
        <p:txBody>
          <a:bodyPr anchor="t" rtlCol="false" tIns="0" lIns="0" bIns="0" rIns="0">
            <a:spAutoFit/>
          </a:bodyPr>
          <a:lstStyle/>
          <a:p>
            <a:pPr algn="ctr">
              <a:lnSpc>
                <a:spcPts val="4679"/>
              </a:lnSpc>
              <a:spcBef>
                <a:spcPct val="0"/>
              </a:spcBef>
            </a:pPr>
            <a:r>
              <a:rPr lang="en-US" sz="3899">
                <a:solidFill>
                  <a:srgbClr val="0F4662"/>
                </a:solidFill>
                <a:latin typeface="Funtastic"/>
                <a:ea typeface="Funtastic"/>
                <a:cs typeface="Funtastic"/>
                <a:sym typeface="Funtastic"/>
              </a:rPr>
              <a:t>5</a:t>
            </a:r>
          </a:p>
        </p:txBody>
      </p:sp>
      <p:sp>
        <p:nvSpPr>
          <p:cNvPr name="Freeform 21" id="21"/>
          <p:cNvSpPr/>
          <p:nvPr/>
        </p:nvSpPr>
        <p:spPr>
          <a:xfrm flipH="false" flipV="false" rot="0">
            <a:off x="8085270" y="7674413"/>
            <a:ext cx="8146248" cy="977550"/>
          </a:xfrm>
          <a:custGeom>
            <a:avLst/>
            <a:gdLst/>
            <a:ahLst/>
            <a:cxnLst/>
            <a:rect r="r" b="b" t="t" l="l"/>
            <a:pathLst>
              <a:path h="977550" w="8146248">
                <a:moveTo>
                  <a:pt x="0" y="0"/>
                </a:moveTo>
                <a:lnTo>
                  <a:pt x="8146248" y="0"/>
                </a:lnTo>
                <a:lnTo>
                  <a:pt x="8146248" y="977550"/>
                </a:lnTo>
                <a:lnTo>
                  <a:pt x="0" y="9775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2" id="22"/>
          <p:cNvSpPr txBox="true"/>
          <p:nvPr/>
        </p:nvSpPr>
        <p:spPr>
          <a:xfrm rot="0">
            <a:off x="9191919" y="7893421"/>
            <a:ext cx="6872720" cy="590550"/>
          </a:xfrm>
          <a:prstGeom prst="rect">
            <a:avLst/>
          </a:prstGeom>
        </p:spPr>
        <p:txBody>
          <a:bodyPr anchor="t" rtlCol="false" tIns="0" lIns="0" bIns="0" rIns="0">
            <a:spAutoFit/>
          </a:bodyPr>
          <a:lstStyle/>
          <a:p>
            <a:pPr algn="l">
              <a:lnSpc>
                <a:spcPts val="4679"/>
              </a:lnSpc>
              <a:spcBef>
                <a:spcPct val="0"/>
              </a:spcBef>
            </a:pPr>
            <a:r>
              <a:rPr lang="en-US" sz="3899">
                <a:solidFill>
                  <a:srgbClr val="0F4662"/>
                </a:solidFill>
                <a:latin typeface="Balsamiq Sans"/>
                <a:ea typeface="Balsamiq Sans"/>
                <a:cs typeface="Balsamiq Sans"/>
                <a:sym typeface="Balsamiq Sans"/>
              </a:rPr>
              <a:t>Results and Key Insights</a:t>
            </a:r>
          </a:p>
        </p:txBody>
      </p:sp>
      <p:sp>
        <p:nvSpPr>
          <p:cNvPr name="TextBox 23" id="23"/>
          <p:cNvSpPr txBox="true"/>
          <p:nvPr/>
        </p:nvSpPr>
        <p:spPr>
          <a:xfrm rot="0">
            <a:off x="8266642" y="7769663"/>
            <a:ext cx="827247" cy="666750"/>
          </a:xfrm>
          <a:prstGeom prst="rect">
            <a:avLst/>
          </a:prstGeom>
        </p:spPr>
        <p:txBody>
          <a:bodyPr anchor="t" rtlCol="false" tIns="0" lIns="0" bIns="0" rIns="0">
            <a:spAutoFit/>
          </a:bodyPr>
          <a:lstStyle/>
          <a:p>
            <a:pPr algn="ctr">
              <a:lnSpc>
                <a:spcPts val="4679"/>
              </a:lnSpc>
              <a:spcBef>
                <a:spcPct val="0"/>
              </a:spcBef>
            </a:pPr>
            <a:r>
              <a:rPr lang="en-US" sz="3899">
                <a:solidFill>
                  <a:srgbClr val="0F4662"/>
                </a:solidFill>
                <a:latin typeface="Funtastic"/>
                <a:ea typeface="Funtastic"/>
                <a:cs typeface="Funtastic"/>
                <a:sym typeface="Funtastic"/>
              </a:rPr>
              <a:t>6</a:t>
            </a:r>
          </a:p>
        </p:txBody>
      </p:sp>
      <p:sp>
        <p:nvSpPr>
          <p:cNvPr name="Freeform 24" id="24"/>
          <p:cNvSpPr/>
          <p:nvPr/>
        </p:nvSpPr>
        <p:spPr>
          <a:xfrm flipH="false" flipV="false" rot="0">
            <a:off x="2770726" y="8802073"/>
            <a:ext cx="8146248" cy="977550"/>
          </a:xfrm>
          <a:custGeom>
            <a:avLst/>
            <a:gdLst/>
            <a:ahLst/>
            <a:cxnLst/>
            <a:rect r="r" b="b" t="t" l="l"/>
            <a:pathLst>
              <a:path h="977550" w="8146248">
                <a:moveTo>
                  <a:pt x="0" y="0"/>
                </a:moveTo>
                <a:lnTo>
                  <a:pt x="8146248" y="0"/>
                </a:lnTo>
                <a:lnTo>
                  <a:pt x="8146248" y="977550"/>
                </a:lnTo>
                <a:lnTo>
                  <a:pt x="0" y="9775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5" id="25"/>
          <p:cNvSpPr txBox="true"/>
          <p:nvPr/>
        </p:nvSpPr>
        <p:spPr>
          <a:xfrm rot="0">
            <a:off x="3792983" y="9004938"/>
            <a:ext cx="6872720" cy="590550"/>
          </a:xfrm>
          <a:prstGeom prst="rect">
            <a:avLst/>
          </a:prstGeom>
        </p:spPr>
        <p:txBody>
          <a:bodyPr anchor="t" rtlCol="false" tIns="0" lIns="0" bIns="0" rIns="0">
            <a:spAutoFit/>
          </a:bodyPr>
          <a:lstStyle/>
          <a:p>
            <a:pPr algn="l">
              <a:lnSpc>
                <a:spcPts val="4679"/>
              </a:lnSpc>
              <a:spcBef>
                <a:spcPct val="0"/>
              </a:spcBef>
            </a:pPr>
            <a:r>
              <a:rPr lang="en-US" sz="3899">
                <a:solidFill>
                  <a:srgbClr val="0F4662"/>
                </a:solidFill>
                <a:latin typeface="Balsamiq Sans"/>
                <a:ea typeface="Balsamiq Sans"/>
                <a:cs typeface="Balsamiq Sans"/>
                <a:sym typeface="Balsamiq Sans"/>
              </a:rPr>
              <a:t>Conclusion</a:t>
            </a:r>
          </a:p>
        </p:txBody>
      </p:sp>
      <p:sp>
        <p:nvSpPr>
          <p:cNvPr name="TextBox 26" id="26"/>
          <p:cNvSpPr txBox="true"/>
          <p:nvPr/>
        </p:nvSpPr>
        <p:spPr>
          <a:xfrm rot="0">
            <a:off x="2965736" y="8928738"/>
            <a:ext cx="827247" cy="666750"/>
          </a:xfrm>
          <a:prstGeom prst="rect">
            <a:avLst/>
          </a:prstGeom>
        </p:spPr>
        <p:txBody>
          <a:bodyPr anchor="t" rtlCol="false" tIns="0" lIns="0" bIns="0" rIns="0">
            <a:spAutoFit/>
          </a:bodyPr>
          <a:lstStyle/>
          <a:p>
            <a:pPr algn="ctr">
              <a:lnSpc>
                <a:spcPts val="4679"/>
              </a:lnSpc>
              <a:spcBef>
                <a:spcPct val="0"/>
              </a:spcBef>
            </a:pPr>
            <a:r>
              <a:rPr lang="en-US" sz="3899">
                <a:solidFill>
                  <a:srgbClr val="0F4662"/>
                </a:solidFill>
                <a:latin typeface="Funtastic"/>
                <a:ea typeface="Funtastic"/>
                <a:cs typeface="Funtastic"/>
                <a:sym typeface="Funtastic"/>
              </a:rPr>
              <a:t>7</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13526991" y="5486325"/>
            <a:ext cx="3246773" cy="3246773"/>
          </a:xfrm>
          <a:custGeom>
            <a:avLst/>
            <a:gdLst/>
            <a:ahLst/>
            <a:cxnLst/>
            <a:rect r="r" b="b" t="t" l="l"/>
            <a:pathLst>
              <a:path h="3246773" w="3246773">
                <a:moveTo>
                  <a:pt x="0" y="0"/>
                </a:moveTo>
                <a:lnTo>
                  <a:pt x="3246773" y="0"/>
                </a:lnTo>
                <a:lnTo>
                  <a:pt x="3246773" y="3246774"/>
                </a:lnTo>
                <a:lnTo>
                  <a:pt x="0" y="3246774"/>
                </a:lnTo>
                <a:lnTo>
                  <a:pt x="0" y="0"/>
                </a:lnTo>
                <a:close/>
              </a:path>
            </a:pathLst>
          </a:custGeom>
          <a:blipFill>
            <a:blip r:embed="rId2"/>
            <a:stretch>
              <a:fillRect l="0" t="0" r="0" b="0"/>
            </a:stretch>
          </a:blipFill>
        </p:spPr>
      </p:sp>
      <p:sp>
        <p:nvSpPr>
          <p:cNvPr name="TextBox 3" id="3"/>
          <p:cNvSpPr txBox="true"/>
          <p:nvPr/>
        </p:nvSpPr>
        <p:spPr>
          <a:xfrm rot="0">
            <a:off x="-552219" y="3486398"/>
            <a:ext cx="15518042" cy="2213764"/>
          </a:xfrm>
          <a:prstGeom prst="rect">
            <a:avLst/>
          </a:prstGeom>
        </p:spPr>
        <p:txBody>
          <a:bodyPr anchor="t" rtlCol="false" tIns="0" lIns="0" bIns="0" rIns="0">
            <a:spAutoFit/>
          </a:bodyPr>
          <a:lstStyle/>
          <a:p>
            <a:pPr algn="ctr" marL="2799828" indent="-1399914" lvl="1">
              <a:lnSpc>
                <a:spcPts val="18155"/>
              </a:lnSpc>
              <a:spcBef>
                <a:spcPct val="0"/>
              </a:spcBef>
              <a:buAutoNum type="arabicPeriod" startAt="1"/>
            </a:pPr>
            <a:r>
              <a:rPr lang="en-US" sz="12968">
                <a:solidFill>
                  <a:srgbClr val="0F4662"/>
                </a:solidFill>
                <a:latin typeface="Genty Sans"/>
                <a:ea typeface="Genty Sans"/>
                <a:cs typeface="Genty Sans"/>
                <a:sym typeface="Genty Sans"/>
              </a:rPr>
              <a:t>INTRODUCTION</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17259300" y="9220200"/>
            <a:ext cx="152400" cy="190500"/>
          </a:xfrm>
          <a:prstGeom prst="rect">
            <a:avLst/>
          </a:prstGeom>
        </p:spPr>
        <p:txBody>
          <a:bodyPr anchor="t" rtlCol="false" tIns="0" lIns="0" bIns="0" rIns="0" wrap="none">
            <a:spAutoFit/>
          </a:bodyPr>
          <a:lstStyle/>
          <a:p>
            <a:pPr algn="ctr">
              <a:lnSpc>
                <a:spcPts val="3359"/>
              </a:lnSpc>
              <a:spcBef>
                <a:spcPct val="0"/>
              </a:spcBef>
            </a:pPr>
            <a:r>
              <a:rPr lang="en-US" sz="2399">
                <a:solidFill>
                  <a:srgbClr val="0F4662"/>
                </a:solidFill>
                <a:latin typeface="Canva Sans"/>
                <a:ea typeface="Canva Sans"/>
                <a:cs typeface="Canva Sans"/>
                <a:sym typeface="Canva Sans"/>
              </a:rPr>
              <a:t>4</a:t>
            </a:r>
          </a:p>
        </p:txBody>
      </p:sp>
      <p:sp>
        <p:nvSpPr>
          <p:cNvPr name="TextBox 3" id="3"/>
          <p:cNvSpPr txBox="true"/>
          <p:nvPr/>
        </p:nvSpPr>
        <p:spPr>
          <a:xfrm rot="0">
            <a:off x="557180" y="2492228"/>
            <a:ext cx="17199076" cy="7124212"/>
          </a:xfrm>
          <a:prstGeom prst="rect">
            <a:avLst/>
          </a:prstGeom>
        </p:spPr>
        <p:txBody>
          <a:bodyPr anchor="t" rtlCol="false" tIns="0" lIns="0" bIns="0" rIns="0">
            <a:spAutoFit/>
          </a:bodyPr>
          <a:lstStyle/>
          <a:p>
            <a:pPr algn="l">
              <a:lnSpc>
                <a:spcPts val="5010"/>
              </a:lnSpc>
            </a:pPr>
            <a:r>
              <a:rPr lang="en-US" sz="3074" b="true">
                <a:solidFill>
                  <a:srgbClr val="0F4662"/>
                </a:solidFill>
                <a:latin typeface="Canva Sans Bold"/>
                <a:ea typeface="Canva Sans Bold"/>
                <a:cs typeface="Canva Sans Bold"/>
                <a:sym typeface="Canva Sans Bold"/>
              </a:rPr>
              <a:t>BACKGROUND</a:t>
            </a:r>
          </a:p>
          <a:p>
            <a:pPr algn="l">
              <a:lnSpc>
                <a:spcPts val="4684"/>
              </a:lnSpc>
            </a:pPr>
            <a:r>
              <a:rPr lang="en-US" sz="2874">
                <a:solidFill>
                  <a:srgbClr val="000000"/>
                </a:solidFill>
                <a:latin typeface="Canva Sans"/>
                <a:ea typeface="Canva Sans"/>
                <a:cs typeface="Canva Sans"/>
                <a:sym typeface="Canva Sans"/>
              </a:rPr>
              <a:t>Startups play a critical role in driving innovation and economic growth. However, the path to success is incredibly challenging, with data showing that around </a:t>
            </a:r>
            <a:r>
              <a:rPr lang="en-US" sz="2874" b="true">
                <a:solidFill>
                  <a:srgbClr val="000000"/>
                </a:solidFill>
                <a:latin typeface="Canva Sans Bold"/>
                <a:ea typeface="Canva Sans Bold"/>
                <a:cs typeface="Canva Sans Bold"/>
                <a:sym typeface="Canva Sans Bold"/>
              </a:rPr>
              <a:t>90% of startups fail</a:t>
            </a:r>
            <a:r>
              <a:rPr lang="en-US" sz="2874">
                <a:solidFill>
                  <a:srgbClr val="000000"/>
                </a:solidFill>
                <a:latin typeface="Canva Sans"/>
                <a:ea typeface="Canva Sans"/>
                <a:cs typeface="Canva Sans"/>
                <a:sym typeface="Canva Sans"/>
              </a:rPr>
              <a:t> within their first few years. </a:t>
            </a:r>
            <a:r>
              <a:rPr lang="en-US" sz="2874" b="true">
                <a:solidFill>
                  <a:srgbClr val="000000"/>
                </a:solidFill>
                <a:latin typeface="Canva Sans Bold"/>
                <a:ea typeface="Canva Sans Bold"/>
                <a:cs typeface="Canva Sans Bold"/>
                <a:sym typeface="Canva Sans Bold"/>
              </a:rPr>
              <a:t>Factors</a:t>
            </a:r>
            <a:r>
              <a:rPr lang="en-US" sz="2874">
                <a:solidFill>
                  <a:srgbClr val="000000"/>
                </a:solidFill>
                <a:latin typeface="Canva Sans"/>
                <a:ea typeface="Canva Sans"/>
                <a:cs typeface="Canva Sans"/>
                <a:sym typeface="Canva Sans"/>
              </a:rPr>
              <a:t> such as poor market fit, inadequate funding and operational inefficiencies often contribute to these failures.</a:t>
            </a:r>
          </a:p>
          <a:p>
            <a:pPr algn="l">
              <a:lnSpc>
                <a:spcPts val="4684"/>
              </a:lnSpc>
            </a:pPr>
          </a:p>
          <a:p>
            <a:pPr algn="l">
              <a:lnSpc>
                <a:spcPts val="5010"/>
              </a:lnSpc>
            </a:pPr>
            <a:r>
              <a:rPr lang="en-US" sz="3074" b="true">
                <a:solidFill>
                  <a:srgbClr val="0F4662"/>
                </a:solidFill>
                <a:latin typeface="Canva Sans Bold"/>
                <a:ea typeface="Canva Sans Bold"/>
                <a:cs typeface="Canva Sans Bold"/>
                <a:sym typeface="Canva Sans Bold"/>
              </a:rPr>
              <a:t>MOTIVATION</a:t>
            </a:r>
          </a:p>
          <a:p>
            <a:pPr algn="l">
              <a:lnSpc>
                <a:spcPts val="4684"/>
              </a:lnSpc>
            </a:pPr>
            <a:r>
              <a:rPr lang="en-US" sz="2874">
                <a:solidFill>
                  <a:srgbClr val="000000"/>
                </a:solidFill>
                <a:latin typeface="Canva Sans"/>
                <a:ea typeface="Canva Sans"/>
                <a:cs typeface="Canva Sans"/>
                <a:sym typeface="Canva Sans"/>
              </a:rPr>
              <a:t>Given the high risks involved, </a:t>
            </a:r>
            <a:r>
              <a:rPr lang="en-US" sz="2874" b="true">
                <a:solidFill>
                  <a:srgbClr val="000000"/>
                </a:solidFill>
                <a:latin typeface="Canva Sans Bold"/>
                <a:ea typeface="Canva Sans Bold"/>
                <a:cs typeface="Canva Sans Bold"/>
                <a:sym typeface="Canva Sans Bold"/>
              </a:rPr>
              <a:t>entrepreneurs and investors</a:t>
            </a:r>
            <a:r>
              <a:rPr lang="en-US" sz="2874">
                <a:solidFill>
                  <a:srgbClr val="000000"/>
                </a:solidFill>
                <a:latin typeface="Canva Sans"/>
                <a:ea typeface="Canva Sans"/>
                <a:cs typeface="Canva Sans"/>
                <a:sym typeface="Canva Sans"/>
              </a:rPr>
              <a:t> need tools to assess the viability of startups early on. By leveraging </a:t>
            </a:r>
            <a:r>
              <a:rPr lang="en-US" sz="2874" b="true">
                <a:solidFill>
                  <a:srgbClr val="000000"/>
                </a:solidFill>
                <a:latin typeface="Canva Sans Bold"/>
                <a:ea typeface="Canva Sans Bold"/>
                <a:cs typeface="Canva Sans Bold"/>
                <a:sym typeface="Canva Sans Bold"/>
              </a:rPr>
              <a:t>machine learning</a:t>
            </a:r>
            <a:r>
              <a:rPr lang="en-US" sz="2874">
                <a:solidFill>
                  <a:srgbClr val="000000"/>
                </a:solidFill>
                <a:latin typeface="Canva Sans"/>
                <a:ea typeface="Canva Sans"/>
                <a:cs typeface="Canva Sans"/>
                <a:sym typeface="Canva Sans"/>
              </a:rPr>
              <a:t>, we can uncover patterns in historical data that </a:t>
            </a:r>
            <a:r>
              <a:rPr lang="en-US" sz="2874" b="true">
                <a:solidFill>
                  <a:srgbClr val="000000"/>
                </a:solidFill>
                <a:latin typeface="Canva Sans Bold"/>
                <a:ea typeface="Canva Sans Bold"/>
                <a:cs typeface="Canva Sans Bold"/>
                <a:sym typeface="Canva Sans Bold"/>
              </a:rPr>
              <a:t>predict a startup's likelihood of success</a:t>
            </a:r>
            <a:r>
              <a:rPr lang="en-US" sz="2874">
                <a:solidFill>
                  <a:srgbClr val="000000"/>
                </a:solidFill>
                <a:latin typeface="Canva Sans"/>
                <a:ea typeface="Canva Sans"/>
                <a:cs typeface="Canva Sans"/>
                <a:sym typeface="Canva Sans"/>
              </a:rPr>
              <a:t>. Such insights empower stakeholders to make more informed decisions, minimizing risks and maximizing potential.</a:t>
            </a:r>
          </a:p>
          <a:p>
            <a:pPr algn="l">
              <a:lnSpc>
                <a:spcPts val="4684"/>
              </a:lnSpc>
            </a:pPr>
          </a:p>
        </p:txBody>
      </p:sp>
      <p:grpSp>
        <p:nvGrpSpPr>
          <p:cNvPr name="Group 4" id="4"/>
          <p:cNvGrpSpPr/>
          <p:nvPr/>
        </p:nvGrpSpPr>
        <p:grpSpPr>
          <a:xfrm rot="0">
            <a:off x="0" y="0"/>
            <a:ext cx="18288000" cy="1907687"/>
            <a:chOff x="0" y="0"/>
            <a:chExt cx="4816593" cy="502436"/>
          </a:xfrm>
        </p:grpSpPr>
        <p:sp>
          <p:nvSpPr>
            <p:cNvPr name="Freeform 5" id="5"/>
            <p:cNvSpPr/>
            <p:nvPr/>
          </p:nvSpPr>
          <p:spPr>
            <a:xfrm flipH="false" flipV="false" rot="0">
              <a:off x="0" y="0"/>
              <a:ext cx="4816592" cy="502436"/>
            </a:xfrm>
            <a:custGeom>
              <a:avLst/>
              <a:gdLst/>
              <a:ahLst/>
              <a:cxnLst/>
              <a:rect r="r" b="b" t="t" l="l"/>
              <a:pathLst>
                <a:path h="502436" w="4816592">
                  <a:moveTo>
                    <a:pt x="0" y="0"/>
                  </a:moveTo>
                  <a:lnTo>
                    <a:pt x="4816592" y="0"/>
                  </a:lnTo>
                  <a:lnTo>
                    <a:pt x="4816592" y="502436"/>
                  </a:lnTo>
                  <a:lnTo>
                    <a:pt x="0" y="502436"/>
                  </a:lnTo>
                  <a:close/>
                </a:path>
              </a:pathLst>
            </a:custGeom>
            <a:solidFill>
              <a:srgbClr val="DBE5EA"/>
            </a:solidFill>
          </p:spPr>
        </p:sp>
        <p:sp>
          <p:nvSpPr>
            <p:cNvPr name="TextBox 6" id="6"/>
            <p:cNvSpPr txBox="true"/>
            <p:nvPr/>
          </p:nvSpPr>
          <p:spPr>
            <a:xfrm>
              <a:off x="0" y="-47625"/>
              <a:ext cx="4816593" cy="550061"/>
            </a:xfrm>
            <a:prstGeom prst="rect">
              <a:avLst/>
            </a:prstGeom>
          </p:spPr>
          <p:txBody>
            <a:bodyPr anchor="ctr" rtlCol="false" tIns="50800" lIns="50800" bIns="50800" rIns="50800"/>
            <a:lstStyle/>
            <a:p>
              <a:pPr algn="ctr">
                <a:lnSpc>
                  <a:spcPts val="3693"/>
                </a:lnSpc>
              </a:pPr>
            </a:p>
          </p:txBody>
        </p:sp>
      </p:grpSp>
      <p:sp>
        <p:nvSpPr>
          <p:cNvPr name="TextBox 7" id="7"/>
          <p:cNvSpPr txBox="true"/>
          <p:nvPr/>
        </p:nvSpPr>
        <p:spPr>
          <a:xfrm rot="0">
            <a:off x="869709" y="91294"/>
            <a:ext cx="16574019" cy="1344090"/>
          </a:xfrm>
          <a:prstGeom prst="rect">
            <a:avLst/>
          </a:prstGeom>
        </p:spPr>
        <p:txBody>
          <a:bodyPr anchor="t" rtlCol="false" tIns="0" lIns="0" bIns="0" rIns="0">
            <a:spAutoFit/>
          </a:bodyPr>
          <a:lstStyle/>
          <a:p>
            <a:pPr algn="ctr">
              <a:lnSpc>
                <a:spcPts val="10966"/>
              </a:lnSpc>
              <a:spcBef>
                <a:spcPct val="0"/>
              </a:spcBef>
            </a:pPr>
            <a:r>
              <a:rPr lang="en-US" sz="7833" u="sng">
                <a:solidFill>
                  <a:srgbClr val="0F4662"/>
                </a:solidFill>
                <a:latin typeface="Genty Sans"/>
                <a:ea typeface="Genty Sans"/>
                <a:cs typeface="Genty Sans"/>
                <a:sym typeface="Genty Sans"/>
              </a:rPr>
              <a:t>PROBLEM STATEMENT</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17259300" y="9220200"/>
            <a:ext cx="152400" cy="190500"/>
          </a:xfrm>
          <a:prstGeom prst="rect">
            <a:avLst/>
          </a:prstGeom>
        </p:spPr>
        <p:txBody>
          <a:bodyPr anchor="t" rtlCol="false" tIns="0" lIns="0" bIns="0" rIns="0" wrap="none">
            <a:spAutoFit/>
          </a:bodyPr>
          <a:lstStyle/>
          <a:p>
            <a:pPr algn="ctr">
              <a:lnSpc>
                <a:spcPts val="3359"/>
              </a:lnSpc>
              <a:spcBef>
                <a:spcPct val="0"/>
              </a:spcBef>
            </a:pPr>
            <a:r>
              <a:rPr lang="en-US" sz="2399">
                <a:solidFill>
                  <a:srgbClr val="0F4662"/>
                </a:solidFill>
                <a:latin typeface="Canva Sans"/>
                <a:ea typeface="Canva Sans"/>
                <a:cs typeface="Canva Sans"/>
                <a:sym typeface="Canva Sans"/>
              </a:rPr>
              <a:t>5</a:t>
            </a:r>
          </a:p>
        </p:txBody>
      </p:sp>
      <p:grpSp>
        <p:nvGrpSpPr>
          <p:cNvPr name="Group 3" id="3"/>
          <p:cNvGrpSpPr/>
          <p:nvPr/>
        </p:nvGrpSpPr>
        <p:grpSpPr>
          <a:xfrm rot="0">
            <a:off x="0" y="0"/>
            <a:ext cx="18288000" cy="1907687"/>
            <a:chOff x="0" y="0"/>
            <a:chExt cx="4816593" cy="502436"/>
          </a:xfrm>
        </p:grpSpPr>
        <p:sp>
          <p:nvSpPr>
            <p:cNvPr name="Freeform 4" id="4"/>
            <p:cNvSpPr/>
            <p:nvPr/>
          </p:nvSpPr>
          <p:spPr>
            <a:xfrm flipH="false" flipV="false" rot="0">
              <a:off x="0" y="0"/>
              <a:ext cx="4816592" cy="502436"/>
            </a:xfrm>
            <a:custGeom>
              <a:avLst/>
              <a:gdLst/>
              <a:ahLst/>
              <a:cxnLst/>
              <a:rect r="r" b="b" t="t" l="l"/>
              <a:pathLst>
                <a:path h="502436" w="4816592">
                  <a:moveTo>
                    <a:pt x="0" y="0"/>
                  </a:moveTo>
                  <a:lnTo>
                    <a:pt x="4816592" y="0"/>
                  </a:lnTo>
                  <a:lnTo>
                    <a:pt x="4816592" y="502436"/>
                  </a:lnTo>
                  <a:lnTo>
                    <a:pt x="0" y="502436"/>
                  </a:lnTo>
                  <a:close/>
                </a:path>
              </a:pathLst>
            </a:custGeom>
            <a:solidFill>
              <a:srgbClr val="DBE5EA"/>
            </a:solidFill>
          </p:spPr>
        </p:sp>
        <p:sp>
          <p:nvSpPr>
            <p:cNvPr name="TextBox 5" id="5"/>
            <p:cNvSpPr txBox="true"/>
            <p:nvPr/>
          </p:nvSpPr>
          <p:spPr>
            <a:xfrm>
              <a:off x="0" y="-47625"/>
              <a:ext cx="4816593" cy="550061"/>
            </a:xfrm>
            <a:prstGeom prst="rect">
              <a:avLst/>
            </a:prstGeom>
          </p:spPr>
          <p:txBody>
            <a:bodyPr anchor="ctr" rtlCol="false" tIns="50800" lIns="50800" bIns="50800" rIns="50800"/>
            <a:lstStyle/>
            <a:p>
              <a:pPr algn="ctr">
                <a:lnSpc>
                  <a:spcPts val="3693"/>
                </a:lnSpc>
              </a:pPr>
            </a:p>
          </p:txBody>
        </p:sp>
      </p:grpSp>
      <p:sp>
        <p:nvSpPr>
          <p:cNvPr name="TextBox 6" id="6"/>
          <p:cNvSpPr txBox="true"/>
          <p:nvPr/>
        </p:nvSpPr>
        <p:spPr>
          <a:xfrm rot="0">
            <a:off x="4499142" y="62719"/>
            <a:ext cx="9289717" cy="1601274"/>
          </a:xfrm>
          <a:prstGeom prst="rect">
            <a:avLst/>
          </a:prstGeom>
        </p:spPr>
        <p:txBody>
          <a:bodyPr anchor="t" rtlCol="false" tIns="0" lIns="0" bIns="0" rIns="0">
            <a:spAutoFit/>
          </a:bodyPr>
          <a:lstStyle/>
          <a:p>
            <a:pPr algn="ctr" marL="0" indent="0" lvl="0">
              <a:lnSpc>
                <a:spcPts val="13065"/>
              </a:lnSpc>
              <a:spcBef>
                <a:spcPct val="0"/>
              </a:spcBef>
            </a:pPr>
            <a:r>
              <a:rPr lang="en-US" sz="9332" u="sng">
                <a:solidFill>
                  <a:srgbClr val="0F4662"/>
                </a:solidFill>
                <a:latin typeface="Genty Sans"/>
                <a:ea typeface="Genty Sans"/>
                <a:cs typeface="Genty Sans"/>
                <a:sym typeface="Genty Sans"/>
              </a:rPr>
              <a:t>PROJECT GOALS</a:t>
            </a:r>
          </a:p>
        </p:txBody>
      </p:sp>
      <p:sp>
        <p:nvSpPr>
          <p:cNvPr name="TextBox 7" id="7"/>
          <p:cNvSpPr txBox="true"/>
          <p:nvPr/>
        </p:nvSpPr>
        <p:spPr>
          <a:xfrm rot="0">
            <a:off x="1259350" y="2391709"/>
            <a:ext cx="15769301" cy="6539567"/>
          </a:xfrm>
          <a:prstGeom prst="rect">
            <a:avLst/>
          </a:prstGeom>
        </p:spPr>
        <p:txBody>
          <a:bodyPr anchor="t" rtlCol="false" tIns="0" lIns="0" bIns="0" rIns="0">
            <a:spAutoFit/>
          </a:bodyPr>
          <a:lstStyle/>
          <a:p>
            <a:pPr algn="l">
              <a:lnSpc>
                <a:spcPts val="6594"/>
              </a:lnSpc>
            </a:pPr>
            <a:r>
              <a:rPr lang="en-US" sz="3280">
                <a:solidFill>
                  <a:srgbClr val="000000"/>
                </a:solidFill>
                <a:latin typeface="Canva Sans"/>
                <a:ea typeface="Canva Sans"/>
                <a:cs typeface="Canva Sans"/>
                <a:sym typeface="Canva Sans"/>
              </a:rPr>
              <a:t>This project focuses on :</a:t>
            </a:r>
          </a:p>
          <a:p>
            <a:pPr algn="l" marL="708297" indent="-354149" lvl="1">
              <a:lnSpc>
                <a:spcPts val="6594"/>
              </a:lnSpc>
              <a:buAutoNum type="arabicPeriod" startAt="1"/>
            </a:pPr>
            <a:r>
              <a:rPr lang="en-US" sz="3280">
                <a:solidFill>
                  <a:srgbClr val="000000"/>
                </a:solidFill>
                <a:latin typeface="Canva Sans"/>
                <a:ea typeface="Canva Sans"/>
                <a:cs typeface="Canva Sans"/>
                <a:sym typeface="Canva Sans"/>
              </a:rPr>
              <a:t>Building predictive models using supervised machine learning techniques : </a:t>
            </a:r>
          </a:p>
          <a:p>
            <a:pPr algn="l" marL="1416594" indent="-472198" lvl="2">
              <a:lnSpc>
                <a:spcPts val="6594"/>
              </a:lnSpc>
              <a:buFont typeface="Arial"/>
              <a:buChar char="⚬"/>
            </a:pPr>
            <a:r>
              <a:rPr lang="en-US" sz="3280">
                <a:solidFill>
                  <a:srgbClr val="000000"/>
                </a:solidFill>
                <a:latin typeface="Canva Sans"/>
                <a:ea typeface="Canva Sans"/>
                <a:cs typeface="Canva Sans"/>
                <a:sym typeface="Canva Sans"/>
              </a:rPr>
              <a:t>K-Nearest Neighbors (KNN)</a:t>
            </a:r>
          </a:p>
          <a:p>
            <a:pPr algn="l" marL="1416594" indent="-472198" lvl="2">
              <a:lnSpc>
                <a:spcPts val="6594"/>
              </a:lnSpc>
              <a:buFont typeface="Arial"/>
              <a:buChar char="⚬"/>
            </a:pPr>
            <a:r>
              <a:rPr lang="en-US" sz="3280">
                <a:solidFill>
                  <a:srgbClr val="000000"/>
                </a:solidFill>
                <a:latin typeface="Canva Sans"/>
                <a:ea typeface="Canva Sans"/>
                <a:cs typeface="Canva Sans"/>
                <a:sym typeface="Canva Sans"/>
              </a:rPr>
              <a:t>Logistic Regression</a:t>
            </a:r>
          </a:p>
          <a:p>
            <a:pPr algn="l" marL="1416594" indent="-472198" lvl="2">
              <a:lnSpc>
                <a:spcPts val="6594"/>
              </a:lnSpc>
              <a:buFont typeface="Arial"/>
              <a:buChar char="⚬"/>
            </a:pPr>
            <a:r>
              <a:rPr lang="en-US" sz="3280">
                <a:solidFill>
                  <a:srgbClr val="000000"/>
                </a:solidFill>
                <a:latin typeface="Canva Sans"/>
                <a:ea typeface="Canva Sans"/>
                <a:cs typeface="Canva Sans"/>
                <a:sym typeface="Canva Sans"/>
              </a:rPr>
              <a:t>Naive Bayes </a:t>
            </a:r>
          </a:p>
          <a:p>
            <a:pPr algn="l" marL="1416594" indent="-472198" lvl="2">
              <a:lnSpc>
                <a:spcPts val="6594"/>
              </a:lnSpc>
              <a:buFont typeface="Arial"/>
              <a:buChar char="⚬"/>
            </a:pPr>
            <a:r>
              <a:rPr lang="en-US" sz="3280">
                <a:solidFill>
                  <a:srgbClr val="000000"/>
                </a:solidFill>
                <a:latin typeface="Canva Sans"/>
                <a:ea typeface="Canva Sans"/>
                <a:cs typeface="Canva Sans"/>
                <a:sym typeface="Canva Sans"/>
              </a:rPr>
              <a:t>Decision Tree</a:t>
            </a:r>
          </a:p>
          <a:p>
            <a:pPr algn="l" marL="708297" indent="-354149" lvl="1">
              <a:lnSpc>
                <a:spcPts val="6594"/>
              </a:lnSpc>
              <a:buAutoNum type="arabicPeriod" startAt="1"/>
            </a:pPr>
            <a:r>
              <a:rPr lang="en-US" sz="3280">
                <a:solidFill>
                  <a:srgbClr val="000000"/>
                </a:solidFill>
                <a:latin typeface="Canva Sans"/>
                <a:ea typeface="Canva Sans"/>
                <a:cs typeface="Canva Sans"/>
                <a:sym typeface="Canva Sans"/>
              </a:rPr>
              <a:t>Evaluating model performance to identify the most accurate approach</a:t>
            </a:r>
          </a:p>
          <a:p>
            <a:pPr algn="l" marL="708297" indent="-354149" lvl="1">
              <a:lnSpc>
                <a:spcPts val="6594"/>
              </a:lnSpc>
              <a:buAutoNum type="arabicPeriod" startAt="1"/>
            </a:pPr>
            <a:r>
              <a:rPr lang="en-US" sz="3280">
                <a:solidFill>
                  <a:srgbClr val="000000"/>
                </a:solidFill>
                <a:latin typeface="Canva Sans"/>
                <a:ea typeface="Canva Sans"/>
                <a:cs typeface="Canva Sans"/>
                <a:sym typeface="Canva Sans"/>
              </a:rPr>
              <a:t>Providing actionable insights into the key factors driving startup success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872835" y="2438219"/>
            <a:ext cx="13518961" cy="4399744"/>
          </a:xfrm>
          <a:prstGeom prst="rect">
            <a:avLst/>
          </a:prstGeom>
        </p:spPr>
        <p:txBody>
          <a:bodyPr anchor="t" rtlCol="false" tIns="0" lIns="0" bIns="0" rIns="0">
            <a:spAutoFit/>
          </a:bodyPr>
          <a:lstStyle/>
          <a:p>
            <a:pPr algn="l" marL="0" indent="0" lvl="0">
              <a:lnSpc>
                <a:spcPts val="17648"/>
              </a:lnSpc>
              <a:spcBef>
                <a:spcPct val="0"/>
              </a:spcBef>
            </a:pPr>
            <a:r>
              <a:rPr lang="en-US" sz="12605">
                <a:solidFill>
                  <a:srgbClr val="0F4662"/>
                </a:solidFill>
                <a:latin typeface="Genty Sans"/>
                <a:ea typeface="Genty Sans"/>
                <a:cs typeface="Genty Sans"/>
                <a:sym typeface="Genty Sans"/>
              </a:rPr>
              <a:t>2. ALGORITHMS OVERVIEW</a:t>
            </a:r>
          </a:p>
        </p:txBody>
      </p:sp>
      <p:sp>
        <p:nvSpPr>
          <p:cNvPr name="Freeform 3" id="3"/>
          <p:cNvSpPr/>
          <p:nvPr/>
        </p:nvSpPr>
        <p:spPr>
          <a:xfrm flipH="false" flipV="false" rot="0">
            <a:off x="12344037" y="4761916"/>
            <a:ext cx="4915263" cy="4915263"/>
          </a:xfrm>
          <a:custGeom>
            <a:avLst/>
            <a:gdLst/>
            <a:ahLst/>
            <a:cxnLst/>
            <a:rect r="r" b="b" t="t" l="l"/>
            <a:pathLst>
              <a:path h="4915263" w="4915263">
                <a:moveTo>
                  <a:pt x="0" y="0"/>
                </a:moveTo>
                <a:lnTo>
                  <a:pt x="4915263" y="0"/>
                </a:lnTo>
                <a:lnTo>
                  <a:pt x="4915263" y="4915262"/>
                </a:lnTo>
                <a:lnTo>
                  <a:pt x="0" y="4915262"/>
                </a:lnTo>
                <a:lnTo>
                  <a:pt x="0" y="0"/>
                </a:lnTo>
                <a:close/>
              </a:path>
            </a:pathLst>
          </a:custGeom>
          <a:blipFill>
            <a:blip r:embed="rId2"/>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3954809" y="5143500"/>
            <a:ext cx="9937626" cy="4968813"/>
          </a:xfrm>
          <a:custGeom>
            <a:avLst/>
            <a:gdLst/>
            <a:ahLst/>
            <a:cxnLst/>
            <a:rect r="r" b="b" t="t" l="l"/>
            <a:pathLst>
              <a:path h="4968813" w="9937626">
                <a:moveTo>
                  <a:pt x="0" y="0"/>
                </a:moveTo>
                <a:lnTo>
                  <a:pt x="9937626" y="0"/>
                </a:lnTo>
                <a:lnTo>
                  <a:pt x="9937626" y="4968813"/>
                </a:lnTo>
                <a:lnTo>
                  <a:pt x="0" y="4968813"/>
                </a:lnTo>
                <a:lnTo>
                  <a:pt x="0" y="0"/>
                </a:lnTo>
                <a:close/>
              </a:path>
            </a:pathLst>
          </a:custGeom>
          <a:blipFill>
            <a:blip r:embed="rId2"/>
            <a:stretch>
              <a:fillRect l="0" t="0" r="0" b="0"/>
            </a:stretch>
          </a:blipFill>
        </p:spPr>
      </p:sp>
      <p:sp>
        <p:nvSpPr>
          <p:cNvPr name="TextBox 3" id="3"/>
          <p:cNvSpPr txBox="true"/>
          <p:nvPr/>
        </p:nvSpPr>
        <p:spPr>
          <a:xfrm rot="0">
            <a:off x="17259300" y="9220200"/>
            <a:ext cx="152400" cy="190500"/>
          </a:xfrm>
          <a:prstGeom prst="rect">
            <a:avLst/>
          </a:prstGeom>
        </p:spPr>
        <p:txBody>
          <a:bodyPr anchor="t" rtlCol="false" tIns="0" lIns="0" bIns="0" rIns="0" wrap="none">
            <a:spAutoFit/>
          </a:bodyPr>
          <a:lstStyle/>
          <a:p>
            <a:pPr algn="ctr">
              <a:lnSpc>
                <a:spcPts val="3359"/>
              </a:lnSpc>
              <a:spcBef>
                <a:spcPct val="0"/>
              </a:spcBef>
            </a:pPr>
            <a:r>
              <a:rPr lang="en-US" sz="2399">
                <a:solidFill>
                  <a:srgbClr val="0F4662"/>
                </a:solidFill>
                <a:latin typeface="Canva Sans"/>
                <a:ea typeface="Canva Sans"/>
                <a:cs typeface="Canva Sans"/>
                <a:sym typeface="Canva Sans"/>
              </a:rPr>
              <a:t>7</a:t>
            </a:r>
          </a:p>
        </p:txBody>
      </p:sp>
      <p:grpSp>
        <p:nvGrpSpPr>
          <p:cNvPr name="Group 4" id="4"/>
          <p:cNvGrpSpPr/>
          <p:nvPr/>
        </p:nvGrpSpPr>
        <p:grpSpPr>
          <a:xfrm rot="0">
            <a:off x="0" y="0"/>
            <a:ext cx="18288000" cy="1907687"/>
            <a:chOff x="0" y="0"/>
            <a:chExt cx="4816593" cy="502436"/>
          </a:xfrm>
        </p:grpSpPr>
        <p:sp>
          <p:nvSpPr>
            <p:cNvPr name="Freeform 5" id="5"/>
            <p:cNvSpPr/>
            <p:nvPr/>
          </p:nvSpPr>
          <p:spPr>
            <a:xfrm flipH="false" flipV="false" rot="0">
              <a:off x="0" y="0"/>
              <a:ext cx="4816592" cy="502436"/>
            </a:xfrm>
            <a:custGeom>
              <a:avLst/>
              <a:gdLst/>
              <a:ahLst/>
              <a:cxnLst/>
              <a:rect r="r" b="b" t="t" l="l"/>
              <a:pathLst>
                <a:path h="502436" w="4816592">
                  <a:moveTo>
                    <a:pt x="0" y="0"/>
                  </a:moveTo>
                  <a:lnTo>
                    <a:pt x="4816592" y="0"/>
                  </a:lnTo>
                  <a:lnTo>
                    <a:pt x="4816592" y="502436"/>
                  </a:lnTo>
                  <a:lnTo>
                    <a:pt x="0" y="502436"/>
                  </a:lnTo>
                  <a:close/>
                </a:path>
              </a:pathLst>
            </a:custGeom>
            <a:solidFill>
              <a:srgbClr val="DBE5EA"/>
            </a:solidFill>
          </p:spPr>
        </p:sp>
        <p:sp>
          <p:nvSpPr>
            <p:cNvPr name="TextBox 6" id="6"/>
            <p:cNvSpPr txBox="true"/>
            <p:nvPr/>
          </p:nvSpPr>
          <p:spPr>
            <a:xfrm>
              <a:off x="0" y="-47625"/>
              <a:ext cx="4816593" cy="550061"/>
            </a:xfrm>
            <a:prstGeom prst="rect">
              <a:avLst/>
            </a:prstGeom>
          </p:spPr>
          <p:txBody>
            <a:bodyPr anchor="ctr" rtlCol="false" tIns="50800" lIns="50800" bIns="50800" rIns="50800"/>
            <a:lstStyle/>
            <a:p>
              <a:pPr algn="ctr">
                <a:lnSpc>
                  <a:spcPts val="3693"/>
                </a:lnSpc>
              </a:pPr>
            </a:p>
          </p:txBody>
        </p:sp>
      </p:grpSp>
      <p:sp>
        <p:nvSpPr>
          <p:cNvPr name="TextBox 7" id="7"/>
          <p:cNvSpPr txBox="true"/>
          <p:nvPr/>
        </p:nvSpPr>
        <p:spPr>
          <a:xfrm rot="0">
            <a:off x="1682886" y="116060"/>
            <a:ext cx="15104933" cy="1384097"/>
          </a:xfrm>
          <a:prstGeom prst="rect">
            <a:avLst/>
          </a:prstGeom>
        </p:spPr>
        <p:txBody>
          <a:bodyPr anchor="t" rtlCol="false" tIns="0" lIns="0" bIns="0" rIns="0">
            <a:spAutoFit/>
          </a:bodyPr>
          <a:lstStyle/>
          <a:p>
            <a:pPr algn="ctr" marL="0" indent="0" lvl="0">
              <a:lnSpc>
                <a:spcPts val="11386"/>
              </a:lnSpc>
              <a:spcBef>
                <a:spcPct val="0"/>
              </a:spcBef>
            </a:pPr>
            <a:r>
              <a:rPr lang="en-US" sz="8133" u="sng">
                <a:solidFill>
                  <a:srgbClr val="0F4662"/>
                </a:solidFill>
                <a:latin typeface="Genty Sans"/>
                <a:ea typeface="Genty Sans"/>
                <a:cs typeface="Genty Sans"/>
                <a:sym typeface="Genty Sans"/>
              </a:rPr>
              <a:t>KNN (K-NEAREST NEIGHBORS)</a:t>
            </a:r>
          </a:p>
        </p:txBody>
      </p:sp>
      <p:sp>
        <p:nvSpPr>
          <p:cNvPr name="TextBox 8" id="8"/>
          <p:cNvSpPr txBox="true"/>
          <p:nvPr/>
        </p:nvSpPr>
        <p:spPr>
          <a:xfrm rot="0">
            <a:off x="761204" y="2170940"/>
            <a:ext cx="17326398" cy="2972560"/>
          </a:xfrm>
          <a:prstGeom prst="rect">
            <a:avLst/>
          </a:prstGeom>
        </p:spPr>
        <p:txBody>
          <a:bodyPr anchor="t" rtlCol="false" tIns="0" lIns="0" bIns="0" rIns="0">
            <a:spAutoFit/>
          </a:bodyPr>
          <a:lstStyle/>
          <a:p>
            <a:pPr algn="l">
              <a:lnSpc>
                <a:spcPts val="4725"/>
              </a:lnSpc>
            </a:pPr>
            <a:r>
              <a:rPr lang="en-US" sz="3192">
                <a:solidFill>
                  <a:srgbClr val="000000"/>
                </a:solidFill>
                <a:latin typeface="Canva Sans"/>
                <a:ea typeface="Canva Sans"/>
                <a:cs typeface="Canva Sans"/>
                <a:sym typeface="Canva Sans"/>
              </a:rPr>
              <a:t>KNN is a simple, non-parametric algorithm used for classification tasks. It works by predicting the label of a data point based on the majority label of its nearest neighbors in the feature space. The algorithm's performance is influenced by the number of neighbors (K) and the choice of distance metric (Euclidean or Manhattan distance) used to measure similarity.</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907687"/>
            <a:chOff x="0" y="0"/>
            <a:chExt cx="4816593" cy="502436"/>
          </a:xfrm>
        </p:grpSpPr>
        <p:sp>
          <p:nvSpPr>
            <p:cNvPr name="Freeform 3" id="3"/>
            <p:cNvSpPr/>
            <p:nvPr/>
          </p:nvSpPr>
          <p:spPr>
            <a:xfrm flipH="false" flipV="false" rot="0">
              <a:off x="0" y="0"/>
              <a:ext cx="4816592" cy="502436"/>
            </a:xfrm>
            <a:custGeom>
              <a:avLst/>
              <a:gdLst/>
              <a:ahLst/>
              <a:cxnLst/>
              <a:rect r="r" b="b" t="t" l="l"/>
              <a:pathLst>
                <a:path h="502436" w="4816592">
                  <a:moveTo>
                    <a:pt x="0" y="0"/>
                  </a:moveTo>
                  <a:lnTo>
                    <a:pt x="4816592" y="0"/>
                  </a:lnTo>
                  <a:lnTo>
                    <a:pt x="4816592" y="502436"/>
                  </a:lnTo>
                  <a:lnTo>
                    <a:pt x="0" y="502436"/>
                  </a:lnTo>
                  <a:close/>
                </a:path>
              </a:pathLst>
            </a:custGeom>
            <a:solidFill>
              <a:srgbClr val="DBE5EA"/>
            </a:solidFill>
          </p:spPr>
        </p:sp>
        <p:sp>
          <p:nvSpPr>
            <p:cNvPr name="TextBox 4" id="4"/>
            <p:cNvSpPr txBox="true"/>
            <p:nvPr/>
          </p:nvSpPr>
          <p:spPr>
            <a:xfrm>
              <a:off x="0" y="-47625"/>
              <a:ext cx="4816593" cy="550061"/>
            </a:xfrm>
            <a:prstGeom prst="rect">
              <a:avLst/>
            </a:prstGeom>
          </p:spPr>
          <p:txBody>
            <a:bodyPr anchor="ctr" rtlCol="false" tIns="50800" lIns="50800" bIns="50800" rIns="50800"/>
            <a:lstStyle/>
            <a:p>
              <a:pPr algn="ctr">
                <a:lnSpc>
                  <a:spcPts val="3693"/>
                </a:lnSpc>
              </a:pPr>
            </a:p>
          </p:txBody>
        </p:sp>
      </p:grpSp>
      <p:sp>
        <p:nvSpPr>
          <p:cNvPr name="Freeform 5" id="5"/>
          <p:cNvSpPr/>
          <p:nvPr/>
        </p:nvSpPr>
        <p:spPr>
          <a:xfrm flipH="false" flipV="false" rot="0">
            <a:off x="5384263" y="5532156"/>
            <a:ext cx="8537787" cy="4386288"/>
          </a:xfrm>
          <a:custGeom>
            <a:avLst/>
            <a:gdLst/>
            <a:ahLst/>
            <a:cxnLst/>
            <a:rect r="r" b="b" t="t" l="l"/>
            <a:pathLst>
              <a:path h="4386288" w="8537787">
                <a:moveTo>
                  <a:pt x="0" y="0"/>
                </a:moveTo>
                <a:lnTo>
                  <a:pt x="8537786" y="0"/>
                </a:lnTo>
                <a:lnTo>
                  <a:pt x="8537786" y="4386288"/>
                </a:lnTo>
                <a:lnTo>
                  <a:pt x="0" y="4386288"/>
                </a:lnTo>
                <a:lnTo>
                  <a:pt x="0" y="0"/>
                </a:lnTo>
                <a:close/>
              </a:path>
            </a:pathLst>
          </a:custGeom>
          <a:blipFill>
            <a:blip r:embed="rId2"/>
            <a:stretch>
              <a:fillRect l="0" t="0" r="0" b="0"/>
            </a:stretch>
          </a:blipFill>
        </p:spPr>
      </p:sp>
      <p:sp>
        <p:nvSpPr>
          <p:cNvPr name="TextBox 6" id="6"/>
          <p:cNvSpPr txBox="true"/>
          <p:nvPr/>
        </p:nvSpPr>
        <p:spPr>
          <a:xfrm rot="0">
            <a:off x="17259300" y="9220200"/>
            <a:ext cx="152400" cy="190500"/>
          </a:xfrm>
          <a:prstGeom prst="rect">
            <a:avLst/>
          </a:prstGeom>
        </p:spPr>
        <p:txBody>
          <a:bodyPr anchor="t" rtlCol="false" tIns="0" lIns="0" bIns="0" rIns="0" wrap="none">
            <a:spAutoFit/>
          </a:bodyPr>
          <a:lstStyle/>
          <a:p>
            <a:pPr algn="ctr">
              <a:lnSpc>
                <a:spcPts val="3359"/>
              </a:lnSpc>
              <a:spcBef>
                <a:spcPct val="0"/>
              </a:spcBef>
            </a:pPr>
            <a:r>
              <a:rPr lang="en-US" sz="2399">
                <a:solidFill>
                  <a:srgbClr val="0F4662"/>
                </a:solidFill>
                <a:latin typeface="Canva Sans"/>
                <a:ea typeface="Canva Sans"/>
                <a:cs typeface="Canva Sans"/>
                <a:sym typeface="Canva Sans"/>
              </a:rPr>
              <a:t>8</a:t>
            </a:r>
          </a:p>
        </p:txBody>
      </p:sp>
      <p:sp>
        <p:nvSpPr>
          <p:cNvPr name="TextBox 7" id="7"/>
          <p:cNvSpPr txBox="true"/>
          <p:nvPr/>
        </p:nvSpPr>
        <p:spPr>
          <a:xfrm rot="0">
            <a:off x="1903264" y="87485"/>
            <a:ext cx="14481472" cy="1551743"/>
          </a:xfrm>
          <a:prstGeom prst="rect">
            <a:avLst/>
          </a:prstGeom>
        </p:spPr>
        <p:txBody>
          <a:bodyPr anchor="t" rtlCol="false" tIns="0" lIns="0" bIns="0" rIns="0">
            <a:spAutoFit/>
          </a:bodyPr>
          <a:lstStyle/>
          <a:p>
            <a:pPr algn="ctr" marL="0" indent="0" lvl="0">
              <a:lnSpc>
                <a:spcPts val="12645"/>
              </a:lnSpc>
              <a:spcBef>
                <a:spcPct val="0"/>
              </a:spcBef>
            </a:pPr>
            <a:r>
              <a:rPr lang="en-US" sz="9032" u="sng">
                <a:solidFill>
                  <a:srgbClr val="0F4662"/>
                </a:solidFill>
                <a:latin typeface="Genty Sans"/>
                <a:ea typeface="Genty Sans"/>
                <a:cs typeface="Genty Sans"/>
                <a:sym typeface="Genty Sans"/>
              </a:rPr>
              <a:t>LOGISTIC REGRESSION</a:t>
            </a:r>
          </a:p>
        </p:txBody>
      </p:sp>
      <p:sp>
        <p:nvSpPr>
          <p:cNvPr name="TextBox 8" id="8"/>
          <p:cNvSpPr txBox="true"/>
          <p:nvPr/>
        </p:nvSpPr>
        <p:spPr>
          <a:xfrm rot="0">
            <a:off x="677617" y="2039036"/>
            <a:ext cx="16932767" cy="3285571"/>
          </a:xfrm>
          <a:prstGeom prst="rect">
            <a:avLst/>
          </a:prstGeom>
        </p:spPr>
        <p:txBody>
          <a:bodyPr anchor="t" rtlCol="false" tIns="0" lIns="0" bIns="0" rIns="0">
            <a:spAutoFit/>
          </a:bodyPr>
          <a:lstStyle/>
          <a:p>
            <a:pPr algn="l">
              <a:lnSpc>
                <a:spcPts val="4383"/>
              </a:lnSpc>
            </a:pPr>
            <a:r>
              <a:rPr lang="en-US" sz="2961">
                <a:solidFill>
                  <a:srgbClr val="000000"/>
                </a:solidFill>
                <a:latin typeface="Canva Sans"/>
                <a:ea typeface="Canva Sans"/>
                <a:cs typeface="Canva Sans"/>
                <a:sym typeface="Canva Sans"/>
              </a:rPr>
              <a:t>Logistic regression is a method used to model categorical target variables, including those with multiple classes. When dealing with multiclass classification, we use multinomial logistic regression, which employs techniques such as the softmax function. The softmax function transforms the model's raw outputs into probabilities that sum to 1 across all classes. </a:t>
            </a:r>
          </a:p>
          <a:p>
            <a:pPr algn="l">
              <a:lnSpc>
                <a:spcPts val="4383"/>
              </a:lnSpc>
            </a:pPr>
            <a:r>
              <a:rPr lang="en-US" sz="2961">
                <a:solidFill>
                  <a:srgbClr val="000000"/>
                </a:solidFill>
                <a:latin typeface="Canva Sans"/>
                <a:ea typeface="Canva Sans"/>
                <a:cs typeface="Canva Sans"/>
                <a:sym typeface="Canva Sans"/>
              </a:rPr>
              <a:t>This enables multinomial logistic regression to predict the probability that an observation belongs to each of the possible classes.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907687"/>
            <a:chOff x="0" y="0"/>
            <a:chExt cx="4816593" cy="502436"/>
          </a:xfrm>
        </p:grpSpPr>
        <p:sp>
          <p:nvSpPr>
            <p:cNvPr name="Freeform 3" id="3"/>
            <p:cNvSpPr/>
            <p:nvPr/>
          </p:nvSpPr>
          <p:spPr>
            <a:xfrm flipH="false" flipV="false" rot="0">
              <a:off x="0" y="0"/>
              <a:ext cx="4816592" cy="502436"/>
            </a:xfrm>
            <a:custGeom>
              <a:avLst/>
              <a:gdLst/>
              <a:ahLst/>
              <a:cxnLst/>
              <a:rect r="r" b="b" t="t" l="l"/>
              <a:pathLst>
                <a:path h="502436" w="4816592">
                  <a:moveTo>
                    <a:pt x="0" y="0"/>
                  </a:moveTo>
                  <a:lnTo>
                    <a:pt x="4816592" y="0"/>
                  </a:lnTo>
                  <a:lnTo>
                    <a:pt x="4816592" y="502436"/>
                  </a:lnTo>
                  <a:lnTo>
                    <a:pt x="0" y="502436"/>
                  </a:lnTo>
                  <a:close/>
                </a:path>
              </a:pathLst>
            </a:custGeom>
            <a:solidFill>
              <a:srgbClr val="DBE5EA"/>
            </a:solidFill>
          </p:spPr>
        </p:sp>
        <p:sp>
          <p:nvSpPr>
            <p:cNvPr name="TextBox 4" id="4"/>
            <p:cNvSpPr txBox="true"/>
            <p:nvPr/>
          </p:nvSpPr>
          <p:spPr>
            <a:xfrm>
              <a:off x="0" y="-47625"/>
              <a:ext cx="4816593" cy="550061"/>
            </a:xfrm>
            <a:prstGeom prst="rect">
              <a:avLst/>
            </a:prstGeom>
          </p:spPr>
          <p:txBody>
            <a:bodyPr anchor="ctr" rtlCol="false" tIns="50800" lIns="50800" bIns="50800" rIns="50800"/>
            <a:lstStyle/>
            <a:p>
              <a:pPr algn="ctr">
                <a:lnSpc>
                  <a:spcPts val="3693"/>
                </a:lnSpc>
              </a:pPr>
            </a:p>
          </p:txBody>
        </p:sp>
      </p:grpSp>
      <p:sp>
        <p:nvSpPr>
          <p:cNvPr name="Freeform 5" id="5"/>
          <p:cNvSpPr/>
          <p:nvPr/>
        </p:nvSpPr>
        <p:spPr>
          <a:xfrm flipH="false" flipV="false" rot="0">
            <a:off x="4011272" y="6189105"/>
            <a:ext cx="11009125" cy="2006001"/>
          </a:xfrm>
          <a:custGeom>
            <a:avLst/>
            <a:gdLst/>
            <a:ahLst/>
            <a:cxnLst/>
            <a:rect r="r" b="b" t="t" l="l"/>
            <a:pathLst>
              <a:path h="2006001" w="11009125">
                <a:moveTo>
                  <a:pt x="0" y="0"/>
                </a:moveTo>
                <a:lnTo>
                  <a:pt x="11009125" y="0"/>
                </a:lnTo>
                <a:lnTo>
                  <a:pt x="11009125" y="2006001"/>
                </a:lnTo>
                <a:lnTo>
                  <a:pt x="0" y="2006001"/>
                </a:lnTo>
                <a:lnTo>
                  <a:pt x="0" y="0"/>
                </a:lnTo>
                <a:close/>
              </a:path>
            </a:pathLst>
          </a:custGeom>
          <a:blipFill>
            <a:blip r:embed="rId2"/>
            <a:stretch>
              <a:fillRect l="0" t="0" r="0" b="0"/>
            </a:stretch>
          </a:blipFill>
        </p:spPr>
      </p:sp>
      <p:sp>
        <p:nvSpPr>
          <p:cNvPr name="TextBox 6" id="6"/>
          <p:cNvSpPr txBox="true"/>
          <p:nvPr/>
        </p:nvSpPr>
        <p:spPr>
          <a:xfrm rot="0">
            <a:off x="17259300" y="9220200"/>
            <a:ext cx="152400" cy="190500"/>
          </a:xfrm>
          <a:prstGeom prst="rect">
            <a:avLst/>
          </a:prstGeom>
        </p:spPr>
        <p:txBody>
          <a:bodyPr anchor="t" rtlCol="false" tIns="0" lIns="0" bIns="0" rIns="0" wrap="none">
            <a:spAutoFit/>
          </a:bodyPr>
          <a:lstStyle/>
          <a:p>
            <a:pPr algn="ctr">
              <a:lnSpc>
                <a:spcPts val="3359"/>
              </a:lnSpc>
              <a:spcBef>
                <a:spcPct val="0"/>
              </a:spcBef>
            </a:pPr>
            <a:r>
              <a:rPr lang="en-US" sz="2399">
                <a:solidFill>
                  <a:srgbClr val="0F4662"/>
                </a:solidFill>
                <a:latin typeface="Canva Sans"/>
                <a:ea typeface="Canva Sans"/>
                <a:cs typeface="Canva Sans"/>
                <a:sym typeface="Canva Sans"/>
              </a:rPr>
              <a:t>9</a:t>
            </a:r>
          </a:p>
        </p:txBody>
      </p:sp>
      <p:sp>
        <p:nvSpPr>
          <p:cNvPr name="TextBox 7" id="7"/>
          <p:cNvSpPr txBox="true"/>
          <p:nvPr/>
        </p:nvSpPr>
        <p:spPr>
          <a:xfrm rot="0">
            <a:off x="1069099" y="2651198"/>
            <a:ext cx="16893471" cy="1985294"/>
          </a:xfrm>
          <a:prstGeom prst="rect">
            <a:avLst/>
          </a:prstGeom>
        </p:spPr>
        <p:txBody>
          <a:bodyPr anchor="t" rtlCol="false" tIns="0" lIns="0" bIns="0" rIns="0">
            <a:spAutoFit/>
          </a:bodyPr>
          <a:lstStyle/>
          <a:p>
            <a:pPr algn="l">
              <a:lnSpc>
                <a:spcPts val="5376"/>
              </a:lnSpc>
            </a:pPr>
            <a:r>
              <a:rPr lang="en-US" sz="3632">
                <a:solidFill>
                  <a:srgbClr val="000000"/>
                </a:solidFill>
                <a:latin typeface="Canva Sans"/>
                <a:ea typeface="Canva Sans"/>
                <a:cs typeface="Canva Sans"/>
                <a:sym typeface="Canva Sans"/>
              </a:rPr>
              <a:t>A Naive Bayes classifier is a probabilistic machine learning model that’s used for classification tasks. It is based on Bayes' theorem with the assumption of independence between features.</a:t>
            </a:r>
          </a:p>
        </p:txBody>
      </p:sp>
      <p:sp>
        <p:nvSpPr>
          <p:cNvPr name="TextBox 8" id="8"/>
          <p:cNvSpPr txBox="true"/>
          <p:nvPr/>
        </p:nvSpPr>
        <p:spPr>
          <a:xfrm rot="0">
            <a:off x="1903264" y="87485"/>
            <a:ext cx="14481472" cy="1551743"/>
          </a:xfrm>
          <a:prstGeom prst="rect">
            <a:avLst/>
          </a:prstGeom>
        </p:spPr>
        <p:txBody>
          <a:bodyPr anchor="t" rtlCol="false" tIns="0" lIns="0" bIns="0" rIns="0">
            <a:spAutoFit/>
          </a:bodyPr>
          <a:lstStyle/>
          <a:p>
            <a:pPr algn="ctr" marL="0" indent="0" lvl="0">
              <a:lnSpc>
                <a:spcPts val="12645"/>
              </a:lnSpc>
              <a:spcBef>
                <a:spcPct val="0"/>
              </a:spcBef>
            </a:pPr>
            <a:r>
              <a:rPr lang="en-US" sz="9032" u="sng">
                <a:solidFill>
                  <a:srgbClr val="0F4662"/>
                </a:solidFill>
                <a:latin typeface="Genty Sans"/>
                <a:ea typeface="Genty Sans"/>
                <a:cs typeface="Genty Sans"/>
                <a:sym typeface="Genty Sans"/>
              </a:rPr>
              <a:t>NAIVE BAYES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907687"/>
            <a:chOff x="0" y="0"/>
            <a:chExt cx="4816593" cy="502436"/>
          </a:xfrm>
        </p:grpSpPr>
        <p:sp>
          <p:nvSpPr>
            <p:cNvPr name="Freeform 3" id="3"/>
            <p:cNvSpPr/>
            <p:nvPr/>
          </p:nvSpPr>
          <p:spPr>
            <a:xfrm flipH="false" flipV="false" rot="0">
              <a:off x="0" y="0"/>
              <a:ext cx="4816592" cy="502436"/>
            </a:xfrm>
            <a:custGeom>
              <a:avLst/>
              <a:gdLst/>
              <a:ahLst/>
              <a:cxnLst/>
              <a:rect r="r" b="b" t="t" l="l"/>
              <a:pathLst>
                <a:path h="502436" w="4816592">
                  <a:moveTo>
                    <a:pt x="0" y="0"/>
                  </a:moveTo>
                  <a:lnTo>
                    <a:pt x="4816592" y="0"/>
                  </a:lnTo>
                  <a:lnTo>
                    <a:pt x="4816592" y="502436"/>
                  </a:lnTo>
                  <a:lnTo>
                    <a:pt x="0" y="502436"/>
                  </a:lnTo>
                  <a:close/>
                </a:path>
              </a:pathLst>
            </a:custGeom>
            <a:solidFill>
              <a:srgbClr val="DBE5EA"/>
            </a:solidFill>
          </p:spPr>
        </p:sp>
        <p:sp>
          <p:nvSpPr>
            <p:cNvPr name="TextBox 4" id="4"/>
            <p:cNvSpPr txBox="true"/>
            <p:nvPr/>
          </p:nvSpPr>
          <p:spPr>
            <a:xfrm>
              <a:off x="0" y="-47625"/>
              <a:ext cx="4816593" cy="550061"/>
            </a:xfrm>
            <a:prstGeom prst="rect">
              <a:avLst/>
            </a:prstGeom>
          </p:spPr>
          <p:txBody>
            <a:bodyPr anchor="ctr" rtlCol="false" tIns="50800" lIns="50800" bIns="50800" rIns="50800"/>
            <a:lstStyle/>
            <a:p>
              <a:pPr algn="ctr">
                <a:lnSpc>
                  <a:spcPts val="3693"/>
                </a:lnSpc>
              </a:pPr>
            </a:p>
          </p:txBody>
        </p:sp>
      </p:grpSp>
      <p:sp>
        <p:nvSpPr>
          <p:cNvPr name="Freeform 5" id="5"/>
          <p:cNvSpPr/>
          <p:nvPr/>
        </p:nvSpPr>
        <p:spPr>
          <a:xfrm flipH="false" flipV="false" rot="0">
            <a:off x="4126604" y="4858170"/>
            <a:ext cx="10391480" cy="5180636"/>
          </a:xfrm>
          <a:custGeom>
            <a:avLst/>
            <a:gdLst/>
            <a:ahLst/>
            <a:cxnLst/>
            <a:rect r="r" b="b" t="t" l="l"/>
            <a:pathLst>
              <a:path h="5180636" w="10391480">
                <a:moveTo>
                  <a:pt x="0" y="0"/>
                </a:moveTo>
                <a:lnTo>
                  <a:pt x="10391480" y="0"/>
                </a:lnTo>
                <a:lnTo>
                  <a:pt x="10391480" y="5180636"/>
                </a:lnTo>
                <a:lnTo>
                  <a:pt x="0" y="5180636"/>
                </a:lnTo>
                <a:lnTo>
                  <a:pt x="0" y="0"/>
                </a:lnTo>
                <a:close/>
              </a:path>
            </a:pathLst>
          </a:custGeom>
          <a:blipFill>
            <a:blip r:embed="rId2"/>
            <a:stretch>
              <a:fillRect l="0" t="0" r="0" b="0"/>
            </a:stretch>
          </a:blipFill>
        </p:spPr>
      </p:sp>
      <p:sp>
        <p:nvSpPr>
          <p:cNvPr name="TextBox 6" id="6"/>
          <p:cNvSpPr txBox="true"/>
          <p:nvPr/>
        </p:nvSpPr>
        <p:spPr>
          <a:xfrm rot="0">
            <a:off x="17259300" y="9220200"/>
            <a:ext cx="152400" cy="190500"/>
          </a:xfrm>
          <a:prstGeom prst="rect">
            <a:avLst/>
          </a:prstGeom>
        </p:spPr>
        <p:txBody>
          <a:bodyPr anchor="t" rtlCol="false" tIns="0" lIns="0" bIns="0" rIns="0" wrap="none">
            <a:spAutoFit/>
          </a:bodyPr>
          <a:lstStyle/>
          <a:p>
            <a:pPr algn="ctr">
              <a:lnSpc>
                <a:spcPts val="3359"/>
              </a:lnSpc>
              <a:spcBef>
                <a:spcPct val="0"/>
              </a:spcBef>
            </a:pPr>
            <a:r>
              <a:rPr lang="en-US" sz="2399">
                <a:solidFill>
                  <a:srgbClr val="0F4662"/>
                </a:solidFill>
                <a:latin typeface="Canva Sans"/>
                <a:ea typeface="Canva Sans"/>
                <a:cs typeface="Canva Sans"/>
                <a:sym typeface="Canva Sans"/>
              </a:rPr>
              <a:t>10</a:t>
            </a:r>
          </a:p>
        </p:txBody>
      </p:sp>
      <p:sp>
        <p:nvSpPr>
          <p:cNvPr name="TextBox 7" id="7"/>
          <p:cNvSpPr txBox="true"/>
          <p:nvPr/>
        </p:nvSpPr>
        <p:spPr>
          <a:xfrm rot="0">
            <a:off x="708197" y="1978235"/>
            <a:ext cx="17228294" cy="3165265"/>
          </a:xfrm>
          <a:prstGeom prst="rect">
            <a:avLst/>
          </a:prstGeom>
        </p:spPr>
        <p:txBody>
          <a:bodyPr anchor="t" rtlCol="false" tIns="0" lIns="0" bIns="0" rIns="0">
            <a:spAutoFit/>
          </a:bodyPr>
          <a:lstStyle/>
          <a:p>
            <a:pPr algn="l">
              <a:lnSpc>
                <a:spcPts val="5030"/>
              </a:lnSpc>
            </a:pPr>
            <a:r>
              <a:rPr lang="en-US" sz="3398">
                <a:solidFill>
                  <a:srgbClr val="000000"/>
                </a:solidFill>
                <a:latin typeface="Canva Sans"/>
                <a:ea typeface="Canva Sans"/>
                <a:cs typeface="Canva Sans"/>
                <a:sym typeface="Canva Sans"/>
              </a:rPr>
              <a:t>Decision Trees are models that divide data into smaller subsets based on specific feature values to make predictions. At each node, the dataset is split according to the feature that best separates the data. This process continues until each subset is as homogeneous as possible, with the final leaves representing the model's predictions. </a:t>
            </a:r>
          </a:p>
        </p:txBody>
      </p:sp>
      <p:sp>
        <p:nvSpPr>
          <p:cNvPr name="TextBox 8" id="8"/>
          <p:cNvSpPr txBox="true"/>
          <p:nvPr/>
        </p:nvSpPr>
        <p:spPr>
          <a:xfrm rot="0">
            <a:off x="1903264" y="87485"/>
            <a:ext cx="14481472" cy="1551743"/>
          </a:xfrm>
          <a:prstGeom prst="rect">
            <a:avLst/>
          </a:prstGeom>
        </p:spPr>
        <p:txBody>
          <a:bodyPr anchor="t" rtlCol="false" tIns="0" lIns="0" bIns="0" rIns="0">
            <a:spAutoFit/>
          </a:bodyPr>
          <a:lstStyle/>
          <a:p>
            <a:pPr algn="ctr" marL="0" indent="0" lvl="0">
              <a:lnSpc>
                <a:spcPts val="12645"/>
              </a:lnSpc>
              <a:spcBef>
                <a:spcPct val="0"/>
              </a:spcBef>
            </a:pPr>
            <a:r>
              <a:rPr lang="en-US" sz="9032" u="sng">
                <a:solidFill>
                  <a:srgbClr val="0F4662"/>
                </a:solidFill>
                <a:latin typeface="Genty Sans"/>
                <a:ea typeface="Genty Sans"/>
                <a:cs typeface="Genty Sans"/>
                <a:sym typeface="Genty Sans"/>
              </a:rPr>
              <a:t>DECISION TREES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907687"/>
            <a:chOff x="0" y="0"/>
            <a:chExt cx="4816593" cy="502436"/>
          </a:xfrm>
        </p:grpSpPr>
        <p:sp>
          <p:nvSpPr>
            <p:cNvPr name="Freeform 3" id="3"/>
            <p:cNvSpPr/>
            <p:nvPr/>
          </p:nvSpPr>
          <p:spPr>
            <a:xfrm flipH="false" flipV="false" rot="0">
              <a:off x="0" y="0"/>
              <a:ext cx="4816592" cy="502436"/>
            </a:xfrm>
            <a:custGeom>
              <a:avLst/>
              <a:gdLst/>
              <a:ahLst/>
              <a:cxnLst/>
              <a:rect r="r" b="b" t="t" l="l"/>
              <a:pathLst>
                <a:path h="502436" w="4816592">
                  <a:moveTo>
                    <a:pt x="0" y="0"/>
                  </a:moveTo>
                  <a:lnTo>
                    <a:pt x="4816592" y="0"/>
                  </a:lnTo>
                  <a:lnTo>
                    <a:pt x="4816592" y="502436"/>
                  </a:lnTo>
                  <a:lnTo>
                    <a:pt x="0" y="502436"/>
                  </a:lnTo>
                  <a:close/>
                </a:path>
              </a:pathLst>
            </a:custGeom>
            <a:solidFill>
              <a:srgbClr val="DBE5EA"/>
            </a:solidFill>
          </p:spPr>
        </p:sp>
        <p:sp>
          <p:nvSpPr>
            <p:cNvPr name="TextBox 4" id="4"/>
            <p:cNvSpPr txBox="true"/>
            <p:nvPr/>
          </p:nvSpPr>
          <p:spPr>
            <a:xfrm>
              <a:off x="0" y="-47625"/>
              <a:ext cx="4816593" cy="550061"/>
            </a:xfrm>
            <a:prstGeom prst="rect">
              <a:avLst/>
            </a:prstGeom>
          </p:spPr>
          <p:txBody>
            <a:bodyPr anchor="ctr" rtlCol="false" tIns="50800" lIns="50800" bIns="50800" rIns="50800"/>
            <a:lstStyle/>
            <a:p>
              <a:pPr algn="ctr">
                <a:lnSpc>
                  <a:spcPts val="3693"/>
                </a:lnSpc>
              </a:pPr>
            </a:p>
          </p:txBody>
        </p:sp>
      </p:grpSp>
      <p:sp>
        <p:nvSpPr>
          <p:cNvPr name="Freeform 5" id="5"/>
          <p:cNvSpPr/>
          <p:nvPr/>
        </p:nvSpPr>
        <p:spPr>
          <a:xfrm flipH="false" flipV="false" rot="0">
            <a:off x="11126628" y="4989592"/>
            <a:ext cx="5077868" cy="5100336"/>
          </a:xfrm>
          <a:custGeom>
            <a:avLst/>
            <a:gdLst/>
            <a:ahLst/>
            <a:cxnLst/>
            <a:rect r="r" b="b" t="t" l="l"/>
            <a:pathLst>
              <a:path h="5100336" w="5077868">
                <a:moveTo>
                  <a:pt x="0" y="0"/>
                </a:moveTo>
                <a:lnTo>
                  <a:pt x="5077868" y="0"/>
                </a:lnTo>
                <a:lnTo>
                  <a:pt x="5077868" y="5100336"/>
                </a:lnTo>
                <a:lnTo>
                  <a:pt x="0" y="5100336"/>
                </a:lnTo>
                <a:lnTo>
                  <a:pt x="0" y="0"/>
                </a:lnTo>
                <a:close/>
              </a:path>
            </a:pathLst>
          </a:custGeom>
          <a:blipFill>
            <a:blip r:embed="rId2"/>
            <a:stretch>
              <a:fillRect l="0" t="0" r="0" b="0"/>
            </a:stretch>
          </a:blipFill>
        </p:spPr>
      </p:sp>
      <p:sp>
        <p:nvSpPr>
          <p:cNvPr name="TextBox 6" id="6"/>
          <p:cNvSpPr txBox="true"/>
          <p:nvPr/>
        </p:nvSpPr>
        <p:spPr>
          <a:xfrm rot="0">
            <a:off x="17259300" y="9220200"/>
            <a:ext cx="152400" cy="190500"/>
          </a:xfrm>
          <a:prstGeom prst="rect">
            <a:avLst/>
          </a:prstGeom>
        </p:spPr>
        <p:txBody>
          <a:bodyPr anchor="t" rtlCol="false" tIns="0" lIns="0" bIns="0" rIns="0" wrap="none">
            <a:spAutoFit/>
          </a:bodyPr>
          <a:lstStyle/>
          <a:p>
            <a:pPr algn="ctr">
              <a:lnSpc>
                <a:spcPts val="3359"/>
              </a:lnSpc>
              <a:spcBef>
                <a:spcPct val="0"/>
              </a:spcBef>
            </a:pPr>
            <a:r>
              <a:rPr lang="en-US" sz="2399">
                <a:solidFill>
                  <a:srgbClr val="0F4662"/>
                </a:solidFill>
                <a:latin typeface="Canva Sans"/>
                <a:ea typeface="Canva Sans"/>
                <a:cs typeface="Canva Sans"/>
                <a:sym typeface="Canva Sans"/>
              </a:rPr>
              <a:t>11</a:t>
            </a:r>
          </a:p>
        </p:txBody>
      </p:sp>
      <p:sp>
        <p:nvSpPr>
          <p:cNvPr name="TextBox 7" id="7"/>
          <p:cNvSpPr txBox="true"/>
          <p:nvPr/>
        </p:nvSpPr>
        <p:spPr>
          <a:xfrm rot="0">
            <a:off x="869627" y="87485"/>
            <a:ext cx="16548747" cy="1551743"/>
          </a:xfrm>
          <a:prstGeom prst="rect">
            <a:avLst/>
          </a:prstGeom>
        </p:spPr>
        <p:txBody>
          <a:bodyPr anchor="t" rtlCol="false" tIns="0" lIns="0" bIns="0" rIns="0">
            <a:spAutoFit/>
          </a:bodyPr>
          <a:lstStyle/>
          <a:p>
            <a:pPr algn="ctr" marL="0" indent="0" lvl="0">
              <a:lnSpc>
                <a:spcPts val="12645"/>
              </a:lnSpc>
              <a:spcBef>
                <a:spcPct val="0"/>
              </a:spcBef>
            </a:pPr>
            <a:r>
              <a:rPr lang="en-US" sz="9032" u="sng">
                <a:solidFill>
                  <a:srgbClr val="0F4662"/>
                </a:solidFill>
                <a:latin typeface="Genty Sans"/>
                <a:ea typeface="Genty Sans"/>
                <a:cs typeface="Genty Sans"/>
                <a:sym typeface="Genty Sans"/>
              </a:rPr>
              <a:t>HOW DECISION TREES WORK ?</a:t>
            </a:r>
          </a:p>
        </p:txBody>
      </p:sp>
      <p:sp>
        <p:nvSpPr>
          <p:cNvPr name="TextBox 8" id="8"/>
          <p:cNvSpPr txBox="true"/>
          <p:nvPr/>
        </p:nvSpPr>
        <p:spPr>
          <a:xfrm rot="0">
            <a:off x="351606" y="2346313"/>
            <a:ext cx="8174096" cy="6966585"/>
          </a:xfrm>
          <a:prstGeom prst="rect">
            <a:avLst/>
          </a:prstGeom>
        </p:spPr>
        <p:txBody>
          <a:bodyPr anchor="t" rtlCol="false" tIns="0" lIns="0" bIns="0" rIns="0">
            <a:spAutoFit/>
          </a:bodyPr>
          <a:lstStyle/>
          <a:p>
            <a:pPr algn="l" marL="431801" indent="-215900" lvl="1">
              <a:lnSpc>
                <a:spcPts val="3720"/>
              </a:lnSpc>
              <a:buFont typeface="Arial"/>
              <a:buChar char="•"/>
            </a:pPr>
            <a:r>
              <a:rPr lang="en-US" sz="2000">
                <a:solidFill>
                  <a:srgbClr val="000000"/>
                </a:solidFill>
                <a:latin typeface="Open Sans"/>
                <a:ea typeface="Open Sans"/>
                <a:cs typeface="Open Sans"/>
                <a:sym typeface="Open Sans"/>
              </a:rPr>
              <a:t>At first, the algorithm determines the best feature and threshold to split the dataset into subsets. This decision is based on a metric such as </a:t>
            </a:r>
            <a:r>
              <a:rPr lang="en-US" b="true" sz="2000">
                <a:solidFill>
                  <a:srgbClr val="000000"/>
                </a:solidFill>
                <a:latin typeface="Open Sans Bold"/>
                <a:ea typeface="Open Sans Bold"/>
                <a:cs typeface="Open Sans Bold"/>
                <a:sym typeface="Open Sans Bold"/>
              </a:rPr>
              <a:t>Information Gain, Gini Impurity and Entropy</a:t>
            </a:r>
            <a:r>
              <a:rPr lang="en-US" sz="2000">
                <a:solidFill>
                  <a:srgbClr val="000000"/>
                </a:solidFill>
                <a:latin typeface="Open Sans"/>
                <a:ea typeface="Open Sans"/>
                <a:cs typeface="Open Sans"/>
                <a:sym typeface="Open Sans"/>
              </a:rPr>
              <a:t>.</a:t>
            </a:r>
          </a:p>
          <a:p>
            <a:pPr algn="l" marL="431801" indent="-215900" lvl="1">
              <a:lnSpc>
                <a:spcPts val="3720"/>
              </a:lnSpc>
              <a:buFont typeface="Arial"/>
              <a:buChar char="•"/>
            </a:pPr>
            <a:r>
              <a:rPr lang="en-US" sz="2000">
                <a:solidFill>
                  <a:srgbClr val="000000"/>
                </a:solidFill>
                <a:latin typeface="Open Sans"/>
                <a:ea typeface="Open Sans"/>
                <a:cs typeface="Open Sans"/>
                <a:sym typeface="Open Sans"/>
              </a:rPr>
              <a:t>The algorithm calculates the metric for splits on a1, a2 and a3 at various thresholds (a1&lt;0.6 , a2&lt;0.8, ..). It selects the split that provides the most significant reduction in impurity (makes subsets more homogenous with respect to class labels).</a:t>
            </a:r>
          </a:p>
          <a:p>
            <a:pPr algn="l" marL="431801" indent="-215900" lvl="1">
              <a:lnSpc>
                <a:spcPts val="3720"/>
              </a:lnSpc>
              <a:buFont typeface="Arial"/>
              <a:buChar char="•"/>
            </a:pPr>
            <a:r>
              <a:rPr lang="en-US" sz="2000">
                <a:solidFill>
                  <a:srgbClr val="000000"/>
                </a:solidFill>
                <a:latin typeface="Open Sans"/>
                <a:ea typeface="Open Sans"/>
                <a:cs typeface="Open Sans"/>
                <a:sym typeface="Open Sans"/>
              </a:rPr>
              <a:t>For each subset, it repeats the feature selection process to find the best split for that subset.</a:t>
            </a:r>
          </a:p>
          <a:p>
            <a:pPr algn="l" marL="431801" indent="-215900" lvl="1">
              <a:lnSpc>
                <a:spcPts val="3720"/>
              </a:lnSpc>
              <a:buFont typeface="Arial"/>
              <a:buChar char="•"/>
            </a:pPr>
            <a:r>
              <a:rPr lang="en-US" sz="2000">
                <a:solidFill>
                  <a:srgbClr val="000000"/>
                </a:solidFill>
                <a:latin typeface="Open Sans"/>
                <a:ea typeface="Open Sans"/>
                <a:cs typeface="Open Sans"/>
                <a:sym typeface="Open Sans"/>
              </a:rPr>
              <a:t>Continue splitting the data until one of the stopping criteria is met:</a:t>
            </a:r>
          </a:p>
          <a:p>
            <a:pPr algn="l" marL="863601" indent="-287867" lvl="2">
              <a:lnSpc>
                <a:spcPts val="3720"/>
              </a:lnSpc>
              <a:buFont typeface="Arial"/>
              <a:buChar char="⚬"/>
            </a:pPr>
            <a:r>
              <a:rPr lang="en-US" sz="2000">
                <a:solidFill>
                  <a:srgbClr val="000000"/>
                </a:solidFill>
                <a:latin typeface="Open Sans"/>
                <a:ea typeface="Open Sans"/>
                <a:cs typeface="Open Sans"/>
                <a:sym typeface="Open Sans"/>
              </a:rPr>
              <a:t>Pure subsets: All data points in a subset belong to the same class.</a:t>
            </a:r>
          </a:p>
          <a:p>
            <a:pPr algn="l" marL="863601" indent="-287867" lvl="2">
              <a:lnSpc>
                <a:spcPts val="3720"/>
              </a:lnSpc>
              <a:buFont typeface="Arial"/>
              <a:buChar char="⚬"/>
            </a:pPr>
            <a:r>
              <a:rPr lang="en-US" sz="2000">
                <a:solidFill>
                  <a:srgbClr val="000000"/>
                </a:solidFill>
                <a:latin typeface="Open Sans"/>
                <a:ea typeface="Open Sans"/>
                <a:cs typeface="Open Sans"/>
                <a:sym typeface="Open Sans"/>
              </a:rPr>
              <a:t>Maximum tree depth: A predefined maximum depth of the tree is reached.</a:t>
            </a:r>
          </a:p>
        </p:txBody>
      </p:sp>
      <p:sp>
        <p:nvSpPr>
          <p:cNvPr name="Freeform 9" id="9"/>
          <p:cNvSpPr/>
          <p:nvPr/>
        </p:nvSpPr>
        <p:spPr>
          <a:xfrm flipH="false" flipV="false" rot="0">
            <a:off x="8655090" y="2038496"/>
            <a:ext cx="9392488" cy="2817746"/>
          </a:xfrm>
          <a:custGeom>
            <a:avLst/>
            <a:gdLst/>
            <a:ahLst/>
            <a:cxnLst/>
            <a:rect r="r" b="b" t="t" l="l"/>
            <a:pathLst>
              <a:path h="2817746" w="9392488">
                <a:moveTo>
                  <a:pt x="0" y="0"/>
                </a:moveTo>
                <a:lnTo>
                  <a:pt x="9392488" y="0"/>
                </a:lnTo>
                <a:lnTo>
                  <a:pt x="9392488" y="2817746"/>
                </a:lnTo>
                <a:lnTo>
                  <a:pt x="0" y="2817746"/>
                </a:lnTo>
                <a:lnTo>
                  <a:pt x="0" y="0"/>
                </a:lnTo>
                <a:close/>
              </a:path>
            </a:pathLst>
          </a:custGeom>
          <a:blipFill>
            <a:blip r:embed="rId3"/>
            <a:stretch>
              <a:fillRect l="0" t="0" r="0" b="0"/>
            </a:stretch>
          </a:blipFill>
        </p:spPr>
      </p:sp>
      <p:grpSp>
        <p:nvGrpSpPr>
          <p:cNvPr name="Group 10" id="10"/>
          <p:cNvGrpSpPr/>
          <p:nvPr/>
        </p:nvGrpSpPr>
        <p:grpSpPr>
          <a:xfrm rot="0">
            <a:off x="8843082" y="4234811"/>
            <a:ext cx="9051585" cy="459893"/>
            <a:chOff x="0" y="0"/>
            <a:chExt cx="2154701" cy="109476"/>
          </a:xfrm>
        </p:grpSpPr>
        <p:sp>
          <p:nvSpPr>
            <p:cNvPr name="Freeform 11" id="11"/>
            <p:cNvSpPr/>
            <p:nvPr/>
          </p:nvSpPr>
          <p:spPr>
            <a:xfrm flipH="false" flipV="false" rot="0">
              <a:off x="0" y="0"/>
              <a:ext cx="2154701" cy="109476"/>
            </a:xfrm>
            <a:custGeom>
              <a:avLst/>
              <a:gdLst/>
              <a:ahLst/>
              <a:cxnLst/>
              <a:rect r="r" b="b" t="t" l="l"/>
              <a:pathLst>
                <a:path h="109476" w="2154701">
                  <a:moveTo>
                    <a:pt x="0" y="0"/>
                  </a:moveTo>
                  <a:lnTo>
                    <a:pt x="2154701" y="0"/>
                  </a:lnTo>
                  <a:lnTo>
                    <a:pt x="2154701" y="109476"/>
                  </a:lnTo>
                  <a:lnTo>
                    <a:pt x="0" y="109476"/>
                  </a:lnTo>
                  <a:close/>
                </a:path>
              </a:pathLst>
            </a:custGeom>
            <a:solidFill>
              <a:srgbClr val="000000">
                <a:alpha val="0"/>
              </a:srgbClr>
            </a:solidFill>
            <a:ln w="38100" cap="sq">
              <a:solidFill>
                <a:srgbClr val="C03838"/>
              </a:solidFill>
              <a:prstDash val="solid"/>
              <a:miter/>
            </a:ln>
          </p:spPr>
        </p:sp>
        <p:sp>
          <p:nvSpPr>
            <p:cNvPr name="TextBox 12" id="12"/>
            <p:cNvSpPr txBox="true"/>
            <p:nvPr/>
          </p:nvSpPr>
          <p:spPr>
            <a:xfrm>
              <a:off x="0" y="-47625"/>
              <a:ext cx="2154701" cy="157101"/>
            </a:xfrm>
            <a:prstGeom prst="rect">
              <a:avLst/>
            </a:prstGeom>
          </p:spPr>
          <p:txBody>
            <a:bodyPr anchor="ctr" rtlCol="false" tIns="56205" lIns="56205" bIns="56205" rIns="56205"/>
            <a:lstStyle/>
            <a:p>
              <a:pPr algn="ctr">
                <a:lnSpc>
                  <a:spcPts val="3693"/>
                </a:lnSpc>
              </a:pPr>
            </a:p>
          </p:txBody>
        </p:sp>
      </p:grpSp>
      <p:grpSp>
        <p:nvGrpSpPr>
          <p:cNvPr name="Group 13" id="13"/>
          <p:cNvGrpSpPr/>
          <p:nvPr/>
        </p:nvGrpSpPr>
        <p:grpSpPr>
          <a:xfrm rot="0">
            <a:off x="8825542" y="2553372"/>
            <a:ext cx="9051585" cy="893998"/>
            <a:chOff x="0" y="0"/>
            <a:chExt cx="2154701" cy="212813"/>
          </a:xfrm>
        </p:grpSpPr>
        <p:sp>
          <p:nvSpPr>
            <p:cNvPr name="Freeform 14" id="14"/>
            <p:cNvSpPr/>
            <p:nvPr/>
          </p:nvSpPr>
          <p:spPr>
            <a:xfrm flipH="false" flipV="false" rot="0">
              <a:off x="0" y="0"/>
              <a:ext cx="2154701" cy="212813"/>
            </a:xfrm>
            <a:custGeom>
              <a:avLst/>
              <a:gdLst/>
              <a:ahLst/>
              <a:cxnLst/>
              <a:rect r="r" b="b" t="t" l="l"/>
              <a:pathLst>
                <a:path h="212813" w="2154701">
                  <a:moveTo>
                    <a:pt x="0" y="0"/>
                  </a:moveTo>
                  <a:lnTo>
                    <a:pt x="2154701" y="0"/>
                  </a:lnTo>
                  <a:lnTo>
                    <a:pt x="2154701" y="212813"/>
                  </a:lnTo>
                  <a:lnTo>
                    <a:pt x="0" y="212813"/>
                  </a:lnTo>
                  <a:close/>
                </a:path>
              </a:pathLst>
            </a:custGeom>
            <a:solidFill>
              <a:srgbClr val="000000">
                <a:alpha val="0"/>
              </a:srgbClr>
            </a:solidFill>
            <a:ln w="38100" cap="sq">
              <a:solidFill>
                <a:srgbClr val="C03838"/>
              </a:solidFill>
              <a:prstDash val="solid"/>
              <a:miter/>
            </a:ln>
          </p:spPr>
        </p:sp>
        <p:sp>
          <p:nvSpPr>
            <p:cNvPr name="TextBox 15" id="15"/>
            <p:cNvSpPr txBox="true"/>
            <p:nvPr/>
          </p:nvSpPr>
          <p:spPr>
            <a:xfrm>
              <a:off x="0" y="-47625"/>
              <a:ext cx="2154701" cy="260438"/>
            </a:xfrm>
            <a:prstGeom prst="rect">
              <a:avLst/>
            </a:prstGeom>
          </p:spPr>
          <p:txBody>
            <a:bodyPr anchor="ctr" rtlCol="false" tIns="56205" lIns="56205" bIns="56205" rIns="56205"/>
            <a:lstStyle/>
            <a:p>
              <a:pPr algn="ctr">
                <a:lnSpc>
                  <a:spcPts val="3693"/>
                </a:lnSpc>
              </a:pPr>
            </a:p>
          </p:txBody>
        </p:sp>
      </p:grpSp>
      <p:grpSp>
        <p:nvGrpSpPr>
          <p:cNvPr name="Group 16" id="16"/>
          <p:cNvGrpSpPr/>
          <p:nvPr/>
        </p:nvGrpSpPr>
        <p:grpSpPr>
          <a:xfrm rot="0">
            <a:off x="8825542" y="3447369"/>
            <a:ext cx="9051585" cy="787442"/>
            <a:chOff x="0" y="0"/>
            <a:chExt cx="2154701" cy="187448"/>
          </a:xfrm>
        </p:grpSpPr>
        <p:sp>
          <p:nvSpPr>
            <p:cNvPr name="Freeform 17" id="17"/>
            <p:cNvSpPr/>
            <p:nvPr/>
          </p:nvSpPr>
          <p:spPr>
            <a:xfrm flipH="false" flipV="false" rot="0">
              <a:off x="0" y="0"/>
              <a:ext cx="2154701" cy="187448"/>
            </a:xfrm>
            <a:custGeom>
              <a:avLst/>
              <a:gdLst/>
              <a:ahLst/>
              <a:cxnLst/>
              <a:rect r="r" b="b" t="t" l="l"/>
              <a:pathLst>
                <a:path h="187448" w="2154701">
                  <a:moveTo>
                    <a:pt x="0" y="0"/>
                  </a:moveTo>
                  <a:lnTo>
                    <a:pt x="2154701" y="0"/>
                  </a:lnTo>
                  <a:lnTo>
                    <a:pt x="2154701" y="187448"/>
                  </a:lnTo>
                  <a:lnTo>
                    <a:pt x="0" y="187448"/>
                  </a:lnTo>
                  <a:close/>
                </a:path>
              </a:pathLst>
            </a:custGeom>
            <a:solidFill>
              <a:srgbClr val="000000">
                <a:alpha val="0"/>
              </a:srgbClr>
            </a:solidFill>
            <a:ln w="38100" cap="sq">
              <a:solidFill>
                <a:srgbClr val="5D94CD"/>
              </a:solidFill>
              <a:prstDash val="solid"/>
              <a:miter/>
            </a:ln>
          </p:spPr>
        </p:sp>
        <p:sp>
          <p:nvSpPr>
            <p:cNvPr name="TextBox 18" id="18"/>
            <p:cNvSpPr txBox="true"/>
            <p:nvPr/>
          </p:nvSpPr>
          <p:spPr>
            <a:xfrm>
              <a:off x="0" y="-47625"/>
              <a:ext cx="2154701" cy="235073"/>
            </a:xfrm>
            <a:prstGeom prst="rect">
              <a:avLst/>
            </a:prstGeom>
          </p:spPr>
          <p:txBody>
            <a:bodyPr anchor="ctr" rtlCol="false" tIns="56205" lIns="56205" bIns="56205" rIns="56205"/>
            <a:lstStyle/>
            <a:p>
              <a:pPr algn="ctr">
                <a:lnSpc>
                  <a:spcPts val="3693"/>
                </a:lnSpc>
              </a:pP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13720300" y="5930458"/>
            <a:ext cx="3079775" cy="3079775"/>
          </a:xfrm>
          <a:custGeom>
            <a:avLst/>
            <a:gdLst/>
            <a:ahLst/>
            <a:cxnLst/>
            <a:rect r="r" b="b" t="t" l="l"/>
            <a:pathLst>
              <a:path h="3079775" w="3079775">
                <a:moveTo>
                  <a:pt x="0" y="0"/>
                </a:moveTo>
                <a:lnTo>
                  <a:pt x="3079775" y="0"/>
                </a:lnTo>
                <a:lnTo>
                  <a:pt x="3079775" y="3079774"/>
                </a:lnTo>
                <a:lnTo>
                  <a:pt x="0" y="3079774"/>
                </a:lnTo>
                <a:lnTo>
                  <a:pt x="0" y="0"/>
                </a:lnTo>
                <a:close/>
              </a:path>
            </a:pathLst>
          </a:custGeom>
          <a:blipFill>
            <a:blip r:embed="rId2"/>
            <a:stretch>
              <a:fillRect l="0" t="0" r="0" b="0"/>
            </a:stretch>
          </a:blipFill>
        </p:spPr>
      </p:sp>
      <p:sp>
        <p:nvSpPr>
          <p:cNvPr name="TextBox 3" id="3"/>
          <p:cNvSpPr txBox="true"/>
          <p:nvPr/>
        </p:nvSpPr>
        <p:spPr>
          <a:xfrm rot="0">
            <a:off x="1028700" y="3224828"/>
            <a:ext cx="14743616" cy="2163603"/>
          </a:xfrm>
          <a:prstGeom prst="rect">
            <a:avLst/>
          </a:prstGeom>
        </p:spPr>
        <p:txBody>
          <a:bodyPr anchor="t" rtlCol="false" tIns="0" lIns="0" bIns="0" rIns="0">
            <a:spAutoFit/>
          </a:bodyPr>
          <a:lstStyle/>
          <a:p>
            <a:pPr algn="l" marL="0" indent="0" lvl="0">
              <a:lnSpc>
                <a:spcPts val="17648"/>
              </a:lnSpc>
              <a:spcBef>
                <a:spcPct val="0"/>
              </a:spcBef>
            </a:pPr>
            <a:r>
              <a:rPr lang="en-US" sz="12605">
                <a:solidFill>
                  <a:srgbClr val="0F4662"/>
                </a:solidFill>
                <a:latin typeface="Genty Sans"/>
                <a:ea typeface="Genty Sans"/>
                <a:cs typeface="Genty Sans"/>
                <a:sym typeface="Genty Sans"/>
              </a:rPr>
              <a:t>3. DATA OVERVIEW</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907687"/>
            <a:chOff x="0" y="0"/>
            <a:chExt cx="4816593" cy="502436"/>
          </a:xfrm>
        </p:grpSpPr>
        <p:sp>
          <p:nvSpPr>
            <p:cNvPr name="Freeform 3" id="3"/>
            <p:cNvSpPr/>
            <p:nvPr/>
          </p:nvSpPr>
          <p:spPr>
            <a:xfrm flipH="false" flipV="false" rot="0">
              <a:off x="0" y="0"/>
              <a:ext cx="4816592" cy="502436"/>
            </a:xfrm>
            <a:custGeom>
              <a:avLst/>
              <a:gdLst/>
              <a:ahLst/>
              <a:cxnLst/>
              <a:rect r="r" b="b" t="t" l="l"/>
              <a:pathLst>
                <a:path h="502436" w="4816592">
                  <a:moveTo>
                    <a:pt x="0" y="0"/>
                  </a:moveTo>
                  <a:lnTo>
                    <a:pt x="4816592" y="0"/>
                  </a:lnTo>
                  <a:lnTo>
                    <a:pt x="4816592" y="502436"/>
                  </a:lnTo>
                  <a:lnTo>
                    <a:pt x="0" y="502436"/>
                  </a:lnTo>
                  <a:close/>
                </a:path>
              </a:pathLst>
            </a:custGeom>
            <a:solidFill>
              <a:srgbClr val="DBE5EA"/>
            </a:solidFill>
          </p:spPr>
        </p:sp>
        <p:sp>
          <p:nvSpPr>
            <p:cNvPr name="TextBox 4" id="4"/>
            <p:cNvSpPr txBox="true"/>
            <p:nvPr/>
          </p:nvSpPr>
          <p:spPr>
            <a:xfrm>
              <a:off x="0" y="-47625"/>
              <a:ext cx="4816593" cy="550061"/>
            </a:xfrm>
            <a:prstGeom prst="rect">
              <a:avLst/>
            </a:prstGeom>
          </p:spPr>
          <p:txBody>
            <a:bodyPr anchor="ctr" rtlCol="false" tIns="50800" lIns="50800" bIns="50800" rIns="50800"/>
            <a:lstStyle/>
            <a:p>
              <a:pPr algn="ctr">
                <a:lnSpc>
                  <a:spcPts val="3693"/>
                </a:lnSpc>
              </a:pPr>
            </a:p>
          </p:txBody>
        </p:sp>
      </p:grpSp>
      <p:grpSp>
        <p:nvGrpSpPr>
          <p:cNvPr name="Group 5" id="5"/>
          <p:cNvGrpSpPr/>
          <p:nvPr/>
        </p:nvGrpSpPr>
        <p:grpSpPr>
          <a:xfrm rot="0">
            <a:off x="-1864672" y="5342845"/>
            <a:ext cx="20152672" cy="3668000"/>
            <a:chOff x="0" y="0"/>
            <a:chExt cx="26870229" cy="4890667"/>
          </a:xfrm>
        </p:grpSpPr>
        <p:sp>
          <p:nvSpPr>
            <p:cNvPr name="Freeform 6" id="6"/>
            <p:cNvSpPr/>
            <p:nvPr/>
          </p:nvSpPr>
          <p:spPr>
            <a:xfrm flipH="false" flipV="false" rot="0">
              <a:off x="0" y="0"/>
              <a:ext cx="22233691" cy="4890667"/>
            </a:xfrm>
            <a:custGeom>
              <a:avLst/>
              <a:gdLst/>
              <a:ahLst/>
              <a:cxnLst/>
              <a:rect r="r" b="b" t="t" l="l"/>
              <a:pathLst>
                <a:path h="4890667" w="22233691">
                  <a:moveTo>
                    <a:pt x="0" y="0"/>
                  </a:moveTo>
                  <a:lnTo>
                    <a:pt x="22233691" y="0"/>
                  </a:lnTo>
                  <a:lnTo>
                    <a:pt x="22233691" y="4890667"/>
                  </a:lnTo>
                  <a:lnTo>
                    <a:pt x="0" y="4890667"/>
                  </a:lnTo>
                  <a:lnTo>
                    <a:pt x="0" y="0"/>
                  </a:lnTo>
                  <a:close/>
                </a:path>
              </a:pathLst>
            </a:custGeom>
            <a:blipFill>
              <a:blip r:embed="rId2"/>
              <a:stretch>
                <a:fillRect l="0" t="-3985" r="0" b="-3985"/>
              </a:stretch>
            </a:blipFill>
          </p:spPr>
        </p:sp>
        <p:sp>
          <p:nvSpPr>
            <p:cNvPr name="Freeform 7" id="7"/>
            <p:cNvSpPr/>
            <p:nvPr/>
          </p:nvSpPr>
          <p:spPr>
            <a:xfrm flipH="false" flipV="false" rot="0">
              <a:off x="22233691" y="0"/>
              <a:ext cx="4636538" cy="4890667"/>
            </a:xfrm>
            <a:custGeom>
              <a:avLst/>
              <a:gdLst/>
              <a:ahLst/>
              <a:cxnLst/>
              <a:rect r="r" b="b" t="t" l="l"/>
              <a:pathLst>
                <a:path h="4890667" w="4636538">
                  <a:moveTo>
                    <a:pt x="0" y="0"/>
                  </a:moveTo>
                  <a:lnTo>
                    <a:pt x="4636538" y="0"/>
                  </a:lnTo>
                  <a:lnTo>
                    <a:pt x="4636538" y="4890667"/>
                  </a:lnTo>
                  <a:lnTo>
                    <a:pt x="0" y="4890667"/>
                  </a:lnTo>
                  <a:lnTo>
                    <a:pt x="0" y="0"/>
                  </a:lnTo>
                  <a:close/>
                </a:path>
              </a:pathLst>
            </a:custGeom>
            <a:blipFill>
              <a:blip r:embed="rId3"/>
              <a:stretch>
                <a:fillRect l="0" t="-3985" r="0" b="-3985"/>
              </a:stretch>
            </a:blipFill>
          </p:spPr>
        </p:sp>
      </p:grpSp>
      <p:sp>
        <p:nvSpPr>
          <p:cNvPr name="Freeform 8" id="8"/>
          <p:cNvSpPr/>
          <p:nvPr/>
        </p:nvSpPr>
        <p:spPr>
          <a:xfrm flipH="false" flipV="false" rot="0">
            <a:off x="2933396" y="2396020"/>
            <a:ext cx="12519721" cy="2458493"/>
          </a:xfrm>
          <a:custGeom>
            <a:avLst/>
            <a:gdLst/>
            <a:ahLst/>
            <a:cxnLst/>
            <a:rect r="r" b="b" t="t" l="l"/>
            <a:pathLst>
              <a:path h="2458493" w="12519721">
                <a:moveTo>
                  <a:pt x="0" y="0"/>
                </a:moveTo>
                <a:lnTo>
                  <a:pt x="12519720" y="0"/>
                </a:lnTo>
                <a:lnTo>
                  <a:pt x="12519720" y="2458493"/>
                </a:lnTo>
                <a:lnTo>
                  <a:pt x="0" y="2458493"/>
                </a:lnTo>
                <a:lnTo>
                  <a:pt x="0" y="0"/>
                </a:lnTo>
                <a:close/>
              </a:path>
            </a:pathLst>
          </a:custGeom>
          <a:blipFill>
            <a:blip r:embed="rId4"/>
            <a:stretch>
              <a:fillRect l="0" t="0" r="0" b="0"/>
            </a:stretch>
          </a:blipFill>
        </p:spPr>
      </p:sp>
      <p:sp>
        <p:nvSpPr>
          <p:cNvPr name="TextBox 9" id="9"/>
          <p:cNvSpPr txBox="true"/>
          <p:nvPr/>
        </p:nvSpPr>
        <p:spPr>
          <a:xfrm rot="0">
            <a:off x="17259300" y="9562452"/>
            <a:ext cx="152400" cy="190500"/>
          </a:xfrm>
          <a:prstGeom prst="rect">
            <a:avLst/>
          </a:prstGeom>
        </p:spPr>
        <p:txBody>
          <a:bodyPr anchor="t" rtlCol="false" tIns="0" lIns="0" bIns="0" rIns="0" wrap="none">
            <a:spAutoFit/>
          </a:bodyPr>
          <a:lstStyle/>
          <a:p>
            <a:pPr algn="ctr">
              <a:lnSpc>
                <a:spcPts val="3359"/>
              </a:lnSpc>
              <a:spcBef>
                <a:spcPct val="0"/>
              </a:spcBef>
            </a:pPr>
            <a:r>
              <a:rPr lang="en-US" sz="2399">
                <a:solidFill>
                  <a:srgbClr val="0F4662"/>
                </a:solidFill>
                <a:latin typeface="Canva Sans"/>
                <a:ea typeface="Canva Sans"/>
                <a:cs typeface="Canva Sans"/>
                <a:sym typeface="Canva Sans"/>
              </a:rPr>
              <a:t>13</a:t>
            </a:r>
          </a:p>
        </p:txBody>
      </p:sp>
      <p:sp>
        <p:nvSpPr>
          <p:cNvPr name="TextBox 10" id="10"/>
          <p:cNvSpPr txBox="true"/>
          <p:nvPr/>
        </p:nvSpPr>
        <p:spPr>
          <a:xfrm rot="0">
            <a:off x="2834884" y="193850"/>
            <a:ext cx="12618233" cy="1367586"/>
          </a:xfrm>
          <a:prstGeom prst="rect">
            <a:avLst/>
          </a:prstGeom>
        </p:spPr>
        <p:txBody>
          <a:bodyPr anchor="t" rtlCol="false" tIns="0" lIns="0" bIns="0" rIns="0">
            <a:spAutoFit/>
          </a:bodyPr>
          <a:lstStyle/>
          <a:p>
            <a:pPr algn="l" marL="0" indent="0" lvl="0">
              <a:lnSpc>
                <a:spcPts val="11246"/>
              </a:lnSpc>
              <a:spcBef>
                <a:spcPct val="0"/>
              </a:spcBef>
            </a:pPr>
            <a:r>
              <a:rPr lang="en-US" sz="8033" u="sng">
                <a:solidFill>
                  <a:srgbClr val="0F4662"/>
                </a:solidFill>
                <a:latin typeface="Genty Sans"/>
                <a:ea typeface="Genty Sans"/>
                <a:cs typeface="Genty Sans"/>
                <a:sym typeface="Genty Sans"/>
              </a:rPr>
              <a:t>EXPLORING THE DATASET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3223818" y="2311097"/>
            <a:ext cx="11840365" cy="1868528"/>
          </a:xfrm>
          <a:custGeom>
            <a:avLst/>
            <a:gdLst/>
            <a:ahLst/>
            <a:cxnLst/>
            <a:rect r="r" b="b" t="t" l="l"/>
            <a:pathLst>
              <a:path h="1868528" w="11840365">
                <a:moveTo>
                  <a:pt x="0" y="0"/>
                </a:moveTo>
                <a:lnTo>
                  <a:pt x="11840364" y="0"/>
                </a:lnTo>
                <a:lnTo>
                  <a:pt x="11840364" y="1868527"/>
                </a:lnTo>
                <a:lnTo>
                  <a:pt x="0" y="1868527"/>
                </a:lnTo>
                <a:lnTo>
                  <a:pt x="0" y="0"/>
                </a:lnTo>
                <a:close/>
              </a:path>
            </a:pathLst>
          </a:custGeom>
          <a:blipFill>
            <a:blip r:embed="rId2"/>
            <a:stretch>
              <a:fillRect l="0" t="0" r="0" b="0"/>
            </a:stretch>
          </a:blipFill>
        </p:spPr>
      </p:sp>
      <p:sp>
        <p:nvSpPr>
          <p:cNvPr name="TextBox 3" id="3"/>
          <p:cNvSpPr txBox="true"/>
          <p:nvPr/>
        </p:nvSpPr>
        <p:spPr>
          <a:xfrm rot="0">
            <a:off x="965749" y="4804723"/>
            <a:ext cx="16293551" cy="4346576"/>
          </a:xfrm>
          <a:prstGeom prst="rect">
            <a:avLst/>
          </a:prstGeom>
        </p:spPr>
        <p:txBody>
          <a:bodyPr anchor="t" rtlCol="false" tIns="0" lIns="0" bIns="0" rIns="0">
            <a:spAutoFit/>
          </a:bodyPr>
          <a:lstStyle/>
          <a:p>
            <a:pPr algn="l">
              <a:lnSpc>
                <a:spcPts val="5779"/>
              </a:lnSpc>
              <a:spcBef>
                <a:spcPct val="0"/>
              </a:spcBef>
            </a:pPr>
            <a:r>
              <a:rPr lang="en-US" sz="3399">
                <a:solidFill>
                  <a:srgbClr val="000000"/>
                </a:solidFill>
                <a:latin typeface="Open Sans"/>
                <a:ea typeface="Open Sans"/>
                <a:cs typeface="Open Sans"/>
                <a:sym typeface="Open Sans"/>
              </a:rPr>
              <a:t>The operational status of the startup could be :</a:t>
            </a:r>
          </a:p>
          <a:p>
            <a:pPr algn="l" marL="734058" indent="-367029" lvl="1">
              <a:lnSpc>
                <a:spcPts val="5779"/>
              </a:lnSpc>
              <a:spcBef>
                <a:spcPct val="0"/>
              </a:spcBef>
              <a:buFont typeface="Arial"/>
              <a:buChar char="•"/>
            </a:pPr>
            <a:r>
              <a:rPr lang="en-US" b="true" sz="3399">
                <a:solidFill>
                  <a:srgbClr val="000000"/>
                </a:solidFill>
                <a:latin typeface="Open Sans Bold"/>
                <a:ea typeface="Open Sans Bold"/>
                <a:cs typeface="Open Sans Bold"/>
                <a:sym typeface="Open Sans Bold"/>
              </a:rPr>
              <a:t>Operating :</a:t>
            </a:r>
            <a:r>
              <a:rPr lang="en-US" sz="3399">
                <a:solidFill>
                  <a:srgbClr val="000000"/>
                </a:solidFill>
                <a:latin typeface="Open Sans"/>
                <a:ea typeface="Open Sans"/>
                <a:cs typeface="Open Sans"/>
                <a:sym typeface="Open Sans"/>
              </a:rPr>
              <a:t> The startup is still running and actively conducting business. </a:t>
            </a:r>
          </a:p>
          <a:p>
            <a:pPr algn="l" marL="734058" indent="-367029" lvl="1">
              <a:lnSpc>
                <a:spcPts val="5779"/>
              </a:lnSpc>
              <a:spcBef>
                <a:spcPct val="0"/>
              </a:spcBef>
              <a:buFont typeface="Arial"/>
              <a:buChar char="•"/>
            </a:pPr>
            <a:r>
              <a:rPr lang="en-US" b="true" sz="3399">
                <a:solidFill>
                  <a:srgbClr val="000000"/>
                </a:solidFill>
                <a:latin typeface="Open Sans Bold"/>
                <a:ea typeface="Open Sans Bold"/>
                <a:cs typeface="Open Sans Bold"/>
                <a:sym typeface="Open Sans Bold"/>
              </a:rPr>
              <a:t>Acquired : </a:t>
            </a:r>
            <a:r>
              <a:rPr lang="en-US" sz="3399">
                <a:solidFill>
                  <a:srgbClr val="000000"/>
                </a:solidFill>
                <a:latin typeface="Open Sans"/>
                <a:ea typeface="Open Sans"/>
                <a:cs typeface="Open Sans"/>
                <a:sym typeface="Open Sans"/>
              </a:rPr>
              <a:t>The startup has been bought by another company.</a:t>
            </a:r>
          </a:p>
          <a:p>
            <a:pPr algn="l" marL="734058" indent="-367029" lvl="1">
              <a:lnSpc>
                <a:spcPts val="5779"/>
              </a:lnSpc>
              <a:spcBef>
                <a:spcPct val="0"/>
              </a:spcBef>
              <a:buFont typeface="Arial"/>
              <a:buChar char="•"/>
            </a:pPr>
            <a:r>
              <a:rPr lang="en-US" b="true" sz="3399">
                <a:solidFill>
                  <a:srgbClr val="000000"/>
                </a:solidFill>
                <a:latin typeface="Open Sans Bold"/>
                <a:ea typeface="Open Sans Bold"/>
                <a:cs typeface="Open Sans Bold"/>
                <a:sym typeface="Open Sans Bold"/>
              </a:rPr>
              <a:t>IPO (Initial Public Offering) :</a:t>
            </a:r>
            <a:r>
              <a:rPr lang="en-US" sz="3399">
                <a:solidFill>
                  <a:srgbClr val="000000"/>
                </a:solidFill>
                <a:latin typeface="Open Sans"/>
                <a:ea typeface="Open Sans"/>
                <a:cs typeface="Open Sans"/>
                <a:sym typeface="Open Sans"/>
              </a:rPr>
              <a:t> The startup has gone public, allowing its shares to be traded on a stock exchange.</a:t>
            </a:r>
          </a:p>
          <a:p>
            <a:pPr algn="l" marL="734058" indent="-367029" lvl="1">
              <a:lnSpc>
                <a:spcPts val="5779"/>
              </a:lnSpc>
              <a:buFont typeface="Arial"/>
              <a:buChar char="•"/>
            </a:pPr>
            <a:r>
              <a:rPr lang="en-US" b="true" sz="3399">
                <a:solidFill>
                  <a:srgbClr val="000000"/>
                </a:solidFill>
                <a:latin typeface="Open Sans Bold"/>
                <a:ea typeface="Open Sans Bold"/>
                <a:cs typeface="Open Sans Bold"/>
                <a:sym typeface="Open Sans Bold"/>
              </a:rPr>
              <a:t>Closed :</a:t>
            </a:r>
            <a:r>
              <a:rPr lang="en-US" sz="3399">
                <a:solidFill>
                  <a:srgbClr val="000000"/>
                </a:solidFill>
                <a:latin typeface="Open Sans"/>
                <a:ea typeface="Open Sans"/>
                <a:cs typeface="Open Sans"/>
                <a:sym typeface="Open Sans"/>
              </a:rPr>
              <a:t> The startup has ceased operations.</a:t>
            </a:r>
          </a:p>
        </p:txBody>
      </p:sp>
      <p:sp>
        <p:nvSpPr>
          <p:cNvPr name="TextBox 4" id="4"/>
          <p:cNvSpPr txBox="true"/>
          <p:nvPr/>
        </p:nvSpPr>
        <p:spPr>
          <a:xfrm rot="0">
            <a:off x="17259300" y="9220200"/>
            <a:ext cx="152400" cy="190500"/>
          </a:xfrm>
          <a:prstGeom prst="rect">
            <a:avLst/>
          </a:prstGeom>
        </p:spPr>
        <p:txBody>
          <a:bodyPr anchor="t" rtlCol="false" tIns="0" lIns="0" bIns="0" rIns="0" wrap="none">
            <a:spAutoFit/>
          </a:bodyPr>
          <a:lstStyle/>
          <a:p>
            <a:pPr algn="ctr">
              <a:lnSpc>
                <a:spcPts val="3359"/>
              </a:lnSpc>
              <a:spcBef>
                <a:spcPct val="0"/>
              </a:spcBef>
            </a:pPr>
            <a:r>
              <a:rPr lang="en-US" sz="2399">
                <a:solidFill>
                  <a:srgbClr val="0F4662"/>
                </a:solidFill>
                <a:latin typeface="Canva Sans"/>
                <a:ea typeface="Canva Sans"/>
                <a:cs typeface="Canva Sans"/>
                <a:sym typeface="Canva Sans"/>
              </a:rPr>
              <a:t>14</a:t>
            </a:r>
          </a:p>
        </p:txBody>
      </p:sp>
      <p:grpSp>
        <p:nvGrpSpPr>
          <p:cNvPr name="Group 5" id="5"/>
          <p:cNvGrpSpPr/>
          <p:nvPr/>
        </p:nvGrpSpPr>
        <p:grpSpPr>
          <a:xfrm rot="0">
            <a:off x="0" y="0"/>
            <a:ext cx="18288000" cy="1907687"/>
            <a:chOff x="0" y="0"/>
            <a:chExt cx="4816593" cy="502436"/>
          </a:xfrm>
        </p:grpSpPr>
        <p:sp>
          <p:nvSpPr>
            <p:cNvPr name="Freeform 6" id="6"/>
            <p:cNvSpPr/>
            <p:nvPr/>
          </p:nvSpPr>
          <p:spPr>
            <a:xfrm flipH="false" flipV="false" rot="0">
              <a:off x="0" y="0"/>
              <a:ext cx="4816592" cy="502436"/>
            </a:xfrm>
            <a:custGeom>
              <a:avLst/>
              <a:gdLst/>
              <a:ahLst/>
              <a:cxnLst/>
              <a:rect r="r" b="b" t="t" l="l"/>
              <a:pathLst>
                <a:path h="502436" w="4816592">
                  <a:moveTo>
                    <a:pt x="0" y="0"/>
                  </a:moveTo>
                  <a:lnTo>
                    <a:pt x="4816592" y="0"/>
                  </a:lnTo>
                  <a:lnTo>
                    <a:pt x="4816592" y="502436"/>
                  </a:lnTo>
                  <a:lnTo>
                    <a:pt x="0" y="502436"/>
                  </a:lnTo>
                  <a:close/>
                </a:path>
              </a:pathLst>
            </a:custGeom>
            <a:solidFill>
              <a:srgbClr val="DBE5EA"/>
            </a:solidFill>
          </p:spPr>
        </p:sp>
        <p:sp>
          <p:nvSpPr>
            <p:cNvPr name="TextBox 7" id="7"/>
            <p:cNvSpPr txBox="true"/>
            <p:nvPr/>
          </p:nvSpPr>
          <p:spPr>
            <a:xfrm>
              <a:off x="0" y="-47625"/>
              <a:ext cx="4816593" cy="550061"/>
            </a:xfrm>
            <a:prstGeom prst="rect">
              <a:avLst/>
            </a:prstGeom>
          </p:spPr>
          <p:txBody>
            <a:bodyPr anchor="ctr" rtlCol="false" tIns="50800" lIns="50800" bIns="50800" rIns="50800"/>
            <a:lstStyle/>
            <a:p>
              <a:pPr algn="ctr">
                <a:lnSpc>
                  <a:spcPts val="3693"/>
                </a:lnSpc>
              </a:pPr>
            </a:p>
          </p:txBody>
        </p:sp>
      </p:grpSp>
      <p:sp>
        <p:nvSpPr>
          <p:cNvPr name="TextBox 8" id="8"/>
          <p:cNvSpPr txBox="true"/>
          <p:nvPr/>
        </p:nvSpPr>
        <p:spPr>
          <a:xfrm rot="0">
            <a:off x="2834884" y="193850"/>
            <a:ext cx="12618233" cy="1367586"/>
          </a:xfrm>
          <a:prstGeom prst="rect">
            <a:avLst/>
          </a:prstGeom>
        </p:spPr>
        <p:txBody>
          <a:bodyPr anchor="t" rtlCol="false" tIns="0" lIns="0" bIns="0" rIns="0">
            <a:spAutoFit/>
          </a:bodyPr>
          <a:lstStyle/>
          <a:p>
            <a:pPr algn="l" marL="0" indent="0" lvl="0">
              <a:lnSpc>
                <a:spcPts val="11246"/>
              </a:lnSpc>
              <a:spcBef>
                <a:spcPct val="0"/>
              </a:spcBef>
            </a:pPr>
            <a:r>
              <a:rPr lang="en-US" sz="8033" u="sng">
                <a:solidFill>
                  <a:srgbClr val="0F4662"/>
                </a:solidFill>
                <a:latin typeface="Genty Sans"/>
                <a:ea typeface="Genty Sans"/>
                <a:cs typeface="Genty Sans"/>
                <a:sym typeface="Genty Sans"/>
              </a:rPr>
              <a:t>EXPLORING THE DATASET</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7732597" y="2317096"/>
            <a:ext cx="2822806" cy="7151204"/>
            <a:chOff x="0" y="0"/>
            <a:chExt cx="3763741" cy="9534939"/>
          </a:xfrm>
        </p:grpSpPr>
        <p:sp>
          <p:nvSpPr>
            <p:cNvPr name="Freeform 3" id="3"/>
            <p:cNvSpPr/>
            <p:nvPr/>
          </p:nvSpPr>
          <p:spPr>
            <a:xfrm flipH="false" flipV="false" rot="0">
              <a:off x="0" y="0"/>
              <a:ext cx="3763741" cy="9534939"/>
            </a:xfrm>
            <a:custGeom>
              <a:avLst/>
              <a:gdLst/>
              <a:ahLst/>
              <a:cxnLst/>
              <a:rect r="r" b="b" t="t" l="l"/>
              <a:pathLst>
                <a:path h="9534939" w="3763741">
                  <a:moveTo>
                    <a:pt x="0" y="0"/>
                  </a:moveTo>
                  <a:lnTo>
                    <a:pt x="3763741" y="0"/>
                  </a:lnTo>
                  <a:lnTo>
                    <a:pt x="3763741" y="9534939"/>
                  </a:lnTo>
                  <a:lnTo>
                    <a:pt x="0" y="9534939"/>
                  </a:lnTo>
                  <a:lnTo>
                    <a:pt x="0" y="0"/>
                  </a:lnTo>
                  <a:close/>
                </a:path>
              </a:pathLst>
            </a:custGeom>
            <a:blipFill>
              <a:blip r:embed="rId3"/>
              <a:stretch>
                <a:fillRect l="-701" t="0" r="-34488" b="0"/>
              </a:stretch>
            </a:blipFill>
          </p:spPr>
        </p:sp>
        <p:grpSp>
          <p:nvGrpSpPr>
            <p:cNvPr name="Group 4" id="4"/>
            <p:cNvGrpSpPr/>
            <p:nvPr/>
          </p:nvGrpSpPr>
          <p:grpSpPr>
            <a:xfrm rot="0">
              <a:off x="0" y="3031674"/>
              <a:ext cx="3286527" cy="561309"/>
              <a:chOff x="0" y="0"/>
              <a:chExt cx="649190" cy="110876"/>
            </a:xfrm>
          </p:grpSpPr>
          <p:sp>
            <p:nvSpPr>
              <p:cNvPr name="Freeform 5" id="5"/>
              <p:cNvSpPr/>
              <p:nvPr/>
            </p:nvSpPr>
            <p:spPr>
              <a:xfrm flipH="false" flipV="false" rot="0">
                <a:off x="0" y="0"/>
                <a:ext cx="649190" cy="110876"/>
              </a:xfrm>
              <a:custGeom>
                <a:avLst/>
                <a:gdLst/>
                <a:ahLst/>
                <a:cxnLst/>
                <a:rect r="r" b="b" t="t" l="l"/>
                <a:pathLst>
                  <a:path h="110876" w="649190">
                    <a:moveTo>
                      <a:pt x="0" y="0"/>
                    </a:moveTo>
                    <a:lnTo>
                      <a:pt x="649190" y="0"/>
                    </a:lnTo>
                    <a:lnTo>
                      <a:pt x="649190" y="110876"/>
                    </a:lnTo>
                    <a:lnTo>
                      <a:pt x="0" y="110876"/>
                    </a:lnTo>
                    <a:close/>
                  </a:path>
                </a:pathLst>
              </a:custGeom>
              <a:solidFill>
                <a:srgbClr val="000000">
                  <a:alpha val="0"/>
                </a:srgbClr>
              </a:solidFill>
              <a:ln w="38100" cap="sq">
                <a:solidFill>
                  <a:srgbClr val="ED5B2D"/>
                </a:solidFill>
                <a:prstDash val="solid"/>
                <a:miter/>
              </a:ln>
            </p:spPr>
          </p:sp>
          <p:sp>
            <p:nvSpPr>
              <p:cNvPr name="TextBox 6" id="6"/>
              <p:cNvSpPr txBox="true"/>
              <p:nvPr/>
            </p:nvSpPr>
            <p:spPr>
              <a:xfrm>
                <a:off x="0" y="-47625"/>
                <a:ext cx="649190" cy="158501"/>
              </a:xfrm>
              <a:prstGeom prst="rect">
                <a:avLst/>
              </a:prstGeom>
            </p:spPr>
            <p:txBody>
              <a:bodyPr anchor="ctr" rtlCol="false" tIns="50800" lIns="50800" bIns="50800" rIns="50800"/>
              <a:lstStyle/>
              <a:p>
                <a:pPr algn="ctr">
                  <a:lnSpc>
                    <a:spcPts val="3693"/>
                  </a:lnSpc>
                </a:pPr>
              </a:p>
            </p:txBody>
          </p:sp>
        </p:grpSp>
        <p:grpSp>
          <p:nvGrpSpPr>
            <p:cNvPr name="Group 7" id="7"/>
            <p:cNvGrpSpPr/>
            <p:nvPr/>
          </p:nvGrpSpPr>
          <p:grpSpPr>
            <a:xfrm rot="0">
              <a:off x="0" y="7565004"/>
              <a:ext cx="3286527" cy="561309"/>
              <a:chOff x="0" y="0"/>
              <a:chExt cx="649190" cy="110876"/>
            </a:xfrm>
          </p:grpSpPr>
          <p:sp>
            <p:nvSpPr>
              <p:cNvPr name="Freeform 8" id="8"/>
              <p:cNvSpPr/>
              <p:nvPr/>
            </p:nvSpPr>
            <p:spPr>
              <a:xfrm flipH="false" flipV="false" rot="0">
                <a:off x="0" y="0"/>
                <a:ext cx="649190" cy="110876"/>
              </a:xfrm>
              <a:custGeom>
                <a:avLst/>
                <a:gdLst/>
                <a:ahLst/>
                <a:cxnLst/>
                <a:rect r="r" b="b" t="t" l="l"/>
                <a:pathLst>
                  <a:path h="110876" w="649190">
                    <a:moveTo>
                      <a:pt x="0" y="0"/>
                    </a:moveTo>
                    <a:lnTo>
                      <a:pt x="649190" y="0"/>
                    </a:lnTo>
                    <a:lnTo>
                      <a:pt x="649190" y="110876"/>
                    </a:lnTo>
                    <a:lnTo>
                      <a:pt x="0" y="110876"/>
                    </a:lnTo>
                    <a:close/>
                  </a:path>
                </a:pathLst>
              </a:custGeom>
              <a:solidFill>
                <a:srgbClr val="000000">
                  <a:alpha val="0"/>
                </a:srgbClr>
              </a:solidFill>
              <a:ln w="38100" cap="sq">
                <a:solidFill>
                  <a:srgbClr val="ED5B2D"/>
                </a:solidFill>
                <a:prstDash val="solid"/>
                <a:miter/>
              </a:ln>
            </p:spPr>
          </p:sp>
          <p:sp>
            <p:nvSpPr>
              <p:cNvPr name="TextBox 9" id="9"/>
              <p:cNvSpPr txBox="true"/>
              <p:nvPr/>
            </p:nvSpPr>
            <p:spPr>
              <a:xfrm>
                <a:off x="0" y="-47625"/>
                <a:ext cx="649190" cy="158501"/>
              </a:xfrm>
              <a:prstGeom prst="rect">
                <a:avLst/>
              </a:prstGeom>
            </p:spPr>
            <p:txBody>
              <a:bodyPr anchor="ctr" rtlCol="false" tIns="50800" lIns="50800" bIns="50800" rIns="50800"/>
              <a:lstStyle/>
              <a:p>
                <a:pPr algn="ctr">
                  <a:lnSpc>
                    <a:spcPts val="3693"/>
                  </a:lnSpc>
                </a:pPr>
              </a:p>
            </p:txBody>
          </p:sp>
        </p:grpSp>
        <p:grpSp>
          <p:nvGrpSpPr>
            <p:cNvPr name="Group 10" id="10"/>
            <p:cNvGrpSpPr/>
            <p:nvPr/>
          </p:nvGrpSpPr>
          <p:grpSpPr>
            <a:xfrm rot="0">
              <a:off x="0" y="4767470"/>
              <a:ext cx="3286527" cy="2319738"/>
              <a:chOff x="0" y="0"/>
              <a:chExt cx="649190" cy="458220"/>
            </a:xfrm>
          </p:grpSpPr>
          <p:sp>
            <p:nvSpPr>
              <p:cNvPr name="Freeform 11" id="11"/>
              <p:cNvSpPr/>
              <p:nvPr/>
            </p:nvSpPr>
            <p:spPr>
              <a:xfrm flipH="false" flipV="false" rot="0">
                <a:off x="0" y="0"/>
                <a:ext cx="649190" cy="458220"/>
              </a:xfrm>
              <a:custGeom>
                <a:avLst/>
                <a:gdLst/>
                <a:ahLst/>
                <a:cxnLst/>
                <a:rect r="r" b="b" t="t" l="l"/>
                <a:pathLst>
                  <a:path h="458220" w="649190">
                    <a:moveTo>
                      <a:pt x="0" y="0"/>
                    </a:moveTo>
                    <a:lnTo>
                      <a:pt x="649190" y="0"/>
                    </a:lnTo>
                    <a:lnTo>
                      <a:pt x="649190" y="458220"/>
                    </a:lnTo>
                    <a:lnTo>
                      <a:pt x="0" y="458220"/>
                    </a:lnTo>
                    <a:close/>
                  </a:path>
                </a:pathLst>
              </a:custGeom>
              <a:solidFill>
                <a:srgbClr val="000000">
                  <a:alpha val="0"/>
                </a:srgbClr>
              </a:solidFill>
              <a:ln w="38100" cap="sq">
                <a:solidFill>
                  <a:srgbClr val="ED5B2D"/>
                </a:solidFill>
                <a:prstDash val="solid"/>
                <a:miter/>
              </a:ln>
            </p:spPr>
          </p:sp>
          <p:sp>
            <p:nvSpPr>
              <p:cNvPr name="TextBox 12" id="12"/>
              <p:cNvSpPr txBox="true"/>
              <p:nvPr/>
            </p:nvSpPr>
            <p:spPr>
              <a:xfrm>
                <a:off x="0" y="-47625"/>
                <a:ext cx="649190" cy="505845"/>
              </a:xfrm>
              <a:prstGeom prst="rect">
                <a:avLst/>
              </a:prstGeom>
            </p:spPr>
            <p:txBody>
              <a:bodyPr anchor="ctr" rtlCol="false" tIns="50800" lIns="50800" bIns="50800" rIns="50800"/>
              <a:lstStyle/>
              <a:p>
                <a:pPr algn="ctr">
                  <a:lnSpc>
                    <a:spcPts val="3693"/>
                  </a:lnSpc>
                </a:pPr>
              </a:p>
            </p:txBody>
          </p:sp>
        </p:grpSp>
      </p:grpSp>
      <p:grpSp>
        <p:nvGrpSpPr>
          <p:cNvPr name="Group 13" id="13"/>
          <p:cNvGrpSpPr/>
          <p:nvPr/>
        </p:nvGrpSpPr>
        <p:grpSpPr>
          <a:xfrm rot="0">
            <a:off x="11000231" y="2317096"/>
            <a:ext cx="3197646" cy="7151204"/>
            <a:chOff x="0" y="0"/>
            <a:chExt cx="4263528" cy="9534939"/>
          </a:xfrm>
        </p:grpSpPr>
        <p:sp>
          <p:nvSpPr>
            <p:cNvPr name="Freeform 14" id="14"/>
            <p:cNvSpPr/>
            <p:nvPr/>
          </p:nvSpPr>
          <p:spPr>
            <a:xfrm flipH="false" flipV="false" rot="0">
              <a:off x="0" y="0"/>
              <a:ext cx="4263528" cy="9534939"/>
            </a:xfrm>
            <a:custGeom>
              <a:avLst/>
              <a:gdLst/>
              <a:ahLst/>
              <a:cxnLst/>
              <a:rect r="r" b="b" t="t" l="l"/>
              <a:pathLst>
                <a:path h="9534939" w="4263528">
                  <a:moveTo>
                    <a:pt x="0" y="0"/>
                  </a:moveTo>
                  <a:lnTo>
                    <a:pt x="4263528" y="0"/>
                  </a:lnTo>
                  <a:lnTo>
                    <a:pt x="4263528" y="9534939"/>
                  </a:lnTo>
                  <a:lnTo>
                    <a:pt x="0" y="9534939"/>
                  </a:lnTo>
                  <a:lnTo>
                    <a:pt x="0" y="0"/>
                  </a:lnTo>
                  <a:close/>
                </a:path>
              </a:pathLst>
            </a:custGeom>
            <a:blipFill>
              <a:blip r:embed="rId4"/>
              <a:stretch>
                <a:fillRect l="0" t="0" r="0" b="-3829"/>
              </a:stretch>
            </a:blipFill>
          </p:spPr>
        </p:sp>
        <p:grpSp>
          <p:nvGrpSpPr>
            <p:cNvPr name="Group 15" id="15"/>
            <p:cNvGrpSpPr/>
            <p:nvPr/>
          </p:nvGrpSpPr>
          <p:grpSpPr>
            <a:xfrm rot="0">
              <a:off x="0" y="7087207"/>
              <a:ext cx="4263528" cy="1475877"/>
              <a:chOff x="0" y="0"/>
              <a:chExt cx="842178" cy="291531"/>
            </a:xfrm>
          </p:grpSpPr>
          <p:sp>
            <p:nvSpPr>
              <p:cNvPr name="Freeform 16" id="16"/>
              <p:cNvSpPr/>
              <p:nvPr/>
            </p:nvSpPr>
            <p:spPr>
              <a:xfrm flipH="false" flipV="false" rot="0">
                <a:off x="0" y="0"/>
                <a:ext cx="842178" cy="291531"/>
              </a:xfrm>
              <a:custGeom>
                <a:avLst/>
                <a:gdLst/>
                <a:ahLst/>
                <a:cxnLst/>
                <a:rect r="r" b="b" t="t" l="l"/>
                <a:pathLst>
                  <a:path h="291531" w="842178">
                    <a:moveTo>
                      <a:pt x="0" y="0"/>
                    </a:moveTo>
                    <a:lnTo>
                      <a:pt x="842178" y="0"/>
                    </a:lnTo>
                    <a:lnTo>
                      <a:pt x="842178" y="291531"/>
                    </a:lnTo>
                    <a:lnTo>
                      <a:pt x="0" y="291531"/>
                    </a:lnTo>
                    <a:close/>
                  </a:path>
                </a:pathLst>
              </a:custGeom>
              <a:solidFill>
                <a:srgbClr val="000000">
                  <a:alpha val="0"/>
                </a:srgbClr>
              </a:solidFill>
              <a:ln w="38100" cap="sq">
                <a:solidFill>
                  <a:srgbClr val="ED5B2D"/>
                </a:solidFill>
                <a:prstDash val="solid"/>
                <a:miter/>
              </a:ln>
            </p:spPr>
          </p:sp>
          <p:sp>
            <p:nvSpPr>
              <p:cNvPr name="TextBox 17" id="17"/>
              <p:cNvSpPr txBox="true"/>
              <p:nvPr/>
            </p:nvSpPr>
            <p:spPr>
              <a:xfrm>
                <a:off x="0" y="-47625"/>
                <a:ext cx="842178" cy="339156"/>
              </a:xfrm>
              <a:prstGeom prst="rect">
                <a:avLst/>
              </a:prstGeom>
            </p:spPr>
            <p:txBody>
              <a:bodyPr anchor="ctr" rtlCol="false" tIns="50800" lIns="50800" bIns="50800" rIns="50800"/>
              <a:lstStyle/>
              <a:p>
                <a:pPr algn="ctr">
                  <a:lnSpc>
                    <a:spcPts val="3693"/>
                  </a:lnSpc>
                </a:pPr>
              </a:p>
            </p:txBody>
          </p:sp>
        </p:grpSp>
      </p:grpSp>
      <p:sp>
        <p:nvSpPr>
          <p:cNvPr name="Freeform 18" id="18"/>
          <p:cNvSpPr/>
          <p:nvPr/>
        </p:nvSpPr>
        <p:spPr>
          <a:xfrm flipH="false" flipV="false" rot="0">
            <a:off x="14645552" y="2317096"/>
            <a:ext cx="3074200" cy="7151204"/>
          </a:xfrm>
          <a:custGeom>
            <a:avLst/>
            <a:gdLst/>
            <a:ahLst/>
            <a:cxnLst/>
            <a:rect r="r" b="b" t="t" l="l"/>
            <a:pathLst>
              <a:path h="7151204" w="3074200">
                <a:moveTo>
                  <a:pt x="0" y="0"/>
                </a:moveTo>
                <a:lnTo>
                  <a:pt x="3074199" y="0"/>
                </a:lnTo>
                <a:lnTo>
                  <a:pt x="3074199" y="7151204"/>
                </a:lnTo>
                <a:lnTo>
                  <a:pt x="0" y="7151204"/>
                </a:lnTo>
                <a:lnTo>
                  <a:pt x="0" y="0"/>
                </a:lnTo>
                <a:close/>
              </a:path>
            </a:pathLst>
          </a:custGeom>
          <a:blipFill>
            <a:blip r:embed="rId5"/>
            <a:stretch>
              <a:fillRect l="0" t="-887" r="-502" b="-887"/>
            </a:stretch>
          </a:blipFill>
        </p:spPr>
      </p:sp>
      <p:grpSp>
        <p:nvGrpSpPr>
          <p:cNvPr name="Group 19" id="19"/>
          <p:cNvGrpSpPr/>
          <p:nvPr/>
        </p:nvGrpSpPr>
        <p:grpSpPr>
          <a:xfrm rot="0">
            <a:off x="14645552" y="5732207"/>
            <a:ext cx="3074200" cy="808852"/>
            <a:chOff x="0" y="0"/>
            <a:chExt cx="809666" cy="213031"/>
          </a:xfrm>
        </p:grpSpPr>
        <p:sp>
          <p:nvSpPr>
            <p:cNvPr name="Freeform 20" id="20"/>
            <p:cNvSpPr/>
            <p:nvPr/>
          </p:nvSpPr>
          <p:spPr>
            <a:xfrm flipH="false" flipV="false" rot="0">
              <a:off x="0" y="0"/>
              <a:ext cx="809666" cy="213031"/>
            </a:xfrm>
            <a:custGeom>
              <a:avLst/>
              <a:gdLst/>
              <a:ahLst/>
              <a:cxnLst/>
              <a:rect r="r" b="b" t="t" l="l"/>
              <a:pathLst>
                <a:path h="213031" w="809666">
                  <a:moveTo>
                    <a:pt x="0" y="0"/>
                  </a:moveTo>
                  <a:lnTo>
                    <a:pt x="809666" y="0"/>
                  </a:lnTo>
                  <a:lnTo>
                    <a:pt x="809666" y="213031"/>
                  </a:lnTo>
                  <a:lnTo>
                    <a:pt x="0" y="213031"/>
                  </a:lnTo>
                  <a:close/>
                </a:path>
              </a:pathLst>
            </a:custGeom>
            <a:solidFill>
              <a:srgbClr val="000000">
                <a:alpha val="0"/>
              </a:srgbClr>
            </a:solidFill>
            <a:ln w="38100" cap="sq">
              <a:solidFill>
                <a:srgbClr val="ED5B2D"/>
              </a:solidFill>
              <a:prstDash val="solid"/>
              <a:miter/>
            </a:ln>
          </p:spPr>
        </p:sp>
        <p:sp>
          <p:nvSpPr>
            <p:cNvPr name="TextBox 21" id="21"/>
            <p:cNvSpPr txBox="true"/>
            <p:nvPr/>
          </p:nvSpPr>
          <p:spPr>
            <a:xfrm>
              <a:off x="0" y="-47625"/>
              <a:ext cx="809666" cy="260656"/>
            </a:xfrm>
            <a:prstGeom prst="rect">
              <a:avLst/>
            </a:prstGeom>
          </p:spPr>
          <p:txBody>
            <a:bodyPr anchor="ctr" rtlCol="false" tIns="50800" lIns="50800" bIns="50800" rIns="50800"/>
            <a:lstStyle/>
            <a:p>
              <a:pPr algn="ctr">
                <a:lnSpc>
                  <a:spcPts val="3693"/>
                </a:lnSpc>
              </a:pPr>
            </a:p>
          </p:txBody>
        </p:sp>
      </p:grpSp>
      <p:sp>
        <p:nvSpPr>
          <p:cNvPr name="TextBox 22" id="22"/>
          <p:cNvSpPr txBox="true"/>
          <p:nvPr/>
        </p:nvSpPr>
        <p:spPr>
          <a:xfrm rot="0">
            <a:off x="17259300" y="9430200"/>
            <a:ext cx="152400" cy="190500"/>
          </a:xfrm>
          <a:prstGeom prst="rect">
            <a:avLst/>
          </a:prstGeom>
        </p:spPr>
        <p:txBody>
          <a:bodyPr anchor="t" rtlCol="false" tIns="0" lIns="0" bIns="0" rIns="0" wrap="none">
            <a:spAutoFit/>
          </a:bodyPr>
          <a:lstStyle/>
          <a:p>
            <a:pPr algn="ctr">
              <a:lnSpc>
                <a:spcPts val="3359"/>
              </a:lnSpc>
              <a:spcBef>
                <a:spcPct val="0"/>
              </a:spcBef>
            </a:pPr>
            <a:r>
              <a:rPr lang="en-US" sz="2399">
                <a:solidFill>
                  <a:srgbClr val="0F4662"/>
                </a:solidFill>
                <a:latin typeface="Canva Sans"/>
                <a:ea typeface="Canva Sans"/>
                <a:cs typeface="Canva Sans"/>
                <a:sym typeface="Canva Sans"/>
              </a:rPr>
              <a:t>15</a:t>
            </a:r>
          </a:p>
        </p:txBody>
      </p:sp>
      <p:grpSp>
        <p:nvGrpSpPr>
          <p:cNvPr name="Group 23" id="23"/>
          <p:cNvGrpSpPr/>
          <p:nvPr/>
        </p:nvGrpSpPr>
        <p:grpSpPr>
          <a:xfrm rot="0">
            <a:off x="0" y="0"/>
            <a:ext cx="18288000" cy="1907687"/>
            <a:chOff x="0" y="0"/>
            <a:chExt cx="4816593" cy="502436"/>
          </a:xfrm>
        </p:grpSpPr>
        <p:sp>
          <p:nvSpPr>
            <p:cNvPr name="Freeform 24" id="24"/>
            <p:cNvSpPr/>
            <p:nvPr/>
          </p:nvSpPr>
          <p:spPr>
            <a:xfrm flipH="false" flipV="false" rot="0">
              <a:off x="0" y="0"/>
              <a:ext cx="4816592" cy="502436"/>
            </a:xfrm>
            <a:custGeom>
              <a:avLst/>
              <a:gdLst/>
              <a:ahLst/>
              <a:cxnLst/>
              <a:rect r="r" b="b" t="t" l="l"/>
              <a:pathLst>
                <a:path h="502436" w="4816592">
                  <a:moveTo>
                    <a:pt x="0" y="0"/>
                  </a:moveTo>
                  <a:lnTo>
                    <a:pt x="4816592" y="0"/>
                  </a:lnTo>
                  <a:lnTo>
                    <a:pt x="4816592" y="502436"/>
                  </a:lnTo>
                  <a:lnTo>
                    <a:pt x="0" y="502436"/>
                  </a:lnTo>
                  <a:close/>
                </a:path>
              </a:pathLst>
            </a:custGeom>
            <a:solidFill>
              <a:srgbClr val="DBE5EA"/>
            </a:solidFill>
          </p:spPr>
        </p:sp>
        <p:sp>
          <p:nvSpPr>
            <p:cNvPr name="TextBox 25" id="25"/>
            <p:cNvSpPr txBox="true"/>
            <p:nvPr/>
          </p:nvSpPr>
          <p:spPr>
            <a:xfrm>
              <a:off x="0" y="-47625"/>
              <a:ext cx="4816593" cy="550061"/>
            </a:xfrm>
            <a:prstGeom prst="rect">
              <a:avLst/>
            </a:prstGeom>
          </p:spPr>
          <p:txBody>
            <a:bodyPr anchor="ctr" rtlCol="false" tIns="50800" lIns="50800" bIns="50800" rIns="50800"/>
            <a:lstStyle/>
            <a:p>
              <a:pPr algn="ctr">
                <a:lnSpc>
                  <a:spcPts val="3693"/>
                </a:lnSpc>
              </a:pPr>
            </a:p>
          </p:txBody>
        </p:sp>
      </p:grpSp>
      <p:sp>
        <p:nvSpPr>
          <p:cNvPr name="TextBox 26" id="26"/>
          <p:cNvSpPr txBox="true"/>
          <p:nvPr/>
        </p:nvSpPr>
        <p:spPr>
          <a:xfrm rot="0">
            <a:off x="2834884" y="193850"/>
            <a:ext cx="12618233" cy="1367586"/>
          </a:xfrm>
          <a:prstGeom prst="rect">
            <a:avLst/>
          </a:prstGeom>
        </p:spPr>
        <p:txBody>
          <a:bodyPr anchor="t" rtlCol="false" tIns="0" lIns="0" bIns="0" rIns="0">
            <a:spAutoFit/>
          </a:bodyPr>
          <a:lstStyle/>
          <a:p>
            <a:pPr algn="l" marL="0" indent="0" lvl="0">
              <a:lnSpc>
                <a:spcPts val="11246"/>
              </a:lnSpc>
              <a:spcBef>
                <a:spcPct val="0"/>
              </a:spcBef>
            </a:pPr>
            <a:r>
              <a:rPr lang="en-US" sz="8033" u="sng">
                <a:solidFill>
                  <a:srgbClr val="0F4662"/>
                </a:solidFill>
                <a:latin typeface="Genty Sans"/>
                <a:ea typeface="Genty Sans"/>
                <a:cs typeface="Genty Sans"/>
                <a:sym typeface="Genty Sans"/>
              </a:rPr>
              <a:t>EXPLORING THE DATASET</a:t>
            </a:r>
          </a:p>
        </p:txBody>
      </p:sp>
      <p:grpSp>
        <p:nvGrpSpPr>
          <p:cNvPr name="Group 27" id="27"/>
          <p:cNvGrpSpPr/>
          <p:nvPr/>
        </p:nvGrpSpPr>
        <p:grpSpPr>
          <a:xfrm rot="0">
            <a:off x="486257" y="2317096"/>
            <a:ext cx="6938270" cy="7151204"/>
            <a:chOff x="0" y="0"/>
            <a:chExt cx="9251027" cy="9534939"/>
          </a:xfrm>
        </p:grpSpPr>
        <p:sp>
          <p:nvSpPr>
            <p:cNvPr name="Freeform 28" id="28"/>
            <p:cNvSpPr/>
            <p:nvPr/>
          </p:nvSpPr>
          <p:spPr>
            <a:xfrm flipH="false" flipV="false" rot="0">
              <a:off x="0" y="0"/>
              <a:ext cx="9251027" cy="9534939"/>
            </a:xfrm>
            <a:custGeom>
              <a:avLst/>
              <a:gdLst/>
              <a:ahLst/>
              <a:cxnLst/>
              <a:rect r="r" b="b" t="t" l="l"/>
              <a:pathLst>
                <a:path h="9534939" w="9251027">
                  <a:moveTo>
                    <a:pt x="0" y="0"/>
                  </a:moveTo>
                  <a:lnTo>
                    <a:pt x="9251027" y="0"/>
                  </a:lnTo>
                  <a:lnTo>
                    <a:pt x="9251027" y="9534939"/>
                  </a:lnTo>
                  <a:lnTo>
                    <a:pt x="0" y="9534939"/>
                  </a:lnTo>
                  <a:lnTo>
                    <a:pt x="0" y="0"/>
                  </a:lnTo>
                  <a:close/>
                </a:path>
              </a:pathLst>
            </a:custGeom>
            <a:blipFill>
              <a:blip r:embed="rId6"/>
              <a:stretch>
                <a:fillRect l="0" t="0" r="-7597" b="0"/>
              </a:stretch>
            </a:blipFill>
          </p:spPr>
        </p:sp>
        <p:grpSp>
          <p:nvGrpSpPr>
            <p:cNvPr name="Group 29" id="29"/>
            <p:cNvGrpSpPr/>
            <p:nvPr/>
          </p:nvGrpSpPr>
          <p:grpSpPr>
            <a:xfrm rot="0">
              <a:off x="780800" y="5154728"/>
              <a:ext cx="8323692" cy="561309"/>
              <a:chOff x="0" y="0"/>
              <a:chExt cx="1644186" cy="110876"/>
            </a:xfrm>
          </p:grpSpPr>
          <p:sp>
            <p:nvSpPr>
              <p:cNvPr name="Freeform 30" id="30"/>
              <p:cNvSpPr/>
              <p:nvPr/>
            </p:nvSpPr>
            <p:spPr>
              <a:xfrm flipH="false" flipV="false" rot="0">
                <a:off x="0" y="0"/>
                <a:ext cx="1644186" cy="110876"/>
              </a:xfrm>
              <a:custGeom>
                <a:avLst/>
                <a:gdLst/>
                <a:ahLst/>
                <a:cxnLst/>
                <a:rect r="r" b="b" t="t" l="l"/>
                <a:pathLst>
                  <a:path h="110876" w="1644186">
                    <a:moveTo>
                      <a:pt x="0" y="0"/>
                    </a:moveTo>
                    <a:lnTo>
                      <a:pt x="1644186" y="0"/>
                    </a:lnTo>
                    <a:lnTo>
                      <a:pt x="1644186" y="110876"/>
                    </a:lnTo>
                    <a:lnTo>
                      <a:pt x="0" y="110876"/>
                    </a:lnTo>
                    <a:close/>
                  </a:path>
                </a:pathLst>
              </a:custGeom>
              <a:solidFill>
                <a:srgbClr val="000000">
                  <a:alpha val="0"/>
                </a:srgbClr>
              </a:solidFill>
              <a:ln w="38100" cap="sq">
                <a:solidFill>
                  <a:srgbClr val="ED5B2D"/>
                </a:solidFill>
                <a:prstDash val="solid"/>
                <a:miter/>
              </a:ln>
            </p:spPr>
          </p:sp>
          <p:sp>
            <p:nvSpPr>
              <p:cNvPr name="TextBox 31" id="31"/>
              <p:cNvSpPr txBox="true"/>
              <p:nvPr/>
            </p:nvSpPr>
            <p:spPr>
              <a:xfrm>
                <a:off x="0" y="-47625"/>
                <a:ext cx="1644186" cy="158501"/>
              </a:xfrm>
              <a:prstGeom prst="rect">
                <a:avLst/>
              </a:prstGeom>
            </p:spPr>
            <p:txBody>
              <a:bodyPr anchor="ctr" rtlCol="false" tIns="50800" lIns="50800" bIns="50800" rIns="50800"/>
              <a:lstStyle/>
              <a:p>
                <a:pPr algn="ctr">
                  <a:lnSpc>
                    <a:spcPts val="3693"/>
                  </a:lnSpc>
                </a:pPr>
              </a:p>
            </p:txBody>
          </p:sp>
        </p:grpSp>
      </p:grpSp>
    </p:spTree>
  </p:cSld>
  <p:clrMapOvr>
    <a:masterClrMapping/>
  </p:clrMapOvr>
</p:sld>
</file>

<file path=ppt/slides/slide16.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1470906" y="2483916"/>
            <a:ext cx="15959546" cy="6395855"/>
          </a:xfrm>
          <a:prstGeom prst="rect">
            <a:avLst/>
          </a:prstGeom>
        </p:spPr>
        <p:txBody>
          <a:bodyPr anchor="t" rtlCol="false" tIns="0" lIns="0" bIns="0" rIns="0">
            <a:spAutoFit/>
          </a:bodyPr>
          <a:lstStyle/>
          <a:p>
            <a:pPr algn="l" marL="883219" indent="-441610" lvl="1">
              <a:lnSpc>
                <a:spcPts val="6422"/>
              </a:lnSpc>
              <a:buFont typeface="Arial"/>
              <a:buChar char="•"/>
            </a:pPr>
            <a:r>
              <a:rPr lang="en-US" sz="4090">
                <a:solidFill>
                  <a:srgbClr val="000000"/>
                </a:solidFill>
                <a:latin typeface="Open Sans"/>
                <a:ea typeface="Open Sans"/>
                <a:cs typeface="Open Sans"/>
                <a:sym typeface="Open Sans"/>
              </a:rPr>
              <a:t>Converting </a:t>
            </a:r>
            <a:r>
              <a:rPr lang="en-US" sz="4090">
                <a:solidFill>
                  <a:srgbClr val="000000"/>
                </a:solidFill>
                <a:latin typeface="Open Sans"/>
                <a:ea typeface="Open Sans"/>
                <a:cs typeface="Open Sans"/>
                <a:sym typeface="Open Sans"/>
              </a:rPr>
              <a:t>funding data to numerical format</a:t>
            </a:r>
          </a:p>
          <a:p>
            <a:pPr algn="l" marL="883219" indent="-441610" lvl="1">
              <a:lnSpc>
                <a:spcPts val="6422"/>
              </a:lnSpc>
              <a:buFont typeface="Arial"/>
              <a:buChar char="•"/>
            </a:pPr>
            <a:r>
              <a:rPr lang="en-US" sz="4090">
                <a:solidFill>
                  <a:srgbClr val="000000"/>
                </a:solidFill>
                <a:latin typeface="Open Sans"/>
                <a:ea typeface="Open Sans"/>
                <a:cs typeface="Open Sans"/>
                <a:sym typeface="Open Sans"/>
              </a:rPr>
              <a:t>Normalizing and scaling funding data</a:t>
            </a:r>
          </a:p>
          <a:p>
            <a:pPr algn="l" marL="883219" indent="-441610" lvl="1">
              <a:lnSpc>
                <a:spcPts val="6422"/>
              </a:lnSpc>
              <a:buFont typeface="Arial"/>
              <a:buChar char="•"/>
            </a:pPr>
            <a:r>
              <a:rPr lang="en-US" sz="4090">
                <a:solidFill>
                  <a:srgbClr val="000000"/>
                </a:solidFill>
                <a:latin typeface="Open Sans"/>
                <a:ea typeface="Open Sans"/>
                <a:cs typeface="Open Sans"/>
                <a:sym typeface="Open Sans"/>
              </a:rPr>
              <a:t>Handling missing data of :</a:t>
            </a:r>
          </a:p>
          <a:p>
            <a:pPr algn="l" marL="1766439" indent="-588813" lvl="2">
              <a:lnSpc>
                <a:spcPts val="6422"/>
              </a:lnSpc>
              <a:buFont typeface="Arial"/>
              <a:buChar char="⚬"/>
            </a:pPr>
            <a:r>
              <a:rPr lang="en-US" sz="4090">
                <a:solidFill>
                  <a:srgbClr val="000000"/>
                </a:solidFill>
                <a:latin typeface="Open Sans"/>
                <a:ea typeface="Open Sans"/>
                <a:cs typeface="Open Sans"/>
                <a:sym typeface="Open Sans"/>
              </a:rPr>
              <a:t>Funding</a:t>
            </a:r>
          </a:p>
          <a:p>
            <a:pPr algn="l" marL="1766439" indent="-588813" lvl="2">
              <a:lnSpc>
                <a:spcPts val="6422"/>
              </a:lnSpc>
              <a:buFont typeface="Arial"/>
              <a:buChar char="⚬"/>
            </a:pPr>
            <a:r>
              <a:rPr lang="en-US" sz="4090">
                <a:solidFill>
                  <a:srgbClr val="000000"/>
                </a:solidFill>
                <a:latin typeface="Open Sans"/>
                <a:ea typeface="Open Sans"/>
                <a:cs typeface="Open Sans"/>
                <a:sym typeface="Open Sans"/>
              </a:rPr>
              <a:t>Location</a:t>
            </a:r>
          </a:p>
          <a:p>
            <a:pPr algn="l" marL="1766439" indent="-588813" lvl="2">
              <a:lnSpc>
                <a:spcPts val="6422"/>
              </a:lnSpc>
              <a:buFont typeface="Arial"/>
              <a:buChar char="⚬"/>
            </a:pPr>
            <a:r>
              <a:rPr lang="en-US" sz="4090">
                <a:solidFill>
                  <a:srgbClr val="000000"/>
                </a:solidFill>
                <a:latin typeface="Open Sans"/>
                <a:ea typeface="Open Sans"/>
                <a:cs typeface="Open Sans"/>
                <a:sym typeface="Open Sans"/>
              </a:rPr>
              <a:t>Foundation date</a:t>
            </a:r>
          </a:p>
          <a:p>
            <a:pPr algn="l" marL="883219" indent="-441610" lvl="1">
              <a:lnSpc>
                <a:spcPts val="6422"/>
              </a:lnSpc>
              <a:buFont typeface="Arial"/>
              <a:buChar char="•"/>
            </a:pPr>
            <a:r>
              <a:rPr lang="en-US" sz="4090">
                <a:solidFill>
                  <a:srgbClr val="000000"/>
                </a:solidFill>
                <a:latin typeface="Open Sans"/>
                <a:ea typeface="Open Sans"/>
                <a:cs typeface="Open Sans"/>
                <a:sym typeface="Open Sans"/>
              </a:rPr>
              <a:t>Startup category data simplification</a:t>
            </a:r>
          </a:p>
          <a:p>
            <a:pPr algn="l" marL="883219" indent="-441610" lvl="1">
              <a:lnSpc>
                <a:spcPts val="6422"/>
              </a:lnSpc>
              <a:buFont typeface="Arial"/>
              <a:buChar char="•"/>
            </a:pPr>
            <a:r>
              <a:rPr lang="en-US" sz="4090">
                <a:solidFill>
                  <a:srgbClr val="000000"/>
                </a:solidFill>
                <a:latin typeface="Open Sans"/>
                <a:ea typeface="Open Sans"/>
                <a:cs typeface="Open Sans"/>
                <a:sym typeface="Open Sans"/>
              </a:rPr>
              <a:t>Encoding categorical data</a:t>
            </a:r>
          </a:p>
        </p:txBody>
      </p:sp>
      <p:grpSp>
        <p:nvGrpSpPr>
          <p:cNvPr name="Group 3" id="3"/>
          <p:cNvGrpSpPr/>
          <p:nvPr/>
        </p:nvGrpSpPr>
        <p:grpSpPr>
          <a:xfrm rot="0">
            <a:off x="0" y="0"/>
            <a:ext cx="18288000" cy="1907687"/>
            <a:chOff x="0" y="0"/>
            <a:chExt cx="4816593" cy="502436"/>
          </a:xfrm>
        </p:grpSpPr>
        <p:sp>
          <p:nvSpPr>
            <p:cNvPr name="Freeform 4" id="4"/>
            <p:cNvSpPr/>
            <p:nvPr/>
          </p:nvSpPr>
          <p:spPr>
            <a:xfrm flipH="false" flipV="false" rot="0">
              <a:off x="0" y="0"/>
              <a:ext cx="4816592" cy="502436"/>
            </a:xfrm>
            <a:custGeom>
              <a:avLst/>
              <a:gdLst/>
              <a:ahLst/>
              <a:cxnLst/>
              <a:rect r="r" b="b" t="t" l="l"/>
              <a:pathLst>
                <a:path h="502436" w="4816592">
                  <a:moveTo>
                    <a:pt x="0" y="0"/>
                  </a:moveTo>
                  <a:lnTo>
                    <a:pt x="4816592" y="0"/>
                  </a:lnTo>
                  <a:lnTo>
                    <a:pt x="4816592" y="502436"/>
                  </a:lnTo>
                  <a:lnTo>
                    <a:pt x="0" y="502436"/>
                  </a:lnTo>
                  <a:close/>
                </a:path>
              </a:pathLst>
            </a:custGeom>
            <a:solidFill>
              <a:srgbClr val="DBE5EA"/>
            </a:solidFill>
          </p:spPr>
        </p:sp>
        <p:sp>
          <p:nvSpPr>
            <p:cNvPr name="TextBox 5" id="5"/>
            <p:cNvSpPr txBox="true"/>
            <p:nvPr/>
          </p:nvSpPr>
          <p:spPr>
            <a:xfrm>
              <a:off x="0" y="-47625"/>
              <a:ext cx="4816593" cy="550061"/>
            </a:xfrm>
            <a:prstGeom prst="rect">
              <a:avLst/>
            </a:prstGeom>
          </p:spPr>
          <p:txBody>
            <a:bodyPr anchor="ctr" rtlCol="false" tIns="50800" lIns="50800" bIns="50800" rIns="50800"/>
            <a:lstStyle/>
            <a:p>
              <a:pPr algn="ctr">
                <a:lnSpc>
                  <a:spcPts val="3693"/>
                </a:lnSpc>
              </a:pPr>
            </a:p>
          </p:txBody>
        </p:sp>
      </p:grpSp>
      <p:sp>
        <p:nvSpPr>
          <p:cNvPr name="TextBox 6" id="6"/>
          <p:cNvSpPr txBox="true"/>
          <p:nvPr/>
        </p:nvSpPr>
        <p:spPr>
          <a:xfrm rot="0">
            <a:off x="877359" y="256206"/>
            <a:ext cx="16533282" cy="1252400"/>
          </a:xfrm>
          <a:prstGeom prst="rect">
            <a:avLst/>
          </a:prstGeom>
        </p:spPr>
        <p:txBody>
          <a:bodyPr anchor="t" rtlCol="false" tIns="0" lIns="0" bIns="0" rIns="0">
            <a:spAutoFit/>
          </a:bodyPr>
          <a:lstStyle/>
          <a:p>
            <a:pPr algn="l" marL="0" indent="0" lvl="0">
              <a:lnSpc>
                <a:spcPts val="10245"/>
              </a:lnSpc>
              <a:spcBef>
                <a:spcPct val="0"/>
              </a:spcBef>
            </a:pPr>
            <a:r>
              <a:rPr lang="en-US" sz="7317" u="sng">
                <a:solidFill>
                  <a:srgbClr val="0F4662"/>
                </a:solidFill>
                <a:latin typeface="Genty Sans"/>
                <a:ea typeface="Genty Sans"/>
                <a:cs typeface="Genty Sans"/>
                <a:sym typeface="Genty Sans"/>
              </a:rPr>
              <a:t>PREPARING THE DATA FOR LEARNING</a:t>
            </a:r>
          </a:p>
        </p:txBody>
      </p:sp>
      <p:sp>
        <p:nvSpPr>
          <p:cNvPr name="TextBox 7" id="7"/>
          <p:cNvSpPr txBox="true"/>
          <p:nvPr/>
        </p:nvSpPr>
        <p:spPr>
          <a:xfrm rot="0">
            <a:off x="17259300" y="9220200"/>
            <a:ext cx="152400" cy="190500"/>
          </a:xfrm>
          <a:prstGeom prst="rect">
            <a:avLst/>
          </a:prstGeom>
        </p:spPr>
        <p:txBody>
          <a:bodyPr anchor="t" rtlCol="false" tIns="0" lIns="0" bIns="0" rIns="0" wrap="none">
            <a:spAutoFit/>
          </a:bodyPr>
          <a:lstStyle/>
          <a:p>
            <a:pPr algn="ctr">
              <a:lnSpc>
                <a:spcPts val="3359"/>
              </a:lnSpc>
              <a:spcBef>
                <a:spcPct val="0"/>
              </a:spcBef>
            </a:pPr>
            <a:r>
              <a:rPr lang="en-US" sz="2399">
                <a:solidFill>
                  <a:srgbClr val="0F4662"/>
                </a:solidFill>
                <a:latin typeface="Canva Sans"/>
                <a:ea typeface="Canva Sans"/>
                <a:cs typeface="Canva Sans"/>
                <a:sym typeface="Canva Sans"/>
              </a:rPr>
              <a:t>16</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14155034" y="6380547"/>
            <a:ext cx="2877753" cy="2877753"/>
          </a:xfrm>
          <a:custGeom>
            <a:avLst/>
            <a:gdLst/>
            <a:ahLst/>
            <a:cxnLst/>
            <a:rect r="r" b="b" t="t" l="l"/>
            <a:pathLst>
              <a:path h="2877753" w="2877753">
                <a:moveTo>
                  <a:pt x="0" y="0"/>
                </a:moveTo>
                <a:lnTo>
                  <a:pt x="2877753" y="0"/>
                </a:lnTo>
                <a:lnTo>
                  <a:pt x="2877753" y="2877753"/>
                </a:lnTo>
                <a:lnTo>
                  <a:pt x="0" y="2877753"/>
                </a:lnTo>
                <a:lnTo>
                  <a:pt x="0" y="0"/>
                </a:lnTo>
                <a:close/>
              </a:path>
            </a:pathLst>
          </a:custGeom>
          <a:blipFill>
            <a:blip r:embed="rId2"/>
            <a:stretch>
              <a:fillRect l="0" t="0" r="0" b="0"/>
            </a:stretch>
          </a:blipFill>
        </p:spPr>
      </p:sp>
      <p:sp>
        <p:nvSpPr>
          <p:cNvPr name="TextBox 3" id="3"/>
          <p:cNvSpPr txBox="true"/>
          <p:nvPr/>
        </p:nvSpPr>
        <p:spPr>
          <a:xfrm rot="0">
            <a:off x="849630" y="3464587"/>
            <a:ext cx="17438370" cy="1678913"/>
          </a:xfrm>
          <a:prstGeom prst="rect">
            <a:avLst/>
          </a:prstGeom>
        </p:spPr>
        <p:txBody>
          <a:bodyPr anchor="t" rtlCol="false" tIns="0" lIns="0" bIns="0" rIns="0">
            <a:spAutoFit/>
          </a:bodyPr>
          <a:lstStyle/>
          <a:p>
            <a:pPr algn="l" marL="0" indent="0" lvl="0">
              <a:lnSpc>
                <a:spcPts val="13758"/>
              </a:lnSpc>
              <a:spcBef>
                <a:spcPct val="0"/>
              </a:spcBef>
            </a:pPr>
            <a:r>
              <a:rPr lang="en-US" sz="9827">
                <a:solidFill>
                  <a:srgbClr val="0F4662"/>
                </a:solidFill>
                <a:latin typeface="Genty Sans"/>
                <a:ea typeface="Genty Sans"/>
                <a:cs typeface="Genty Sans"/>
                <a:sym typeface="Genty Sans"/>
              </a:rPr>
              <a:t>4. DATA PREPROCESSING</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907687"/>
            <a:chOff x="0" y="0"/>
            <a:chExt cx="4816593" cy="502436"/>
          </a:xfrm>
        </p:grpSpPr>
        <p:sp>
          <p:nvSpPr>
            <p:cNvPr name="Freeform 3" id="3"/>
            <p:cNvSpPr/>
            <p:nvPr/>
          </p:nvSpPr>
          <p:spPr>
            <a:xfrm flipH="false" flipV="false" rot="0">
              <a:off x="0" y="0"/>
              <a:ext cx="4816592" cy="502436"/>
            </a:xfrm>
            <a:custGeom>
              <a:avLst/>
              <a:gdLst/>
              <a:ahLst/>
              <a:cxnLst/>
              <a:rect r="r" b="b" t="t" l="l"/>
              <a:pathLst>
                <a:path h="502436" w="4816592">
                  <a:moveTo>
                    <a:pt x="0" y="0"/>
                  </a:moveTo>
                  <a:lnTo>
                    <a:pt x="4816592" y="0"/>
                  </a:lnTo>
                  <a:lnTo>
                    <a:pt x="4816592" y="502436"/>
                  </a:lnTo>
                  <a:lnTo>
                    <a:pt x="0" y="502436"/>
                  </a:lnTo>
                  <a:close/>
                </a:path>
              </a:pathLst>
            </a:custGeom>
            <a:solidFill>
              <a:srgbClr val="DBE5EA"/>
            </a:solidFill>
          </p:spPr>
        </p:sp>
        <p:sp>
          <p:nvSpPr>
            <p:cNvPr name="TextBox 4" id="4"/>
            <p:cNvSpPr txBox="true"/>
            <p:nvPr/>
          </p:nvSpPr>
          <p:spPr>
            <a:xfrm>
              <a:off x="0" y="-47625"/>
              <a:ext cx="4816593" cy="550061"/>
            </a:xfrm>
            <a:prstGeom prst="rect">
              <a:avLst/>
            </a:prstGeom>
          </p:spPr>
          <p:txBody>
            <a:bodyPr anchor="ctr" rtlCol="false" tIns="50800" lIns="50800" bIns="50800" rIns="50800"/>
            <a:lstStyle/>
            <a:p>
              <a:pPr algn="ctr">
                <a:lnSpc>
                  <a:spcPts val="3693"/>
                </a:lnSpc>
              </a:pPr>
            </a:p>
          </p:txBody>
        </p:sp>
      </p:grpSp>
      <p:sp>
        <p:nvSpPr>
          <p:cNvPr name="Freeform 5" id="5"/>
          <p:cNvSpPr/>
          <p:nvPr/>
        </p:nvSpPr>
        <p:spPr>
          <a:xfrm flipH="false" flipV="false" rot="0">
            <a:off x="3498133" y="5117853"/>
            <a:ext cx="11301259" cy="4661769"/>
          </a:xfrm>
          <a:custGeom>
            <a:avLst/>
            <a:gdLst/>
            <a:ahLst/>
            <a:cxnLst/>
            <a:rect r="r" b="b" t="t" l="l"/>
            <a:pathLst>
              <a:path h="4661769" w="11301259">
                <a:moveTo>
                  <a:pt x="0" y="0"/>
                </a:moveTo>
                <a:lnTo>
                  <a:pt x="11301259" y="0"/>
                </a:lnTo>
                <a:lnTo>
                  <a:pt x="11301259" y="4661770"/>
                </a:lnTo>
                <a:lnTo>
                  <a:pt x="0" y="4661770"/>
                </a:lnTo>
                <a:lnTo>
                  <a:pt x="0" y="0"/>
                </a:lnTo>
                <a:close/>
              </a:path>
            </a:pathLst>
          </a:custGeom>
          <a:blipFill>
            <a:blip r:embed="rId2"/>
            <a:stretch>
              <a:fillRect l="0" t="0" r="0" b="0"/>
            </a:stretch>
          </a:blipFill>
        </p:spPr>
      </p:sp>
      <p:sp>
        <p:nvSpPr>
          <p:cNvPr name="TextBox 6" id="6"/>
          <p:cNvSpPr txBox="true"/>
          <p:nvPr/>
        </p:nvSpPr>
        <p:spPr>
          <a:xfrm rot="0">
            <a:off x="9139238" y="4652327"/>
            <a:ext cx="9525" cy="887095"/>
          </a:xfrm>
          <a:prstGeom prst="rect">
            <a:avLst/>
          </a:prstGeom>
        </p:spPr>
        <p:txBody>
          <a:bodyPr anchor="t" rtlCol="false" tIns="0" lIns="0" bIns="0" rIns="0">
            <a:spAutoFit/>
          </a:bodyPr>
          <a:lstStyle/>
          <a:p>
            <a:pPr algn="ctr">
              <a:lnSpc>
                <a:spcPts val="7279"/>
              </a:lnSpc>
            </a:pPr>
          </a:p>
        </p:txBody>
      </p:sp>
      <p:sp>
        <p:nvSpPr>
          <p:cNvPr name="TextBox 7" id="7"/>
          <p:cNvSpPr txBox="true"/>
          <p:nvPr/>
        </p:nvSpPr>
        <p:spPr>
          <a:xfrm rot="0">
            <a:off x="9139238" y="4652327"/>
            <a:ext cx="9525" cy="887095"/>
          </a:xfrm>
          <a:prstGeom prst="rect">
            <a:avLst/>
          </a:prstGeom>
        </p:spPr>
        <p:txBody>
          <a:bodyPr anchor="t" rtlCol="false" tIns="0" lIns="0" bIns="0" rIns="0">
            <a:spAutoFit/>
          </a:bodyPr>
          <a:lstStyle/>
          <a:p>
            <a:pPr algn="ctr">
              <a:lnSpc>
                <a:spcPts val="7279"/>
              </a:lnSpc>
            </a:pPr>
          </a:p>
        </p:txBody>
      </p:sp>
      <p:sp>
        <p:nvSpPr>
          <p:cNvPr name="TextBox 8" id="8"/>
          <p:cNvSpPr txBox="true"/>
          <p:nvPr/>
        </p:nvSpPr>
        <p:spPr>
          <a:xfrm rot="0">
            <a:off x="630764" y="2181881"/>
            <a:ext cx="17269023" cy="2537953"/>
          </a:xfrm>
          <a:prstGeom prst="rect">
            <a:avLst/>
          </a:prstGeom>
        </p:spPr>
        <p:txBody>
          <a:bodyPr anchor="t" rtlCol="false" tIns="0" lIns="0" bIns="0" rIns="0">
            <a:spAutoFit/>
          </a:bodyPr>
          <a:lstStyle/>
          <a:p>
            <a:pPr algn="l" marL="667429" indent="-333714" lvl="1">
              <a:lnSpc>
                <a:spcPts val="5100"/>
              </a:lnSpc>
              <a:buFont typeface="Arial"/>
              <a:buChar char="•"/>
            </a:pPr>
            <a:r>
              <a:rPr lang="en-US" sz="3091">
                <a:solidFill>
                  <a:srgbClr val="000000"/>
                </a:solidFill>
                <a:latin typeface="Open Sans"/>
                <a:ea typeface="Open Sans"/>
                <a:cs typeface="Open Sans"/>
                <a:sym typeface="Open Sans"/>
              </a:rPr>
              <a:t>The dash symbol present in some rows is interpreted as a string and not as an invalid or empty value. To standardize the data, we need to replace it with NaN (Not a Number), which is the standard representation for missing data.</a:t>
            </a:r>
          </a:p>
          <a:p>
            <a:pPr algn="l" marL="667429" indent="-333714" lvl="1">
              <a:lnSpc>
                <a:spcPts val="5100"/>
              </a:lnSpc>
              <a:buFont typeface="Arial"/>
              <a:buChar char="•"/>
            </a:pPr>
            <a:r>
              <a:rPr lang="en-US" sz="3091">
                <a:solidFill>
                  <a:srgbClr val="000000"/>
                </a:solidFill>
                <a:latin typeface="Open Sans"/>
                <a:ea typeface="Open Sans"/>
                <a:cs typeface="Open Sans"/>
                <a:sym typeface="Open Sans"/>
              </a:rPr>
              <a:t>Transforming the column from object type to float.</a:t>
            </a:r>
          </a:p>
        </p:txBody>
      </p:sp>
      <p:sp>
        <p:nvSpPr>
          <p:cNvPr name="TextBox 9" id="9"/>
          <p:cNvSpPr txBox="true"/>
          <p:nvPr/>
        </p:nvSpPr>
        <p:spPr>
          <a:xfrm rot="0">
            <a:off x="17259300" y="9220200"/>
            <a:ext cx="152400" cy="190500"/>
          </a:xfrm>
          <a:prstGeom prst="rect">
            <a:avLst/>
          </a:prstGeom>
        </p:spPr>
        <p:txBody>
          <a:bodyPr anchor="t" rtlCol="false" tIns="0" lIns="0" bIns="0" rIns="0" wrap="none">
            <a:spAutoFit/>
          </a:bodyPr>
          <a:lstStyle/>
          <a:p>
            <a:pPr algn="ctr">
              <a:lnSpc>
                <a:spcPts val="3359"/>
              </a:lnSpc>
              <a:spcBef>
                <a:spcPct val="0"/>
              </a:spcBef>
            </a:pPr>
            <a:r>
              <a:rPr lang="en-US" sz="2399">
                <a:solidFill>
                  <a:srgbClr val="0F4662"/>
                </a:solidFill>
                <a:latin typeface="Canva Sans"/>
                <a:ea typeface="Canva Sans"/>
                <a:cs typeface="Canva Sans"/>
                <a:sym typeface="Canva Sans"/>
              </a:rPr>
              <a:t>18</a:t>
            </a:r>
          </a:p>
        </p:txBody>
      </p:sp>
      <p:sp>
        <p:nvSpPr>
          <p:cNvPr name="TextBox 10" id="10"/>
          <p:cNvSpPr txBox="true"/>
          <p:nvPr/>
        </p:nvSpPr>
        <p:spPr>
          <a:xfrm rot="0">
            <a:off x="748642" y="57785"/>
            <a:ext cx="16857391" cy="1749425"/>
          </a:xfrm>
          <a:prstGeom prst="rect">
            <a:avLst/>
          </a:prstGeom>
        </p:spPr>
        <p:txBody>
          <a:bodyPr anchor="t" rtlCol="false" tIns="0" lIns="0" bIns="0" rIns="0">
            <a:spAutoFit/>
          </a:bodyPr>
          <a:lstStyle/>
          <a:p>
            <a:pPr algn="ctr">
              <a:lnSpc>
                <a:spcPts val="7000"/>
              </a:lnSpc>
            </a:pPr>
            <a:r>
              <a:rPr lang="en-US" sz="5000" u="sng">
                <a:solidFill>
                  <a:srgbClr val="0F4662"/>
                </a:solidFill>
                <a:latin typeface="Genty Sans"/>
                <a:ea typeface="Genty Sans"/>
                <a:cs typeface="Genty Sans"/>
                <a:sym typeface="Genty Sans"/>
              </a:rPr>
              <a:t>CONVERTING THE FUNDING_TOTAL_USD COLUMN </a:t>
            </a:r>
          </a:p>
          <a:p>
            <a:pPr algn="ctr">
              <a:lnSpc>
                <a:spcPts val="7000"/>
              </a:lnSpc>
            </a:pPr>
            <a:r>
              <a:rPr lang="en-US" sz="5000" u="sng">
                <a:solidFill>
                  <a:srgbClr val="0F4662"/>
                </a:solidFill>
                <a:latin typeface="Genty Sans"/>
                <a:ea typeface="Genty Sans"/>
                <a:cs typeface="Genty Sans"/>
                <a:sym typeface="Genty Sans"/>
              </a:rPr>
              <a:t>TO NUMERICAL FORMAT</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3960966" y="2925628"/>
            <a:ext cx="13396263" cy="2629017"/>
          </a:xfrm>
          <a:custGeom>
            <a:avLst/>
            <a:gdLst/>
            <a:ahLst/>
            <a:cxnLst/>
            <a:rect r="r" b="b" t="t" l="l"/>
            <a:pathLst>
              <a:path h="2629017" w="13396263">
                <a:moveTo>
                  <a:pt x="0" y="0"/>
                </a:moveTo>
                <a:lnTo>
                  <a:pt x="13396263" y="0"/>
                </a:lnTo>
                <a:lnTo>
                  <a:pt x="13396263" y="2629016"/>
                </a:lnTo>
                <a:lnTo>
                  <a:pt x="0" y="2629016"/>
                </a:lnTo>
                <a:lnTo>
                  <a:pt x="0" y="0"/>
                </a:lnTo>
                <a:close/>
              </a:path>
            </a:pathLst>
          </a:custGeom>
          <a:blipFill>
            <a:blip r:embed="rId2"/>
            <a:stretch>
              <a:fillRect l="0" t="0" r="0" b="0"/>
            </a:stretch>
          </a:blipFill>
        </p:spPr>
      </p:sp>
      <p:sp>
        <p:nvSpPr>
          <p:cNvPr name="Freeform 3" id="3"/>
          <p:cNvSpPr/>
          <p:nvPr/>
        </p:nvSpPr>
        <p:spPr>
          <a:xfrm flipH="false" flipV="false" rot="0">
            <a:off x="3960966" y="6079786"/>
            <a:ext cx="13396263" cy="2863451"/>
          </a:xfrm>
          <a:custGeom>
            <a:avLst/>
            <a:gdLst/>
            <a:ahLst/>
            <a:cxnLst/>
            <a:rect r="r" b="b" t="t" l="l"/>
            <a:pathLst>
              <a:path h="2863451" w="13396263">
                <a:moveTo>
                  <a:pt x="0" y="0"/>
                </a:moveTo>
                <a:lnTo>
                  <a:pt x="13396263" y="0"/>
                </a:lnTo>
                <a:lnTo>
                  <a:pt x="13396263" y="2863451"/>
                </a:lnTo>
                <a:lnTo>
                  <a:pt x="0" y="2863451"/>
                </a:lnTo>
                <a:lnTo>
                  <a:pt x="0" y="0"/>
                </a:lnTo>
                <a:close/>
              </a:path>
            </a:pathLst>
          </a:custGeom>
          <a:blipFill>
            <a:blip r:embed="rId3"/>
            <a:stretch>
              <a:fillRect l="0" t="0" r="0" b="0"/>
            </a:stretch>
          </a:blipFill>
        </p:spPr>
      </p:sp>
      <p:sp>
        <p:nvSpPr>
          <p:cNvPr name="TextBox 4" id="4"/>
          <p:cNvSpPr txBox="true"/>
          <p:nvPr/>
        </p:nvSpPr>
        <p:spPr>
          <a:xfrm rot="0">
            <a:off x="-1831288" y="3719436"/>
            <a:ext cx="8154897" cy="936625"/>
          </a:xfrm>
          <a:prstGeom prst="rect">
            <a:avLst/>
          </a:prstGeom>
        </p:spPr>
        <p:txBody>
          <a:bodyPr anchor="t" rtlCol="false" tIns="0" lIns="0" bIns="0" rIns="0">
            <a:spAutoFit/>
          </a:bodyPr>
          <a:lstStyle/>
          <a:p>
            <a:pPr algn="ctr">
              <a:lnSpc>
                <a:spcPts val="7699"/>
              </a:lnSpc>
            </a:pPr>
            <a:r>
              <a:rPr lang="en-US" sz="5499">
                <a:solidFill>
                  <a:srgbClr val="6F6D71"/>
                </a:solidFill>
                <a:latin typeface="Genty Sans"/>
                <a:ea typeface="Genty Sans"/>
                <a:cs typeface="Genty Sans"/>
                <a:sym typeface="Genty Sans"/>
              </a:rPr>
              <a:t>Before</a:t>
            </a:r>
          </a:p>
        </p:txBody>
      </p:sp>
      <p:sp>
        <p:nvSpPr>
          <p:cNvPr name="TextBox 5" id="5"/>
          <p:cNvSpPr txBox="true"/>
          <p:nvPr/>
        </p:nvSpPr>
        <p:spPr>
          <a:xfrm rot="0">
            <a:off x="9139238" y="4652327"/>
            <a:ext cx="9525" cy="887095"/>
          </a:xfrm>
          <a:prstGeom prst="rect">
            <a:avLst/>
          </a:prstGeom>
        </p:spPr>
        <p:txBody>
          <a:bodyPr anchor="t" rtlCol="false" tIns="0" lIns="0" bIns="0" rIns="0">
            <a:spAutoFit/>
          </a:bodyPr>
          <a:lstStyle/>
          <a:p>
            <a:pPr algn="ctr">
              <a:lnSpc>
                <a:spcPts val="7279"/>
              </a:lnSpc>
            </a:pPr>
          </a:p>
        </p:txBody>
      </p:sp>
      <p:sp>
        <p:nvSpPr>
          <p:cNvPr name="TextBox 6" id="6"/>
          <p:cNvSpPr txBox="true"/>
          <p:nvPr/>
        </p:nvSpPr>
        <p:spPr>
          <a:xfrm rot="0">
            <a:off x="9139238" y="4652327"/>
            <a:ext cx="9525" cy="887095"/>
          </a:xfrm>
          <a:prstGeom prst="rect">
            <a:avLst/>
          </a:prstGeom>
        </p:spPr>
        <p:txBody>
          <a:bodyPr anchor="t" rtlCol="false" tIns="0" lIns="0" bIns="0" rIns="0">
            <a:spAutoFit/>
          </a:bodyPr>
          <a:lstStyle/>
          <a:p>
            <a:pPr algn="ctr">
              <a:lnSpc>
                <a:spcPts val="7279"/>
              </a:lnSpc>
            </a:pPr>
          </a:p>
        </p:txBody>
      </p:sp>
      <p:sp>
        <p:nvSpPr>
          <p:cNvPr name="TextBox 7" id="7"/>
          <p:cNvSpPr txBox="true"/>
          <p:nvPr/>
        </p:nvSpPr>
        <p:spPr>
          <a:xfrm rot="0">
            <a:off x="-2057918" y="7245659"/>
            <a:ext cx="8154897" cy="936625"/>
          </a:xfrm>
          <a:prstGeom prst="rect">
            <a:avLst/>
          </a:prstGeom>
        </p:spPr>
        <p:txBody>
          <a:bodyPr anchor="t" rtlCol="false" tIns="0" lIns="0" bIns="0" rIns="0">
            <a:spAutoFit/>
          </a:bodyPr>
          <a:lstStyle/>
          <a:p>
            <a:pPr algn="ctr">
              <a:lnSpc>
                <a:spcPts val="7699"/>
              </a:lnSpc>
            </a:pPr>
            <a:r>
              <a:rPr lang="en-US" sz="5499">
                <a:solidFill>
                  <a:srgbClr val="6F6D71"/>
                </a:solidFill>
                <a:latin typeface="Genty Sans"/>
                <a:ea typeface="Genty Sans"/>
                <a:cs typeface="Genty Sans"/>
                <a:sym typeface="Genty Sans"/>
              </a:rPr>
              <a:t>After</a:t>
            </a:r>
          </a:p>
        </p:txBody>
      </p:sp>
      <p:sp>
        <p:nvSpPr>
          <p:cNvPr name="TextBox 8" id="8"/>
          <p:cNvSpPr txBox="true"/>
          <p:nvPr/>
        </p:nvSpPr>
        <p:spPr>
          <a:xfrm rot="0">
            <a:off x="17577458" y="9383382"/>
            <a:ext cx="152400" cy="190500"/>
          </a:xfrm>
          <a:prstGeom prst="rect">
            <a:avLst/>
          </a:prstGeom>
        </p:spPr>
        <p:txBody>
          <a:bodyPr anchor="t" rtlCol="false" tIns="0" lIns="0" bIns="0" rIns="0" wrap="none">
            <a:spAutoFit/>
          </a:bodyPr>
          <a:lstStyle/>
          <a:p>
            <a:pPr algn="ctr">
              <a:lnSpc>
                <a:spcPts val="3359"/>
              </a:lnSpc>
              <a:spcBef>
                <a:spcPct val="0"/>
              </a:spcBef>
            </a:pPr>
            <a:r>
              <a:rPr lang="en-US" sz="2399">
                <a:solidFill>
                  <a:srgbClr val="0F4662"/>
                </a:solidFill>
                <a:latin typeface="Canva Sans"/>
                <a:ea typeface="Canva Sans"/>
                <a:cs typeface="Canva Sans"/>
                <a:sym typeface="Canva Sans"/>
              </a:rPr>
              <a:t>19</a:t>
            </a:r>
          </a:p>
        </p:txBody>
      </p:sp>
      <p:grpSp>
        <p:nvGrpSpPr>
          <p:cNvPr name="Group 9" id="9"/>
          <p:cNvGrpSpPr/>
          <p:nvPr/>
        </p:nvGrpSpPr>
        <p:grpSpPr>
          <a:xfrm rot="0">
            <a:off x="0" y="0"/>
            <a:ext cx="18288000" cy="1907687"/>
            <a:chOff x="0" y="0"/>
            <a:chExt cx="4816593" cy="502436"/>
          </a:xfrm>
        </p:grpSpPr>
        <p:sp>
          <p:nvSpPr>
            <p:cNvPr name="Freeform 10" id="10"/>
            <p:cNvSpPr/>
            <p:nvPr/>
          </p:nvSpPr>
          <p:spPr>
            <a:xfrm flipH="false" flipV="false" rot="0">
              <a:off x="0" y="0"/>
              <a:ext cx="4816592" cy="502436"/>
            </a:xfrm>
            <a:custGeom>
              <a:avLst/>
              <a:gdLst/>
              <a:ahLst/>
              <a:cxnLst/>
              <a:rect r="r" b="b" t="t" l="l"/>
              <a:pathLst>
                <a:path h="502436" w="4816592">
                  <a:moveTo>
                    <a:pt x="0" y="0"/>
                  </a:moveTo>
                  <a:lnTo>
                    <a:pt x="4816592" y="0"/>
                  </a:lnTo>
                  <a:lnTo>
                    <a:pt x="4816592" y="502436"/>
                  </a:lnTo>
                  <a:lnTo>
                    <a:pt x="0" y="502436"/>
                  </a:lnTo>
                  <a:close/>
                </a:path>
              </a:pathLst>
            </a:custGeom>
            <a:solidFill>
              <a:srgbClr val="DBE5EA"/>
            </a:solidFill>
          </p:spPr>
        </p:sp>
        <p:sp>
          <p:nvSpPr>
            <p:cNvPr name="TextBox 11" id="11"/>
            <p:cNvSpPr txBox="true"/>
            <p:nvPr/>
          </p:nvSpPr>
          <p:spPr>
            <a:xfrm>
              <a:off x="0" y="-47625"/>
              <a:ext cx="4816593" cy="550061"/>
            </a:xfrm>
            <a:prstGeom prst="rect">
              <a:avLst/>
            </a:prstGeom>
          </p:spPr>
          <p:txBody>
            <a:bodyPr anchor="ctr" rtlCol="false" tIns="50800" lIns="50800" bIns="50800" rIns="50800"/>
            <a:lstStyle/>
            <a:p>
              <a:pPr algn="ctr">
                <a:lnSpc>
                  <a:spcPts val="3693"/>
                </a:lnSpc>
              </a:pPr>
            </a:p>
          </p:txBody>
        </p:sp>
      </p:grpSp>
      <p:sp>
        <p:nvSpPr>
          <p:cNvPr name="TextBox 12" id="12"/>
          <p:cNvSpPr txBox="true"/>
          <p:nvPr/>
        </p:nvSpPr>
        <p:spPr>
          <a:xfrm rot="0">
            <a:off x="720067" y="57785"/>
            <a:ext cx="16857391" cy="1749425"/>
          </a:xfrm>
          <a:prstGeom prst="rect">
            <a:avLst/>
          </a:prstGeom>
        </p:spPr>
        <p:txBody>
          <a:bodyPr anchor="t" rtlCol="false" tIns="0" lIns="0" bIns="0" rIns="0">
            <a:spAutoFit/>
          </a:bodyPr>
          <a:lstStyle/>
          <a:p>
            <a:pPr algn="ctr">
              <a:lnSpc>
                <a:spcPts val="7000"/>
              </a:lnSpc>
            </a:pPr>
            <a:r>
              <a:rPr lang="en-US" sz="5000" u="sng">
                <a:solidFill>
                  <a:srgbClr val="0F4662"/>
                </a:solidFill>
                <a:latin typeface="Genty Sans"/>
                <a:ea typeface="Genty Sans"/>
                <a:cs typeface="Genty Sans"/>
                <a:sym typeface="Genty Sans"/>
              </a:rPr>
              <a:t>CONVERTING THE FUNDING_TOTAL_USD COLUMN </a:t>
            </a:r>
          </a:p>
          <a:p>
            <a:pPr algn="ctr">
              <a:lnSpc>
                <a:spcPts val="7000"/>
              </a:lnSpc>
            </a:pPr>
            <a:r>
              <a:rPr lang="en-US" sz="5000" u="sng">
                <a:solidFill>
                  <a:srgbClr val="0F4662"/>
                </a:solidFill>
                <a:latin typeface="Genty Sans"/>
                <a:ea typeface="Genty Sans"/>
                <a:cs typeface="Genty Sans"/>
                <a:sym typeface="Genty Sans"/>
              </a:rPr>
              <a:t>TO NUMERICAL FORMAT</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907687"/>
            <a:chOff x="0" y="0"/>
            <a:chExt cx="4816593" cy="502436"/>
          </a:xfrm>
        </p:grpSpPr>
        <p:sp>
          <p:nvSpPr>
            <p:cNvPr name="Freeform 3" id="3"/>
            <p:cNvSpPr/>
            <p:nvPr/>
          </p:nvSpPr>
          <p:spPr>
            <a:xfrm flipH="false" flipV="false" rot="0">
              <a:off x="0" y="0"/>
              <a:ext cx="4816592" cy="502436"/>
            </a:xfrm>
            <a:custGeom>
              <a:avLst/>
              <a:gdLst/>
              <a:ahLst/>
              <a:cxnLst/>
              <a:rect r="r" b="b" t="t" l="l"/>
              <a:pathLst>
                <a:path h="502436" w="4816592">
                  <a:moveTo>
                    <a:pt x="0" y="0"/>
                  </a:moveTo>
                  <a:lnTo>
                    <a:pt x="4816592" y="0"/>
                  </a:lnTo>
                  <a:lnTo>
                    <a:pt x="4816592" y="502436"/>
                  </a:lnTo>
                  <a:lnTo>
                    <a:pt x="0" y="502436"/>
                  </a:lnTo>
                  <a:close/>
                </a:path>
              </a:pathLst>
            </a:custGeom>
            <a:solidFill>
              <a:srgbClr val="DBE5EA"/>
            </a:solidFill>
          </p:spPr>
        </p:sp>
        <p:sp>
          <p:nvSpPr>
            <p:cNvPr name="TextBox 4" id="4"/>
            <p:cNvSpPr txBox="true"/>
            <p:nvPr/>
          </p:nvSpPr>
          <p:spPr>
            <a:xfrm>
              <a:off x="0" y="-47625"/>
              <a:ext cx="4816593" cy="550061"/>
            </a:xfrm>
            <a:prstGeom prst="rect">
              <a:avLst/>
            </a:prstGeom>
          </p:spPr>
          <p:txBody>
            <a:bodyPr anchor="ctr" rtlCol="false" tIns="50800" lIns="50800" bIns="50800" rIns="50800"/>
            <a:lstStyle/>
            <a:p>
              <a:pPr algn="ctr">
                <a:lnSpc>
                  <a:spcPts val="3693"/>
                </a:lnSpc>
              </a:pPr>
            </a:p>
          </p:txBody>
        </p:sp>
      </p:grpSp>
      <p:sp>
        <p:nvSpPr>
          <p:cNvPr name="Freeform 5" id="5"/>
          <p:cNvSpPr/>
          <p:nvPr/>
        </p:nvSpPr>
        <p:spPr>
          <a:xfrm flipH="false" flipV="false" rot="0">
            <a:off x="698285" y="5953735"/>
            <a:ext cx="16881905" cy="1460233"/>
          </a:xfrm>
          <a:custGeom>
            <a:avLst/>
            <a:gdLst/>
            <a:ahLst/>
            <a:cxnLst/>
            <a:rect r="r" b="b" t="t" l="l"/>
            <a:pathLst>
              <a:path h="1460233" w="16881905">
                <a:moveTo>
                  <a:pt x="0" y="0"/>
                </a:moveTo>
                <a:lnTo>
                  <a:pt x="16881905" y="0"/>
                </a:lnTo>
                <a:lnTo>
                  <a:pt x="16881905" y="1460233"/>
                </a:lnTo>
                <a:lnTo>
                  <a:pt x="0" y="1460233"/>
                </a:lnTo>
                <a:lnTo>
                  <a:pt x="0" y="0"/>
                </a:lnTo>
                <a:close/>
              </a:path>
            </a:pathLst>
          </a:custGeom>
          <a:blipFill>
            <a:blip r:embed="rId2"/>
            <a:stretch>
              <a:fillRect l="0" t="0" r="0" b="-48849"/>
            </a:stretch>
          </a:blipFill>
        </p:spPr>
      </p:sp>
      <p:sp>
        <p:nvSpPr>
          <p:cNvPr name="TextBox 6" id="6"/>
          <p:cNvSpPr txBox="true"/>
          <p:nvPr/>
        </p:nvSpPr>
        <p:spPr>
          <a:xfrm rot="0">
            <a:off x="9139238" y="4652327"/>
            <a:ext cx="9525" cy="887095"/>
          </a:xfrm>
          <a:prstGeom prst="rect">
            <a:avLst/>
          </a:prstGeom>
        </p:spPr>
        <p:txBody>
          <a:bodyPr anchor="t" rtlCol="false" tIns="0" lIns="0" bIns="0" rIns="0">
            <a:spAutoFit/>
          </a:bodyPr>
          <a:lstStyle/>
          <a:p>
            <a:pPr algn="ctr">
              <a:lnSpc>
                <a:spcPts val="7279"/>
              </a:lnSpc>
            </a:pPr>
          </a:p>
        </p:txBody>
      </p:sp>
      <p:sp>
        <p:nvSpPr>
          <p:cNvPr name="TextBox 7" id="7"/>
          <p:cNvSpPr txBox="true"/>
          <p:nvPr/>
        </p:nvSpPr>
        <p:spPr>
          <a:xfrm rot="0">
            <a:off x="9139238" y="4652327"/>
            <a:ext cx="9525" cy="887095"/>
          </a:xfrm>
          <a:prstGeom prst="rect">
            <a:avLst/>
          </a:prstGeom>
        </p:spPr>
        <p:txBody>
          <a:bodyPr anchor="t" rtlCol="false" tIns="0" lIns="0" bIns="0" rIns="0">
            <a:spAutoFit/>
          </a:bodyPr>
          <a:lstStyle/>
          <a:p>
            <a:pPr algn="ctr">
              <a:lnSpc>
                <a:spcPts val="7279"/>
              </a:lnSpc>
            </a:pPr>
          </a:p>
        </p:txBody>
      </p:sp>
      <p:sp>
        <p:nvSpPr>
          <p:cNvPr name="TextBox 8" id="8"/>
          <p:cNvSpPr txBox="true"/>
          <p:nvPr/>
        </p:nvSpPr>
        <p:spPr>
          <a:xfrm rot="0">
            <a:off x="419398" y="3105408"/>
            <a:ext cx="17439680" cy="1232594"/>
          </a:xfrm>
          <a:prstGeom prst="rect">
            <a:avLst/>
          </a:prstGeom>
        </p:spPr>
        <p:txBody>
          <a:bodyPr anchor="t" rtlCol="false" tIns="0" lIns="0" bIns="0" rIns="0">
            <a:spAutoFit/>
          </a:bodyPr>
          <a:lstStyle/>
          <a:p>
            <a:pPr algn="l" marL="678302" indent="-339151" lvl="1">
              <a:lnSpc>
                <a:spcPts val="5089"/>
              </a:lnSpc>
              <a:buAutoNum type="arabicPeriod" startAt="1"/>
            </a:pPr>
            <a:r>
              <a:rPr lang="en-US" sz="3141">
                <a:solidFill>
                  <a:srgbClr val="000000"/>
                </a:solidFill>
                <a:latin typeface="Open Sans"/>
                <a:ea typeface="Open Sans"/>
                <a:cs typeface="Open Sans"/>
                <a:sym typeface="Open Sans"/>
              </a:rPr>
              <a:t>Grouping data by funding_rounds and calculate the mean funding amount for each group.</a:t>
            </a:r>
          </a:p>
          <a:p>
            <a:pPr algn="l" marL="678302" indent="-339151" lvl="1">
              <a:lnSpc>
                <a:spcPts val="5089"/>
              </a:lnSpc>
              <a:buAutoNum type="arabicPeriod" startAt="1"/>
            </a:pPr>
            <a:r>
              <a:rPr lang="en-US" sz="3141">
                <a:solidFill>
                  <a:srgbClr val="000000"/>
                </a:solidFill>
                <a:latin typeface="Open Sans"/>
                <a:ea typeface="Open Sans"/>
                <a:cs typeface="Open Sans"/>
                <a:sym typeface="Open Sans"/>
              </a:rPr>
              <a:t>Replacing missing values with the mean of their respective group.</a:t>
            </a:r>
          </a:p>
        </p:txBody>
      </p:sp>
      <p:sp>
        <p:nvSpPr>
          <p:cNvPr name="TextBox 9" id="9"/>
          <p:cNvSpPr txBox="true"/>
          <p:nvPr/>
        </p:nvSpPr>
        <p:spPr>
          <a:xfrm rot="0">
            <a:off x="504402" y="564758"/>
            <a:ext cx="17783598" cy="823109"/>
          </a:xfrm>
          <a:prstGeom prst="rect">
            <a:avLst/>
          </a:prstGeom>
        </p:spPr>
        <p:txBody>
          <a:bodyPr anchor="t" rtlCol="false" tIns="0" lIns="0" bIns="0" rIns="0">
            <a:spAutoFit/>
          </a:bodyPr>
          <a:lstStyle/>
          <a:p>
            <a:pPr algn="l">
              <a:lnSpc>
                <a:spcPts val="6606"/>
              </a:lnSpc>
            </a:pPr>
            <a:r>
              <a:rPr lang="en-US" sz="4719" u="sng">
                <a:solidFill>
                  <a:srgbClr val="0F4662"/>
                </a:solidFill>
                <a:latin typeface="Genty Sans"/>
                <a:ea typeface="Genty Sans"/>
                <a:cs typeface="Genty Sans"/>
                <a:sym typeface="Genty Sans"/>
              </a:rPr>
              <a:t>FILLING MISSING DATA IN THE FUNDING_TOTAL_USD COLUMN</a:t>
            </a:r>
          </a:p>
        </p:txBody>
      </p:sp>
      <p:sp>
        <p:nvSpPr>
          <p:cNvPr name="TextBox 10" id="10"/>
          <p:cNvSpPr txBox="true"/>
          <p:nvPr/>
        </p:nvSpPr>
        <p:spPr>
          <a:xfrm rot="0">
            <a:off x="17259300" y="9220200"/>
            <a:ext cx="152400" cy="190500"/>
          </a:xfrm>
          <a:prstGeom prst="rect">
            <a:avLst/>
          </a:prstGeom>
        </p:spPr>
        <p:txBody>
          <a:bodyPr anchor="t" rtlCol="false" tIns="0" lIns="0" bIns="0" rIns="0" wrap="none">
            <a:spAutoFit/>
          </a:bodyPr>
          <a:lstStyle/>
          <a:p>
            <a:pPr algn="ctr">
              <a:lnSpc>
                <a:spcPts val="3359"/>
              </a:lnSpc>
              <a:spcBef>
                <a:spcPct val="0"/>
              </a:spcBef>
            </a:pPr>
            <a:r>
              <a:rPr lang="en-US" sz="2399">
                <a:solidFill>
                  <a:srgbClr val="0F4662"/>
                </a:solidFill>
                <a:latin typeface="Canva Sans"/>
                <a:ea typeface="Canva Sans"/>
                <a:cs typeface="Canva Sans"/>
                <a:sym typeface="Canva Sans"/>
              </a:rPr>
              <a:t>20</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3247687" y="3070334"/>
            <a:ext cx="14752296" cy="2563211"/>
          </a:xfrm>
          <a:custGeom>
            <a:avLst/>
            <a:gdLst/>
            <a:ahLst/>
            <a:cxnLst/>
            <a:rect r="r" b="b" t="t" l="l"/>
            <a:pathLst>
              <a:path h="2563211" w="14752296">
                <a:moveTo>
                  <a:pt x="0" y="0"/>
                </a:moveTo>
                <a:lnTo>
                  <a:pt x="14752296" y="0"/>
                </a:lnTo>
                <a:lnTo>
                  <a:pt x="14752296" y="2563212"/>
                </a:lnTo>
                <a:lnTo>
                  <a:pt x="0" y="2563212"/>
                </a:lnTo>
                <a:lnTo>
                  <a:pt x="0" y="0"/>
                </a:lnTo>
                <a:close/>
              </a:path>
            </a:pathLst>
          </a:custGeom>
          <a:blipFill>
            <a:blip r:embed="rId2"/>
            <a:stretch>
              <a:fillRect l="0" t="0" r="0" b="0"/>
            </a:stretch>
          </a:blipFill>
        </p:spPr>
      </p:sp>
      <p:sp>
        <p:nvSpPr>
          <p:cNvPr name="Freeform 3" id="3"/>
          <p:cNvSpPr/>
          <p:nvPr/>
        </p:nvSpPr>
        <p:spPr>
          <a:xfrm flipH="false" flipV="false" rot="0">
            <a:off x="3247687" y="6177678"/>
            <a:ext cx="14752296" cy="2636973"/>
          </a:xfrm>
          <a:custGeom>
            <a:avLst/>
            <a:gdLst/>
            <a:ahLst/>
            <a:cxnLst/>
            <a:rect r="r" b="b" t="t" l="l"/>
            <a:pathLst>
              <a:path h="2636973" w="14752296">
                <a:moveTo>
                  <a:pt x="0" y="0"/>
                </a:moveTo>
                <a:lnTo>
                  <a:pt x="14752296" y="0"/>
                </a:lnTo>
                <a:lnTo>
                  <a:pt x="14752296" y="2636973"/>
                </a:lnTo>
                <a:lnTo>
                  <a:pt x="0" y="2636973"/>
                </a:lnTo>
                <a:lnTo>
                  <a:pt x="0" y="0"/>
                </a:lnTo>
                <a:close/>
              </a:path>
            </a:pathLst>
          </a:custGeom>
          <a:blipFill>
            <a:blip r:embed="rId3"/>
            <a:stretch>
              <a:fillRect l="0" t="0" r="0" b="0"/>
            </a:stretch>
          </a:blipFill>
        </p:spPr>
      </p:sp>
      <p:sp>
        <p:nvSpPr>
          <p:cNvPr name="TextBox 4" id="4"/>
          <p:cNvSpPr txBox="true"/>
          <p:nvPr/>
        </p:nvSpPr>
        <p:spPr>
          <a:xfrm rot="0">
            <a:off x="-2557969" y="3810280"/>
            <a:ext cx="8379094" cy="969020"/>
          </a:xfrm>
          <a:prstGeom prst="rect">
            <a:avLst/>
          </a:prstGeom>
        </p:spPr>
        <p:txBody>
          <a:bodyPr anchor="t" rtlCol="false" tIns="0" lIns="0" bIns="0" rIns="0">
            <a:spAutoFit/>
          </a:bodyPr>
          <a:lstStyle/>
          <a:p>
            <a:pPr algn="ctr">
              <a:lnSpc>
                <a:spcPts val="7911"/>
              </a:lnSpc>
            </a:pPr>
            <a:r>
              <a:rPr lang="en-US" sz="5651">
                <a:solidFill>
                  <a:srgbClr val="6F6D71"/>
                </a:solidFill>
                <a:latin typeface="Genty Sans"/>
                <a:ea typeface="Genty Sans"/>
                <a:cs typeface="Genty Sans"/>
                <a:sym typeface="Genty Sans"/>
              </a:rPr>
              <a:t>Before</a:t>
            </a:r>
          </a:p>
        </p:txBody>
      </p:sp>
      <p:sp>
        <p:nvSpPr>
          <p:cNvPr name="TextBox 5" id="5"/>
          <p:cNvSpPr txBox="true"/>
          <p:nvPr/>
        </p:nvSpPr>
        <p:spPr>
          <a:xfrm rot="0">
            <a:off x="9489998" y="4975208"/>
            <a:ext cx="9787" cy="908865"/>
          </a:xfrm>
          <a:prstGeom prst="rect">
            <a:avLst/>
          </a:prstGeom>
        </p:spPr>
        <p:txBody>
          <a:bodyPr anchor="t" rtlCol="false" tIns="0" lIns="0" bIns="0" rIns="0">
            <a:spAutoFit/>
          </a:bodyPr>
          <a:lstStyle/>
          <a:p>
            <a:pPr algn="ctr">
              <a:lnSpc>
                <a:spcPts val="7480"/>
              </a:lnSpc>
            </a:pPr>
          </a:p>
        </p:txBody>
      </p:sp>
      <p:sp>
        <p:nvSpPr>
          <p:cNvPr name="TextBox 6" id="6"/>
          <p:cNvSpPr txBox="true"/>
          <p:nvPr/>
        </p:nvSpPr>
        <p:spPr>
          <a:xfrm rot="0">
            <a:off x="9489998" y="4975208"/>
            <a:ext cx="9787" cy="908865"/>
          </a:xfrm>
          <a:prstGeom prst="rect">
            <a:avLst/>
          </a:prstGeom>
        </p:spPr>
        <p:txBody>
          <a:bodyPr anchor="t" rtlCol="false" tIns="0" lIns="0" bIns="0" rIns="0">
            <a:spAutoFit/>
          </a:bodyPr>
          <a:lstStyle/>
          <a:p>
            <a:pPr algn="ctr">
              <a:lnSpc>
                <a:spcPts val="7480"/>
              </a:lnSpc>
            </a:pPr>
          </a:p>
        </p:txBody>
      </p:sp>
      <p:sp>
        <p:nvSpPr>
          <p:cNvPr name="TextBox 7" id="7"/>
          <p:cNvSpPr txBox="true"/>
          <p:nvPr/>
        </p:nvSpPr>
        <p:spPr>
          <a:xfrm rot="0">
            <a:off x="-2557969" y="6954505"/>
            <a:ext cx="8379094" cy="969020"/>
          </a:xfrm>
          <a:prstGeom prst="rect">
            <a:avLst/>
          </a:prstGeom>
        </p:spPr>
        <p:txBody>
          <a:bodyPr anchor="t" rtlCol="false" tIns="0" lIns="0" bIns="0" rIns="0">
            <a:spAutoFit/>
          </a:bodyPr>
          <a:lstStyle/>
          <a:p>
            <a:pPr algn="ctr">
              <a:lnSpc>
                <a:spcPts val="7911"/>
              </a:lnSpc>
            </a:pPr>
            <a:r>
              <a:rPr lang="en-US" sz="5651">
                <a:solidFill>
                  <a:srgbClr val="6F6D71"/>
                </a:solidFill>
                <a:latin typeface="Genty Sans"/>
                <a:ea typeface="Genty Sans"/>
                <a:cs typeface="Genty Sans"/>
                <a:sym typeface="Genty Sans"/>
              </a:rPr>
              <a:t>After</a:t>
            </a:r>
          </a:p>
        </p:txBody>
      </p:sp>
      <p:sp>
        <p:nvSpPr>
          <p:cNvPr name="TextBox 8" id="8"/>
          <p:cNvSpPr txBox="true"/>
          <p:nvPr/>
        </p:nvSpPr>
        <p:spPr>
          <a:xfrm rot="0">
            <a:off x="17259300" y="9220200"/>
            <a:ext cx="152400" cy="190500"/>
          </a:xfrm>
          <a:prstGeom prst="rect">
            <a:avLst/>
          </a:prstGeom>
        </p:spPr>
        <p:txBody>
          <a:bodyPr anchor="t" rtlCol="false" tIns="0" lIns="0" bIns="0" rIns="0" wrap="none">
            <a:spAutoFit/>
          </a:bodyPr>
          <a:lstStyle/>
          <a:p>
            <a:pPr algn="ctr">
              <a:lnSpc>
                <a:spcPts val="3359"/>
              </a:lnSpc>
              <a:spcBef>
                <a:spcPct val="0"/>
              </a:spcBef>
            </a:pPr>
            <a:r>
              <a:rPr lang="en-US" sz="2399">
                <a:solidFill>
                  <a:srgbClr val="0F4662"/>
                </a:solidFill>
                <a:latin typeface="Canva Sans"/>
                <a:ea typeface="Canva Sans"/>
                <a:cs typeface="Canva Sans"/>
                <a:sym typeface="Canva Sans"/>
              </a:rPr>
              <a:t>21</a:t>
            </a:r>
          </a:p>
        </p:txBody>
      </p:sp>
      <p:grpSp>
        <p:nvGrpSpPr>
          <p:cNvPr name="Group 9" id="9"/>
          <p:cNvGrpSpPr/>
          <p:nvPr/>
        </p:nvGrpSpPr>
        <p:grpSpPr>
          <a:xfrm rot="0">
            <a:off x="0" y="0"/>
            <a:ext cx="18288000" cy="1907687"/>
            <a:chOff x="0" y="0"/>
            <a:chExt cx="4816593" cy="502436"/>
          </a:xfrm>
        </p:grpSpPr>
        <p:sp>
          <p:nvSpPr>
            <p:cNvPr name="Freeform 10" id="10"/>
            <p:cNvSpPr/>
            <p:nvPr/>
          </p:nvSpPr>
          <p:spPr>
            <a:xfrm flipH="false" flipV="false" rot="0">
              <a:off x="0" y="0"/>
              <a:ext cx="4816592" cy="502436"/>
            </a:xfrm>
            <a:custGeom>
              <a:avLst/>
              <a:gdLst/>
              <a:ahLst/>
              <a:cxnLst/>
              <a:rect r="r" b="b" t="t" l="l"/>
              <a:pathLst>
                <a:path h="502436" w="4816592">
                  <a:moveTo>
                    <a:pt x="0" y="0"/>
                  </a:moveTo>
                  <a:lnTo>
                    <a:pt x="4816592" y="0"/>
                  </a:lnTo>
                  <a:lnTo>
                    <a:pt x="4816592" y="502436"/>
                  </a:lnTo>
                  <a:lnTo>
                    <a:pt x="0" y="502436"/>
                  </a:lnTo>
                  <a:close/>
                </a:path>
              </a:pathLst>
            </a:custGeom>
            <a:solidFill>
              <a:srgbClr val="DBE5EA"/>
            </a:solidFill>
          </p:spPr>
        </p:sp>
        <p:sp>
          <p:nvSpPr>
            <p:cNvPr name="TextBox 11" id="11"/>
            <p:cNvSpPr txBox="true"/>
            <p:nvPr/>
          </p:nvSpPr>
          <p:spPr>
            <a:xfrm>
              <a:off x="0" y="-47625"/>
              <a:ext cx="4816593" cy="550061"/>
            </a:xfrm>
            <a:prstGeom prst="rect">
              <a:avLst/>
            </a:prstGeom>
          </p:spPr>
          <p:txBody>
            <a:bodyPr anchor="ctr" rtlCol="false" tIns="50800" lIns="50800" bIns="50800" rIns="50800"/>
            <a:lstStyle/>
            <a:p>
              <a:pPr algn="ctr">
                <a:lnSpc>
                  <a:spcPts val="3693"/>
                </a:lnSpc>
              </a:pPr>
            </a:p>
          </p:txBody>
        </p:sp>
      </p:grpSp>
      <p:sp>
        <p:nvSpPr>
          <p:cNvPr name="TextBox 12" id="12"/>
          <p:cNvSpPr txBox="true"/>
          <p:nvPr/>
        </p:nvSpPr>
        <p:spPr>
          <a:xfrm rot="0">
            <a:off x="504402" y="564758"/>
            <a:ext cx="17783598" cy="823109"/>
          </a:xfrm>
          <a:prstGeom prst="rect">
            <a:avLst/>
          </a:prstGeom>
        </p:spPr>
        <p:txBody>
          <a:bodyPr anchor="t" rtlCol="false" tIns="0" lIns="0" bIns="0" rIns="0">
            <a:spAutoFit/>
          </a:bodyPr>
          <a:lstStyle/>
          <a:p>
            <a:pPr algn="l">
              <a:lnSpc>
                <a:spcPts val="6606"/>
              </a:lnSpc>
            </a:pPr>
            <a:r>
              <a:rPr lang="en-US" sz="4719" u="sng">
                <a:solidFill>
                  <a:srgbClr val="0F4662"/>
                </a:solidFill>
                <a:latin typeface="Genty Sans"/>
                <a:ea typeface="Genty Sans"/>
                <a:cs typeface="Genty Sans"/>
                <a:sym typeface="Genty Sans"/>
              </a:rPr>
              <a:t>FILLING MISSING DATA IN THE FUNDING_TOTAL_USD COLUMN</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1216240" y="5767498"/>
            <a:ext cx="15855520" cy="2358509"/>
          </a:xfrm>
          <a:custGeom>
            <a:avLst/>
            <a:gdLst/>
            <a:ahLst/>
            <a:cxnLst/>
            <a:rect r="r" b="b" t="t" l="l"/>
            <a:pathLst>
              <a:path h="2358509" w="15855520">
                <a:moveTo>
                  <a:pt x="0" y="0"/>
                </a:moveTo>
                <a:lnTo>
                  <a:pt x="15855520" y="0"/>
                </a:lnTo>
                <a:lnTo>
                  <a:pt x="15855520" y="2358509"/>
                </a:lnTo>
                <a:lnTo>
                  <a:pt x="0" y="2358509"/>
                </a:lnTo>
                <a:lnTo>
                  <a:pt x="0" y="0"/>
                </a:lnTo>
                <a:close/>
              </a:path>
            </a:pathLst>
          </a:custGeom>
          <a:blipFill>
            <a:blip r:embed="rId2"/>
            <a:stretch>
              <a:fillRect l="0" t="0" r="0" b="0"/>
            </a:stretch>
          </a:blipFill>
        </p:spPr>
      </p:sp>
      <p:sp>
        <p:nvSpPr>
          <p:cNvPr name="TextBox 3" id="3"/>
          <p:cNvSpPr txBox="true"/>
          <p:nvPr/>
        </p:nvSpPr>
        <p:spPr>
          <a:xfrm rot="0">
            <a:off x="17259300" y="9220200"/>
            <a:ext cx="152400" cy="190500"/>
          </a:xfrm>
          <a:prstGeom prst="rect">
            <a:avLst/>
          </a:prstGeom>
        </p:spPr>
        <p:txBody>
          <a:bodyPr anchor="t" rtlCol="false" tIns="0" lIns="0" bIns="0" rIns="0" wrap="none">
            <a:spAutoFit/>
          </a:bodyPr>
          <a:lstStyle/>
          <a:p>
            <a:pPr algn="ctr">
              <a:lnSpc>
                <a:spcPts val="3359"/>
              </a:lnSpc>
              <a:spcBef>
                <a:spcPct val="0"/>
              </a:spcBef>
            </a:pPr>
            <a:r>
              <a:rPr lang="en-US" sz="2399">
                <a:solidFill>
                  <a:srgbClr val="0F4662"/>
                </a:solidFill>
                <a:latin typeface="Canva Sans"/>
                <a:ea typeface="Canva Sans"/>
                <a:cs typeface="Canva Sans"/>
                <a:sym typeface="Canva Sans"/>
              </a:rPr>
              <a:t>22</a:t>
            </a:r>
          </a:p>
        </p:txBody>
      </p:sp>
      <p:grpSp>
        <p:nvGrpSpPr>
          <p:cNvPr name="Group 4" id="4"/>
          <p:cNvGrpSpPr/>
          <p:nvPr/>
        </p:nvGrpSpPr>
        <p:grpSpPr>
          <a:xfrm rot="0">
            <a:off x="0" y="0"/>
            <a:ext cx="18288000" cy="1907687"/>
            <a:chOff x="0" y="0"/>
            <a:chExt cx="4816593" cy="502436"/>
          </a:xfrm>
        </p:grpSpPr>
        <p:sp>
          <p:nvSpPr>
            <p:cNvPr name="Freeform 5" id="5"/>
            <p:cNvSpPr/>
            <p:nvPr/>
          </p:nvSpPr>
          <p:spPr>
            <a:xfrm flipH="false" flipV="false" rot="0">
              <a:off x="0" y="0"/>
              <a:ext cx="4816592" cy="502436"/>
            </a:xfrm>
            <a:custGeom>
              <a:avLst/>
              <a:gdLst/>
              <a:ahLst/>
              <a:cxnLst/>
              <a:rect r="r" b="b" t="t" l="l"/>
              <a:pathLst>
                <a:path h="502436" w="4816592">
                  <a:moveTo>
                    <a:pt x="0" y="0"/>
                  </a:moveTo>
                  <a:lnTo>
                    <a:pt x="4816592" y="0"/>
                  </a:lnTo>
                  <a:lnTo>
                    <a:pt x="4816592" y="502436"/>
                  </a:lnTo>
                  <a:lnTo>
                    <a:pt x="0" y="502436"/>
                  </a:lnTo>
                  <a:close/>
                </a:path>
              </a:pathLst>
            </a:custGeom>
            <a:solidFill>
              <a:srgbClr val="DBE5EA"/>
            </a:solidFill>
          </p:spPr>
        </p:sp>
        <p:sp>
          <p:nvSpPr>
            <p:cNvPr name="TextBox 6" id="6"/>
            <p:cNvSpPr txBox="true"/>
            <p:nvPr/>
          </p:nvSpPr>
          <p:spPr>
            <a:xfrm>
              <a:off x="0" y="-47625"/>
              <a:ext cx="4816593" cy="550061"/>
            </a:xfrm>
            <a:prstGeom prst="rect">
              <a:avLst/>
            </a:prstGeom>
          </p:spPr>
          <p:txBody>
            <a:bodyPr anchor="ctr" rtlCol="false" tIns="50800" lIns="50800" bIns="50800" rIns="50800"/>
            <a:lstStyle/>
            <a:p>
              <a:pPr algn="ctr">
                <a:lnSpc>
                  <a:spcPts val="3693"/>
                </a:lnSpc>
              </a:pPr>
            </a:p>
          </p:txBody>
        </p:sp>
      </p:grpSp>
      <p:sp>
        <p:nvSpPr>
          <p:cNvPr name="TextBox 7" id="7"/>
          <p:cNvSpPr txBox="true"/>
          <p:nvPr/>
        </p:nvSpPr>
        <p:spPr>
          <a:xfrm rot="0">
            <a:off x="1389689" y="390598"/>
            <a:ext cx="15869611" cy="1012191"/>
          </a:xfrm>
          <a:prstGeom prst="rect">
            <a:avLst/>
          </a:prstGeom>
        </p:spPr>
        <p:txBody>
          <a:bodyPr anchor="t" rtlCol="false" tIns="0" lIns="0" bIns="0" rIns="0">
            <a:spAutoFit/>
          </a:bodyPr>
          <a:lstStyle/>
          <a:p>
            <a:pPr algn="l">
              <a:lnSpc>
                <a:spcPts val="8259"/>
              </a:lnSpc>
            </a:pPr>
            <a:r>
              <a:rPr lang="en-US" sz="5899" u="sng">
                <a:solidFill>
                  <a:srgbClr val="0F4662"/>
                </a:solidFill>
                <a:latin typeface="Genty Sans"/>
                <a:ea typeface="Genty Sans"/>
                <a:cs typeface="Genty Sans"/>
                <a:sym typeface="Genty Sans"/>
              </a:rPr>
              <a:t>SCALING THE FUNDING_TOTAL_USD COLUMN</a:t>
            </a:r>
          </a:p>
        </p:txBody>
      </p:sp>
      <p:sp>
        <p:nvSpPr>
          <p:cNvPr name="TextBox 8" id="8"/>
          <p:cNvSpPr txBox="true"/>
          <p:nvPr/>
        </p:nvSpPr>
        <p:spPr>
          <a:xfrm rot="0">
            <a:off x="1028700" y="2430148"/>
            <a:ext cx="16395323" cy="2344930"/>
          </a:xfrm>
          <a:prstGeom prst="rect">
            <a:avLst/>
          </a:prstGeom>
        </p:spPr>
        <p:txBody>
          <a:bodyPr anchor="t" rtlCol="false" tIns="0" lIns="0" bIns="0" rIns="0">
            <a:spAutoFit/>
          </a:bodyPr>
          <a:lstStyle/>
          <a:p>
            <a:pPr algn="l">
              <a:lnSpc>
                <a:spcPts val="6345"/>
              </a:lnSpc>
            </a:pPr>
            <a:r>
              <a:rPr lang="en-US" sz="3799">
                <a:solidFill>
                  <a:srgbClr val="000000"/>
                </a:solidFill>
                <a:latin typeface="Open Sans"/>
                <a:ea typeface="Open Sans"/>
                <a:cs typeface="Open Sans"/>
                <a:sym typeface="Open Sans"/>
              </a:rPr>
              <a:t>The </a:t>
            </a:r>
            <a:r>
              <a:rPr lang="en-US" b="true" sz="3799">
                <a:solidFill>
                  <a:srgbClr val="000000"/>
                </a:solidFill>
                <a:latin typeface="Open Sans Bold"/>
                <a:ea typeface="Open Sans Bold"/>
                <a:cs typeface="Open Sans Bold"/>
                <a:sym typeface="Open Sans Bold"/>
              </a:rPr>
              <a:t>fit_transform</a:t>
            </a:r>
            <a:r>
              <a:rPr lang="en-US" sz="3799">
                <a:solidFill>
                  <a:srgbClr val="000000"/>
                </a:solidFill>
                <a:latin typeface="Open Sans"/>
                <a:ea typeface="Open Sans"/>
                <a:cs typeface="Open Sans"/>
                <a:sym typeface="Open Sans"/>
              </a:rPr>
              <a:t> method calculates the mean and standard deviation of the column funding_total_usd and then transforms the data based on these statistics.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4280943" y="2368315"/>
            <a:ext cx="3237123" cy="7411307"/>
          </a:xfrm>
          <a:custGeom>
            <a:avLst/>
            <a:gdLst/>
            <a:ahLst/>
            <a:cxnLst/>
            <a:rect r="r" b="b" t="t" l="l"/>
            <a:pathLst>
              <a:path h="7411307" w="3237123">
                <a:moveTo>
                  <a:pt x="0" y="0"/>
                </a:moveTo>
                <a:lnTo>
                  <a:pt x="3237123" y="0"/>
                </a:lnTo>
                <a:lnTo>
                  <a:pt x="3237123" y="7411308"/>
                </a:lnTo>
                <a:lnTo>
                  <a:pt x="0" y="7411308"/>
                </a:lnTo>
                <a:lnTo>
                  <a:pt x="0" y="0"/>
                </a:lnTo>
                <a:close/>
              </a:path>
            </a:pathLst>
          </a:custGeom>
          <a:blipFill>
            <a:blip r:embed="rId2"/>
            <a:stretch>
              <a:fillRect l="0" t="0" r="0" b="0"/>
            </a:stretch>
          </a:blipFill>
        </p:spPr>
      </p:sp>
      <p:sp>
        <p:nvSpPr>
          <p:cNvPr name="Freeform 3" id="3"/>
          <p:cNvSpPr/>
          <p:nvPr/>
        </p:nvSpPr>
        <p:spPr>
          <a:xfrm flipH="false" flipV="false" rot="0">
            <a:off x="12092427" y="2368315"/>
            <a:ext cx="3235923" cy="7411307"/>
          </a:xfrm>
          <a:custGeom>
            <a:avLst/>
            <a:gdLst/>
            <a:ahLst/>
            <a:cxnLst/>
            <a:rect r="r" b="b" t="t" l="l"/>
            <a:pathLst>
              <a:path h="7411307" w="3235923">
                <a:moveTo>
                  <a:pt x="0" y="0"/>
                </a:moveTo>
                <a:lnTo>
                  <a:pt x="3235923" y="0"/>
                </a:lnTo>
                <a:lnTo>
                  <a:pt x="3235923" y="7411308"/>
                </a:lnTo>
                <a:lnTo>
                  <a:pt x="0" y="7411308"/>
                </a:lnTo>
                <a:lnTo>
                  <a:pt x="0" y="0"/>
                </a:lnTo>
                <a:close/>
              </a:path>
            </a:pathLst>
          </a:custGeom>
          <a:blipFill>
            <a:blip r:embed="rId3"/>
            <a:stretch>
              <a:fillRect l="0" t="0" r="0" b="0"/>
            </a:stretch>
          </a:blipFill>
        </p:spPr>
      </p:sp>
      <p:sp>
        <p:nvSpPr>
          <p:cNvPr name="TextBox 4" id="4"/>
          <p:cNvSpPr txBox="true"/>
          <p:nvPr/>
        </p:nvSpPr>
        <p:spPr>
          <a:xfrm rot="0">
            <a:off x="17259300" y="9220200"/>
            <a:ext cx="152400" cy="190500"/>
          </a:xfrm>
          <a:prstGeom prst="rect">
            <a:avLst/>
          </a:prstGeom>
        </p:spPr>
        <p:txBody>
          <a:bodyPr anchor="t" rtlCol="false" tIns="0" lIns="0" bIns="0" rIns="0" wrap="none">
            <a:spAutoFit/>
          </a:bodyPr>
          <a:lstStyle/>
          <a:p>
            <a:pPr algn="ctr">
              <a:lnSpc>
                <a:spcPts val="3359"/>
              </a:lnSpc>
              <a:spcBef>
                <a:spcPct val="0"/>
              </a:spcBef>
            </a:pPr>
            <a:r>
              <a:rPr lang="en-US" sz="2399">
                <a:solidFill>
                  <a:srgbClr val="0F4662"/>
                </a:solidFill>
                <a:latin typeface="Canva Sans"/>
                <a:ea typeface="Canva Sans"/>
                <a:cs typeface="Canva Sans"/>
                <a:sym typeface="Canva Sans"/>
              </a:rPr>
              <a:t>23</a:t>
            </a:r>
          </a:p>
        </p:txBody>
      </p:sp>
      <p:sp>
        <p:nvSpPr>
          <p:cNvPr name="TextBox 5" id="5"/>
          <p:cNvSpPr txBox="true"/>
          <p:nvPr/>
        </p:nvSpPr>
        <p:spPr>
          <a:xfrm rot="0">
            <a:off x="-2225952" y="5682305"/>
            <a:ext cx="9072688" cy="1039771"/>
          </a:xfrm>
          <a:prstGeom prst="rect">
            <a:avLst/>
          </a:prstGeom>
        </p:spPr>
        <p:txBody>
          <a:bodyPr anchor="t" rtlCol="false" tIns="0" lIns="0" bIns="0" rIns="0">
            <a:spAutoFit/>
          </a:bodyPr>
          <a:lstStyle/>
          <a:p>
            <a:pPr algn="ctr">
              <a:lnSpc>
                <a:spcPts val="8566"/>
              </a:lnSpc>
            </a:pPr>
            <a:r>
              <a:rPr lang="en-US" sz="6118">
                <a:solidFill>
                  <a:srgbClr val="6F6D71"/>
                </a:solidFill>
                <a:latin typeface="Genty Sans"/>
                <a:ea typeface="Genty Sans"/>
                <a:cs typeface="Genty Sans"/>
                <a:sym typeface="Genty Sans"/>
              </a:rPr>
              <a:t>Before</a:t>
            </a:r>
          </a:p>
        </p:txBody>
      </p:sp>
      <p:sp>
        <p:nvSpPr>
          <p:cNvPr name="TextBox 6" id="6"/>
          <p:cNvSpPr txBox="true"/>
          <p:nvPr/>
        </p:nvSpPr>
        <p:spPr>
          <a:xfrm rot="0">
            <a:off x="6057686" y="5682305"/>
            <a:ext cx="9072688" cy="1039771"/>
          </a:xfrm>
          <a:prstGeom prst="rect">
            <a:avLst/>
          </a:prstGeom>
        </p:spPr>
        <p:txBody>
          <a:bodyPr anchor="t" rtlCol="false" tIns="0" lIns="0" bIns="0" rIns="0">
            <a:spAutoFit/>
          </a:bodyPr>
          <a:lstStyle/>
          <a:p>
            <a:pPr algn="ctr">
              <a:lnSpc>
                <a:spcPts val="8566"/>
              </a:lnSpc>
            </a:pPr>
            <a:r>
              <a:rPr lang="en-US" sz="6118">
                <a:solidFill>
                  <a:srgbClr val="6F6D71"/>
                </a:solidFill>
                <a:latin typeface="Genty Sans"/>
                <a:ea typeface="Genty Sans"/>
                <a:cs typeface="Genty Sans"/>
                <a:sym typeface="Genty Sans"/>
              </a:rPr>
              <a:t>After</a:t>
            </a:r>
          </a:p>
        </p:txBody>
      </p:sp>
      <p:grpSp>
        <p:nvGrpSpPr>
          <p:cNvPr name="Group 7" id="7"/>
          <p:cNvGrpSpPr/>
          <p:nvPr/>
        </p:nvGrpSpPr>
        <p:grpSpPr>
          <a:xfrm rot="0">
            <a:off x="0" y="0"/>
            <a:ext cx="18288000" cy="1907687"/>
            <a:chOff x="0" y="0"/>
            <a:chExt cx="4816593" cy="502436"/>
          </a:xfrm>
        </p:grpSpPr>
        <p:sp>
          <p:nvSpPr>
            <p:cNvPr name="Freeform 8" id="8"/>
            <p:cNvSpPr/>
            <p:nvPr/>
          </p:nvSpPr>
          <p:spPr>
            <a:xfrm flipH="false" flipV="false" rot="0">
              <a:off x="0" y="0"/>
              <a:ext cx="4816592" cy="502436"/>
            </a:xfrm>
            <a:custGeom>
              <a:avLst/>
              <a:gdLst/>
              <a:ahLst/>
              <a:cxnLst/>
              <a:rect r="r" b="b" t="t" l="l"/>
              <a:pathLst>
                <a:path h="502436" w="4816592">
                  <a:moveTo>
                    <a:pt x="0" y="0"/>
                  </a:moveTo>
                  <a:lnTo>
                    <a:pt x="4816592" y="0"/>
                  </a:lnTo>
                  <a:lnTo>
                    <a:pt x="4816592" y="502436"/>
                  </a:lnTo>
                  <a:lnTo>
                    <a:pt x="0" y="502436"/>
                  </a:lnTo>
                  <a:close/>
                </a:path>
              </a:pathLst>
            </a:custGeom>
            <a:solidFill>
              <a:srgbClr val="DBE5EA"/>
            </a:solidFill>
          </p:spPr>
        </p:sp>
        <p:sp>
          <p:nvSpPr>
            <p:cNvPr name="TextBox 9" id="9"/>
            <p:cNvSpPr txBox="true"/>
            <p:nvPr/>
          </p:nvSpPr>
          <p:spPr>
            <a:xfrm>
              <a:off x="0" y="-47625"/>
              <a:ext cx="4816593" cy="550061"/>
            </a:xfrm>
            <a:prstGeom prst="rect">
              <a:avLst/>
            </a:prstGeom>
          </p:spPr>
          <p:txBody>
            <a:bodyPr anchor="ctr" rtlCol="false" tIns="50800" lIns="50800" bIns="50800" rIns="50800"/>
            <a:lstStyle/>
            <a:p>
              <a:pPr algn="ctr">
                <a:lnSpc>
                  <a:spcPts val="3693"/>
                </a:lnSpc>
              </a:pPr>
            </a:p>
          </p:txBody>
        </p:sp>
      </p:grpSp>
      <p:sp>
        <p:nvSpPr>
          <p:cNvPr name="TextBox 10" id="10"/>
          <p:cNvSpPr txBox="true"/>
          <p:nvPr/>
        </p:nvSpPr>
        <p:spPr>
          <a:xfrm rot="0">
            <a:off x="1389689" y="390598"/>
            <a:ext cx="15869611" cy="1012191"/>
          </a:xfrm>
          <a:prstGeom prst="rect">
            <a:avLst/>
          </a:prstGeom>
        </p:spPr>
        <p:txBody>
          <a:bodyPr anchor="t" rtlCol="false" tIns="0" lIns="0" bIns="0" rIns="0">
            <a:spAutoFit/>
          </a:bodyPr>
          <a:lstStyle/>
          <a:p>
            <a:pPr algn="l">
              <a:lnSpc>
                <a:spcPts val="8259"/>
              </a:lnSpc>
            </a:pPr>
            <a:r>
              <a:rPr lang="en-US" sz="5899" u="sng">
                <a:solidFill>
                  <a:srgbClr val="0F4662"/>
                </a:solidFill>
                <a:latin typeface="Genty Sans"/>
                <a:ea typeface="Genty Sans"/>
                <a:cs typeface="Genty Sans"/>
                <a:sym typeface="Genty Sans"/>
              </a:rPr>
              <a:t>SCALING THE FUNDING_TOTAL_USD COLUMN</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3660609" y="5004895"/>
            <a:ext cx="11495241" cy="4611545"/>
          </a:xfrm>
          <a:custGeom>
            <a:avLst/>
            <a:gdLst/>
            <a:ahLst/>
            <a:cxnLst/>
            <a:rect r="r" b="b" t="t" l="l"/>
            <a:pathLst>
              <a:path h="4611545" w="11495241">
                <a:moveTo>
                  <a:pt x="0" y="0"/>
                </a:moveTo>
                <a:lnTo>
                  <a:pt x="11495241" y="0"/>
                </a:lnTo>
                <a:lnTo>
                  <a:pt x="11495241" y="4611545"/>
                </a:lnTo>
                <a:lnTo>
                  <a:pt x="0" y="4611545"/>
                </a:lnTo>
                <a:lnTo>
                  <a:pt x="0" y="0"/>
                </a:lnTo>
                <a:close/>
              </a:path>
            </a:pathLst>
          </a:custGeom>
          <a:blipFill>
            <a:blip r:embed="rId2"/>
            <a:stretch>
              <a:fillRect l="0" t="-18739" r="0" b="0"/>
            </a:stretch>
          </a:blipFill>
        </p:spPr>
      </p:sp>
      <p:sp>
        <p:nvSpPr>
          <p:cNvPr name="TextBox 3" id="3"/>
          <p:cNvSpPr txBox="true"/>
          <p:nvPr/>
        </p:nvSpPr>
        <p:spPr>
          <a:xfrm rot="0">
            <a:off x="17259300" y="9220200"/>
            <a:ext cx="152400" cy="190500"/>
          </a:xfrm>
          <a:prstGeom prst="rect">
            <a:avLst/>
          </a:prstGeom>
        </p:spPr>
        <p:txBody>
          <a:bodyPr anchor="t" rtlCol="false" tIns="0" lIns="0" bIns="0" rIns="0" wrap="none">
            <a:spAutoFit/>
          </a:bodyPr>
          <a:lstStyle/>
          <a:p>
            <a:pPr algn="ctr">
              <a:lnSpc>
                <a:spcPts val="3359"/>
              </a:lnSpc>
              <a:spcBef>
                <a:spcPct val="0"/>
              </a:spcBef>
            </a:pPr>
            <a:r>
              <a:rPr lang="en-US" sz="2399">
                <a:solidFill>
                  <a:srgbClr val="0F4662"/>
                </a:solidFill>
                <a:latin typeface="Canva Sans"/>
                <a:ea typeface="Canva Sans"/>
                <a:cs typeface="Canva Sans"/>
                <a:sym typeface="Canva Sans"/>
              </a:rPr>
              <a:t>24</a:t>
            </a:r>
          </a:p>
        </p:txBody>
      </p:sp>
      <p:grpSp>
        <p:nvGrpSpPr>
          <p:cNvPr name="Group 4" id="4"/>
          <p:cNvGrpSpPr/>
          <p:nvPr/>
        </p:nvGrpSpPr>
        <p:grpSpPr>
          <a:xfrm rot="0">
            <a:off x="0" y="0"/>
            <a:ext cx="18288000" cy="1907687"/>
            <a:chOff x="0" y="0"/>
            <a:chExt cx="4816593" cy="502436"/>
          </a:xfrm>
        </p:grpSpPr>
        <p:sp>
          <p:nvSpPr>
            <p:cNvPr name="Freeform 5" id="5"/>
            <p:cNvSpPr/>
            <p:nvPr/>
          </p:nvSpPr>
          <p:spPr>
            <a:xfrm flipH="false" flipV="false" rot="0">
              <a:off x="0" y="0"/>
              <a:ext cx="4816592" cy="502436"/>
            </a:xfrm>
            <a:custGeom>
              <a:avLst/>
              <a:gdLst/>
              <a:ahLst/>
              <a:cxnLst/>
              <a:rect r="r" b="b" t="t" l="l"/>
              <a:pathLst>
                <a:path h="502436" w="4816592">
                  <a:moveTo>
                    <a:pt x="0" y="0"/>
                  </a:moveTo>
                  <a:lnTo>
                    <a:pt x="4816592" y="0"/>
                  </a:lnTo>
                  <a:lnTo>
                    <a:pt x="4816592" y="502436"/>
                  </a:lnTo>
                  <a:lnTo>
                    <a:pt x="0" y="502436"/>
                  </a:lnTo>
                  <a:close/>
                </a:path>
              </a:pathLst>
            </a:custGeom>
            <a:solidFill>
              <a:srgbClr val="DBE5EA"/>
            </a:solidFill>
          </p:spPr>
        </p:sp>
        <p:sp>
          <p:nvSpPr>
            <p:cNvPr name="TextBox 6" id="6"/>
            <p:cNvSpPr txBox="true"/>
            <p:nvPr/>
          </p:nvSpPr>
          <p:spPr>
            <a:xfrm>
              <a:off x="0" y="-47625"/>
              <a:ext cx="4816593" cy="550061"/>
            </a:xfrm>
            <a:prstGeom prst="rect">
              <a:avLst/>
            </a:prstGeom>
          </p:spPr>
          <p:txBody>
            <a:bodyPr anchor="ctr" rtlCol="false" tIns="50800" lIns="50800" bIns="50800" rIns="50800"/>
            <a:lstStyle/>
            <a:p>
              <a:pPr algn="ctr">
                <a:lnSpc>
                  <a:spcPts val="3693"/>
                </a:lnSpc>
              </a:pPr>
            </a:p>
          </p:txBody>
        </p:sp>
      </p:grpSp>
      <p:sp>
        <p:nvSpPr>
          <p:cNvPr name="TextBox 7" id="7"/>
          <p:cNvSpPr txBox="true"/>
          <p:nvPr/>
        </p:nvSpPr>
        <p:spPr>
          <a:xfrm rot="0">
            <a:off x="362519" y="618759"/>
            <a:ext cx="18091421" cy="804545"/>
          </a:xfrm>
          <a:prstGeom prst="rect">
            <a:avLst/>
          </a:prstGeom>
        </p:spPr>
        <p:txBody>
          <a:bodyPr anchor="t" rtlCol="false" tIns="0" lIns="0" bIns="0" rIns="0">
            <a:spAutoFit/>
          </a:bodyPr>
          <a:lstStyle/>
          <a:p>
            <a:pPr algn="l">
              <a:lnSpc>
                <a:spcPts val="6580"/>
              </a:lnSpc>
            </a:pPr>
            <a:r>
              <a:rPr lang="en-US" sz="4700" u="sng">
                <a:solidFill>
                  <a:srgbClr val="0F4662"/>
                </a:solidFill>
                <a:latin typeface="Genty Sans"/>
                <a:ea typeface="Genty Sans"/>
                <a:cs typeface="Genty Sans"/>
                <a:sym typeface="Genty Sans"/>
              </a:rPr>
              <a:t>RECLASSIFYING THE STATUS COLUMN INTO 3 KEY CATEGORIES</a:t>
            </a:r>
          </a:p>
        </p:txBody>
      </p:sp>
      <p:sp>
        <p:nvSpPr>
          <p:cNvPr name="TextBox 8" id="8"/>
          <p:cNvSpPr txBox="true"/>
          <p:nvPr/>
        </p:nvSpPr>
        <p:spPr>
          <a:xfrm rot="0">
            <a:off x="1028700" y="2202755"/>
            <a:ext cx="16023634" cy="2297521"/>
          </a:xfrm>
          <a:prstGeom prst="rect">
            <a:avLst/>
          </a:prstGeom>
        </p:spPr>
        <p:txBody>
          <a:bodyPr anchor="t" rtlCol="false" tIns="0" lIns="0" bIns="0" rIns="0">
            <a:spAutoFit/>
          </a:bodyPr>
          <a:lstStyle/>
          <a:p>
            <a:pPr algn="just" marL="730881" indent="-365440" lvl="1">
              <a:lnSpc>
                <a:spcPts val="6296"/>
              </a:lnSpc>
              <a:buFont typeface="Arial"/>
              <a:buChar char="•"/>
            </a:pPr>
            <a:r>
              <a:rPr lang="en-US" b="true" sz="3385">
                <a:solidFill>
                  <a:srgbClr val="000000"/>
                </a:solidFill>
                <a:latin typeface="Open Sans Bold"/>
                <a:ea typeface="Open Sans Bold"/>
                <a:cs typeface="Open Sans Bold"/>
                <a:sym typeface="Open Sans Bold"/>
              </a:rPr>
              <a:t>Success :</a:t>
            </a:r>
            <a:r>
              <a:rPr lang="en-US" sz="3385">
                <a:solidFill>
                  <a:srgbClr val="000000"/>
                </a:solidFill>
                <a:latin typeface="Open Sans"/>
                <a:ea typeface="Open Sans"/>
                <a:cs typeface="Open Sans"/>
                <a:sym typeface="Open Sans"/>
              </a:rPr>
              <a:t> Represents companies that have been acquired or gone public.</a:t>
            </a:r>
          </a:p>
          <a:p>
            <a:pPr algn="just" marL="730881" indent="-365440" lvl="1">
              <a:lnSpc>
                <a:spcPts val="6296"/>
              </a:lnSpc>
              <a:buFont typeface="Arial"/>
              <a:buChar char="•"/>
            </a:pPr>
            <a:r>
              <a:rPr lang="en-US" b="true" sz="3385">
                <a:solidFill>
                  <a:srgbClr val="000000"/>
                </a:solidFill>
                <a:latin typeface="Open Sans Bold"/>
                <a:ea typeface="Open Sans Bold"/>
                <a:cs typeface="Open Sans Bold"/>
                <a:sym typeface="Open Sans Bold"/>
              </a:rPr>
              <a:t>Fail :</a:t>
            </a:r>
            <a:r>
              <a:rPr lang="en-US" sz="3385">
                <a:solidFill>
                  <a:srgbClr val="000000"/>
                </a:solidFill>
                <a:latin typeface="Open Sans"/>
                <a:ea typeface="Open Sans"/>
                <a:cs typeface="Open Sans"/>
                <a:sym typeface="Open Sans"/>
              </a:rPr>
              <a:t> Represents companies that have closed down.</a:t>
            </a:r>
          </a:p>
          <a:p>
            <a:pPr algn="just" marL="730881" indent="-365440" lvl="1">
              <a:lnSpc>
                <a:spcPts val="6296"/>
              </a:lnSpc>
              <a:buFont typeface="Arial"/>
              <a:buChar char="•"/>
            </a:pPr>
            <a:r>
              <a:rPr lang="en-US" b="true" sz="3385">
                <a:solidFill>
                  <a:srgbClr val="000000"/>
                </a:solidFill>
                <a:latin typeface="Open Sans Bold"/>
                <a:ea typeface="Open Sans Bold"/>
                <a:cs typeface="Open Sans Bold"/>
                <a:sym typeface="Open Sans Bold"/>
              </a:rPr>
              <a:t>Operating :</a:t>
            </a:r>
            <a:r>
              <a:rPr lang="en-US" sz="3385">
                <a:solidFill>
                  <a:srgbClr val="000000"/>
                </a:solidFill>
                <a:latin typeface="Open Sans"/>
                <a:ea typeface="Open Sans"/>
                <a:cs typeface="Open Sans"/>
                <a:sym typeface="Open Sans"/>
              </a:rPr>
              <a:t> Represents companies still in operation.</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3030695" y="4306725"/>
            <a:ext cx="12226610" cy="3358449"/>
          </a:xfrm>
          <a:custGeom>
            <a:avLst/>
            <a:gdLst/>
            <a:ahLst/>
            <a:cxnLst/>
            <a:rect r="r" b="b" t="t" l="l"/>
            <a:pathLst>
              <a:path h="3358449" w="12226610">
                <a:moveTo>
                  <a:pt x="0" y="0"/>
                </a:moveTo>
                <a:lnTo>
                  <a:pt x="12226610" y="0"/>
                </a:lnTo>
                <a:lnTo>
                  <a:pt x="12226610" y="3358449"/>
                </a:lnTo>
                <a:lnTo>
                  <a:pt x="0" y="3358449"/>
                </a:lnTo>
                <a:lnTo>
                  <a:pt x="0" y="0"/>
                </a:lnTo>
                <a:close/>
              </a:path>
            </a:pathLst>
          </a:custGeom>
          <a:blipFill>
            <a:blip r:embed="rId2"/>
            <a:stretch>
              <a:fillRect l="0" t="0" r="0" b="0"/>
            </a:stretch>
          </a:blipFill>
        </p:spPr>
      </p:sp>
      <p:sp>
        <p:nvSpPr>
          <p:cNvPr name="Freeform 3" id="3"/>
          <p:cNvSpPr/>
          <p:nvPr/>
        </p:nvSpPr>
        <p:spPr>
          <a:xfrm flipH="false" flipV="false" rot="0">
            <a:off x="1835069" y="7968110"/>
            <a:ext cx="14831102" cy="1687038"/>
          </a:xfrm>
          <a:custGeom>
            <a:avLst/>
            <a:gdLst/>
            <a:ahLst/>
            <a:cxnLst/>
            <a:rect r="r" b="b" t="t" l="l"/>
            <a:pathLst>
              <a:path h="1687038" w="14831102">
                <a:moveTo>
                  <a:pt x="0" y="0"/>
                </a:moveTo>
                <a:lnTo>
                  <a:pt x="14831102" y="0"/>
                </a:lnTo>
                <a:lnTo>
                  <a:pt x="14831102" y="1687038"/>
                </a:lnTo>
                <a:lnTo>
                  <a:pt x="0" y="1687038"/>
                </a:lnTo>
                <a:lnTo>
                  <a:pt x="0" y="0"/>
                </a:lnTo>
                <a:close/>
              </a:path>
            </a:pathLst>
          </a:custGeom>
          <a:blipFill>
            <a:blip r:embed="rId3"/>
            <a:stretch>
              <a:fillRect l="0" t="0" r="0" b="0"/>
            </a:stretch>
          </a:blipFill>
        </p:spPr>
      </p:sp>
      <p:sp>
        <p:nvSpPr>
          <p:cNvPr name="TextBox 4" id="4"/>
          <p:cNvSpPr txBox="true"/>
          <p:nvPr/>
        </p:nvSpPr>
        <p:spPr>
          <a:xfrm rot="0">
            <a:off x="17259300" y="9220200"/>
            <a:ext cx="152400" cy="190500"/>
          </a:xfrm>
          <a:prstGeom prst="rect">
            <a:avLst/>
          </a:prstGeom>
        </p:spPr>
        <p:txBody>
          <a:bodyPr anchor="t" rtlCol="false" tIns="0" lIns="0" bIns="0" rIns="0" wrap="none">
            <a:spAutoFit/>
          </a:bodyPr>
          <a:lstStyle/>
          <a:p>
            <a:pPr algn="ctr">
              <a:lnSpc>
                <a:spcPts val="3359"/>
              </a:lnSpc>
              <a:spcBef>
                <a:spcPct val="0"/>
              </a:spcBef>
            </a:pPr>
            <a:r>
              <a:rPr lang="en-US" sz="2399">
                <a:solidFill>
                  <a:srgbClr val="0F4662"/>
                </a:solidFill>
                <a:latin typeface="Canva Sans"/>
                <a:ea typeface="Canva Sans"/>
                <a:cs typeface="Canva Sans"/>
                <a:sym typeface="Canva Sans"/>
              </a:rPr>
              <a:t>25</a:t>
            </a:r>
          </a:p>
        </p:txBody>
      </p:sp>
      <p:grpSp>
        <p:nvGrpSpPr>
          <p:cNvPr name="Group 5" id="5"/>
          <p:cNvGrpSpPr/>
          <p:nvPr/>
        </p:nvGrpSpPr>
        <p:grpSpPr>
          <a:xfrm rot="0">
            <a:off x="0" y="0"/>
            <a:ext cx="18288000" cy="1907687"/>
            <a:chOff x="0" y="0"/>
            <a:chExt cx="4816593" cy="502436"/>
          </a:xfrm>
        </p:grpSpPr>
        <p:sp>
          <p:nvSpPr>
            <p:cNvPr name="Freeform 6" id="6"/>
            <p:cNvSpPr/>
            <p:nvPr/>
          </p:nvSpPr>
          <p:spPr>
            <a:xfrm flipH="false" flipV="false" rot="0">
              <a:off x="0" y="0"/>
              <a:ext cx="4816592" cy="502436"/>
            </a:xfrm>
            <a:custGeom>
              <a:avLst/>
              <a:gdLst/>
              <a:ahLst/>
              <a:cxnLst/>
              <a:rect r="r" b="b" t="t" l="l"/>
              <a:pathLst>
                <a:path h="502436" w="4816592">
                  <a:moveTo>
                    <a:pt x="0" y="0"/>
                  </a:moveTo>
                  <a:lnTo>
                    <a:pt x="4816592" y="0"/>
                  </a:lnTo>
                  <a:lnTo>
                    <a:pt x="4816592" y="502436"/>
                  </a:lnTo>
                  <a:lnTo>
                    <a:pt x="0" y="502436"/>
                  </a:lnTo>
                  <a:close/>
                </a:path>
              </a:pathLst>
            </a:custGeom>
            <a:solidFill>
              <a:srgbClr val="DBE5EA"/>
            </a:solidFill>
          </p:spPr>
        </p:sp>
        <p:sp>
          <p:nvSpPr>
            <p:cNvPr name="TextBox 7" id="7"/>
            <p:cNvSpPr txBox="true"/>
            <p:nvPr/>
          </p:nvSpPr>
          <p:spPr>
            <a:xfrm>
              <a:off x="0" y="-47625"/>
              <a:ext cx="4816593" cy="550061"/>
            </a:xfrm>
            <a:prstGeom prst="rect">
              <a:avLst/>
            </a:prstGeom>
          </p:spPr>
          <p:txBody>
            <a:bodyPr anchor="ctr" rtlCol="false" tIns="50800" lIns="50800" bIns="50800" rIns="50800"/>
            <a:lstStyle/>
            <a:p>
              <a:pPr algn="ctr">
                <a:lnSpc>
                  <a:spcPts val="3693"/>
                </a:lnSpc>
              </a:pPr>
            </a:p>
          </p:txBody>
        </p:sp>
      </p:grpSp>
      <p:sp>
        <p:nvSpPr>
          <p:cNvPr name="TextBox 8" id="8"/>
          <p:cNvSpPr txBox="true"/>
          <p:nvPr/>
        </p:nvSpPr>
        <p:spPr>
          <a:xfrm rot="0">
            <a:off x="218872" y="520120"/>
            <a:ext cx="17850256" cy="912385"/>
          </a:xfrm>
          <a:prstGeom prst="rect">
            <a:avLst/>
          </a:prstGeom>
        </p:spPr>
        <p:txBody>
          <a:bodyPr anchor="t" rtlCol="false" tIns="0" lIns="0" bIns="0" rIns="0">
            <a:spAutoFit/>
          </a:bodyPr>
          <a:lstStyle/>
          <a:p>
            <a:pPr algn="l">
              <a:lnSpc>
                <a:spcPts val="7461"/>
              </a:lnSpc>
            </a:pPr>
            <a:r>
              <a:rPr lang="en-US" sz="5329" u="sng">
                <a:solidFill>
                  <a:srgbClr val="0F4662"/>
                </a:solidFill>
                <a:latin typeface="Genty Sans"/>
                <a:ea typeface="Genty Sans"/>
                <a:cs typeface="Genty Sans"/>
                <a:sym typeface="Genty Sans"/>
              </a:rPr>
              <a:t>FILLING MISSING DATA IN THE COUNTRY_CODE COLUMN</a:t>
            </a:r>
          </a:p>
        </p:txBody>
      </p:sp>
      <p:sp>
        <p:nvSpPr>
          <p:cNvPr name="TextBox 9" id="9"/>
          <p:cNvSpPr txBox="true"/>
          <p:nvPr/>
        </p:nvSpPr>
        <p:spPr>
          <a:xfrm rot="0">
            <a:off x="1028700" y="2019159"/>
            <a:ext cx="16854369" cy="1982766"/>
          </a:xfrm>
          <a:prstGeom prst="rect">
            <a:avLst/>
          </a:prstGeom>
        </p:spPr>
        <p:txBody>
          <a:bodyPr anchor="t" rtlCol="false" tIns="0" lIns="0" bIns="0" rIns="0">
            <a:spAutoFit/>
          </a:bodyPr>
          <a:lstStyle/>
          <a:p>
            <a:pPr algn="just" marL="709291" indent="-354646" lvl="1">
              <a:lnSpc>
                <a:spcPts val="5355"/>
              </a:lnSpc>
              <a:buFont typeface="Arial"/>
              <a:buChar char="•"/>
            </a:pPr>
            <a:r>
              <a:rPr lang="en-US" sz="3285">
                <a:solidFill>
                  <a:srgbClr val="000000"/>
                </a:solidFill>
                <a:latin typeface="Open Sans"/>
                <a:ea typeface="Open Sans"/>
                <a:cs typeface="Open Sans"/>
                <a:sym typeface="Open Sans"/>
              </a:rPr>
              <a:t>Find the most common country_code for each status.</a:t>
            </a:r>
          </a:p>
          <a:p>
            <a:pPr algn="just" marL="709291" indent="-354646" lvl="1">
              <a:lnSpc>
                <a:spcPts val="5355"/>
              </a:lnSpc>
              <a:buFont typeface="Arial"/>
              <a:buChar char="•"/>
            </a:pPr>
            <a:r>
              <a:rPr lang="en-US" sz="3285">
                <a:solidFill>
                  <a:srgbClr val="000000"/>
                </a:solidFill>
                <a:latin typeface="Open Sans"/>
                <a:ea typeface="Open Sans"/>
                <a:cs typeface="Open Sans"/>
                <a:sym typeface="Open Sans"/>
              </a:rPr>
              <a:t>Replace missing country_code values with the most common value for the corresponding status.</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4761949" y="6508586"/>
            <a:ext cx="12676421" cy="2297601"/>
          </a:xfrm>
          <a:custGeom>
            <a:avLst/>
            <a:gdLst/>
            <a:ahLst/>
            <a:cxnLst/>
            <a:rect r="r" b="b" t="t" l="l"/>
            <a:pathLst>
              <a:path h="2297601" w="12676421">
                <a:moveTo>
                  <a:pt x="0" y="0"/>
                </a:moveTo>
                <a:lnTo>
                  <a:pt x="12676421" y="0"/>
                </a:lnTo>
                <a:lnTo>
                  <a:pt x="12676421" y="2297601"/>
                </a:lnTo>
                <a:lnTo>
                  <a:pt x="0" y="2297601"/>
                </a:lnTo>
                <a:lnTo>
                  <a:pt x="0" y="0"/>
                </a:lnTo>
                <a:close/>
              </a:path>
            </a:pathLst>
          </a:custGeom>
          <a:blipFill>
            <a:blip r:embed="rId2"/>
            <a:stretch>
              <a:fillRect l="0" t="0" r="0" b="0"/>
            </a:stretch>
          </a:blipFill>
        </p:spPr>
      </p:sp>
      <p:sp>
        <p:nvSpPr>
          <p:cNvPr name="Freeform 3" id="3"/>
          <p:cNvSpPr/>
          <p:nvPr/>
        </p:nvSpPr>
        <p:spPr>
          <a:xfrm flipH="false" flipV="false" rot="0">
            <a:off x="4761949" y="3171343"/>
            <a:ext cx="12676421" cy="2044073"/>
          </a:xfrm>
          <a:custGeom>
            <a:avLst/>
            <a:gdLst/>
            <a:ahLst/>
            <a:cxnLst/>
            <a:rect r="r" b="b" t="t" l="l"/>
            <a:pathLst>
              <a:path h="2044073" w="12676421">
                <a:moveTo>
                  <a:pt x="0" y="0"/>
                </a:moveTo>
                <a:lnTo>
                  <a:pt x="12676421" y="0"/>
                </a:lnTo>
                <a:lnTo>
                  <a:pt x="12676421" y="2044073"/>
                </a:lnTo>
                <a:lnTo>
                  <a:pt x="0" y="2044073"/>
                </a:lnTo>
                <a:lnTo>
                  <a:pt x="0" y="0"/>
                </a:lnTo>
                <a:close/>
              </a:path>
            </a:pathLst>
          </a:custGeom>
          <a:blipFill>
            <a:blip r:embed="rId3"/>
            <a:stretch>
              <a:fillRect l="0" t="0" r="0" b="0"/>
            </a:stretch>
          </a:blipFill>
        </p:spPr>
      </p:sp>
      <p:sp>
        <p:nvSpPr>
          <p:cNvPr name="TextBox 4" id="4"/>
          <p:cNvSpPr txBox="true"/>
          <p:nvPr/>
        </p:nvSpPr>
        <p:spPr>
          <a:xfrm rot="0">
            <a:off x="17259300" y="9220200"/>
            <a:ext cx="152400" cy="190500"/>
          </a:xfrm>
          <a:prstGeom prst="rect">
            <a:avLst/>
          </a:prstGeom>
        </p:spPr>
        <p:txBody>
          <a:bodyPr anchor="t" rtlCol="false" tIns="0" lIns="0" bIns="0" rIns="0" wrap="none">
            <a:spAutoFit/>
          </a:bodyPr>
          <a:lstStyle/>
          <a:p>
            <a:pPr algn="ctr">
              <a:lnSpc>
                <a:spcPts val="3359"/>
              </a:lnSpc>
              <a:spcBef>
                <a:spcPct val="0"/>
              </a:spcBef>
            </a:pPr>
            <a:r>
              <a:rPr lang="en-US" sz="2399">
                <a:solidFill>
                  <a:srgbClr val="0F4662"/>
                </a:solidFill>
                <a:latin typeface="Canva Sans"/>
                <a:ea typeface="Canva Sans"/>
                <a:cs typeface="Canva Sans"/>
                <a:sym typeface="Canva Sans"/>
              </a:rPr>
              <a:t>26</a:t>
            </a:r>
          </a:p>
        </p:txBody>
      </p:sp>
      <p:sp>
        <p:nvSpPr>
          <p:cNvPr name="TextBox 5" id="5"/>
          <p:cNvSpPr txBox="true"/>
          <p:nvPr/>
        </p:nvSpPr>
        <p:spPr>
          <a:xfrm rot="0">
            <a:off x="-2105037" y="3616344"/>
            <a:ext cx="9072688" cy="1039771"/>
          </a:xfrm>
          <a:prstGeom prst="rect">
            <a:avLst/>
          </a:prstGeom>
        </p:spPr>
        <p:txBody>
          <a:bodyPr anchor="t" rtlCol="false" tIns="0" lIns="0" bIns="0" rIns="0">
            <a:spAutoFit/>
          </a:bodyPr>
          <a:lstStyle/>
          <a:p>
            <a:pPr algn="ctr">
              <a:lnSpc>
                <a:spcPts val="8566"/>
              </a:lnSpc>
            </a:pPr>
            <a:r>
              <a:rPr lang="en-US" sz="6118">
                <a:solidFill>
                  <a:srgbClr val="6F6D71"/>
                </a:solidFill>
                <a:latin typeface="Genty Sans"/>
                <a:ea typeface="Genty Sans"/>
                <a:cs typeface="Genty Sans"/>
                <a:sym typeface="Genty Sans"/>
              </a:rPr>
              <a:t>Before</a:t>
            </a:r>
          </a:p>
        </p:txBody>
      </p:sp>
      <p:sp>
        <p:nvSpPr>
          <p:cNvPr name="TextBox 6" id="6"/>
          <p:cNvSpPr txBox="true"/>
          <p:nvPr/>
        </p:nvSpPr>
        <p:spPr>
          <a:xfrm rot="0">
            <a:off x="-2105037" y="7080352"/>
            <a:ext cx="9072688" cy="1039771"/>
          </a:xfrm>
          <a:prstGeom prst="rect">
            <a:avLst/>
          </a:prstGeom>
        </p:spPr>
        <p:txBody>
          <a:bodyPr anchor="t" rtlCol="false" tIns="0" lIns="0" bIns="0" rIns="0">
            <a:spAutoFit/>
          </a:bodyPr>
          <a:lstStyle/>
          <a:p>
            <a:pPr algn="ctr">
              <a:lnSpc>
                <a:spcPts val="8566"/>
              </a:lnSpc>
            </a:pPr>
            <a:r>
              <a:rPr lang="en-US" sz="6118">
                <a:solidFill>
                  <a:srgbClr val="6F6D71"/>
                </a:solidFill>
                <a:latin typeface="Genty Sans"/>
                <a:ea typeface="Genty Sans"/>
                <a:cs typeface="Genty Sans"/>
                <a:sym typeface="Genty Sans"/>
              </a:rPr>
              <a:t>After</a:t>
            </a:r>
          </a:p>
        </p:txBody>
      </p:sp>
      <p:grpSp>
        <p:nvGrpSpPr>
          <p:cNvPr name="Group 7" id="7"/>
          <p:cNvGrpSpPr/>
          <p:nvPr/>
        </p:nvGrpSpPr>
        <p:grpSpPr>
          <a:xfrm rot="0">
            <a:off x="0" y="0"/>
            <a:ext cx="18288000" cy="1907687"/>
            <a:chOff x="0" y="0"/>
            <a:chExt cx="4816593" cy="502436"/>
          </a:xfrm>
        </p:grpSpPr>
        <p:sp>
          <p:nvSpPr>
            <p:cNvPr name="Freeform 8" id="8"/>
            <p:cNvSpPr/>
            <p:nvPr/>
          </p:nvSpPr>
          <p:spPr>
            <a:xfrm flipH="false" flipV="false" rot="0">
              <a:off x="0" y="0"/>
              <a:ext cx="4816592" cy="502436"/>
            </a:xfrm>
            <a:custGeom>
              <a:avLst/>
              <a:gdLst/>
              <a:ahLst/>
              <a:cxnLst/>
              <a:rect r="r" b="b" t="t" l="l"/>
              <a:pathLst>
                <a:path h="502436" w="4816592">
                  <a:moveTo>
                    <a:pt x="0" y="0"/>
                  </a:moveTo>
                  <a:lnTo>
                    <a:pt x="4816592" y="0"/>
                  </a:lnTo>
                  <a:lnTo>
                    <a:pt x="4816592" y="502436"/>
                  </a:lnTo>
                  <a:lnTo>
                    <a:pt x="0" y="502436"/>
                  </a:lnTo>
                  <a:close/>
                </a:path>
              </a:pathLst>
            </a:custGeom>
            <a:solidFill>
              <a:srgbClr val="DBE5EA"/>
            </a:solidFill>
          </p:spPr>
        </p:sp>
        <p:sp>
          <p:nvSpPr>
            <p:cNvPr name="TextBox 9" id="9"/>
            <p:cNvSpPr txBox="true"/>
            <p:nvPr/>
          </p:nvSpPr>
          <p:spPr>
            <a:xfrm>
              <a:off x="0" y="-47625"/>
              <a:ext cx="4816593" cy="550061"/>
            </a:xfrm>
            <a:prstGeom prst="rect">
              <a:avLst/>
            </a:prstGeom>
          </p:spPr>
          <p:txBody>
            <a:bodyPr anchor="ctr" rtlCol="false" tIns="50800" lIns="50800" bIns="50800" rIns="50800"/>
            <a:lstStyle/>
            <a:p>
              <a:pPr algn="ctr">
                <a:lnSpc>
                  <a:spcPts val="3693"/>
                </a:lnSpc>
              </a:pPr>
            </a:p>
          </p:txBody>
        </p:sp>
      </p:grpSp>
      <p:sp>
        <p:nvSpPr>
          <p:cNvPr name="TextBox 10" id="10"/>
          <p:cNvSpPr txBox="true"/>
          <p:nvPr/>
        </p:nvSpPr>
        <p:spPr>
          <a:xfrm rot="0">
            <a:off x="218872" y="520120"/>
            <a:ext cx="17850256" cy="912385"/>
          </a:xfrm>
          <a:prstGeom prst="rect">
            <a:avLst/>
          </a:prstGeom>
        </p:spPr>
        <p:txBody>
          <a:bodyPr anchor="t" rtlCol="false" tIns="0" lIns="0" bIns="0" rIns="0">
            <a:spAutoFit/>
          </a:bodyPr>
          <a:lstStyle/>
          <a:p>
            <a:pPr algn="l">
              <a:lnSpc>
                <a:spcPts val="7461"/>
              </a:lnSpc>
            </a:pPr>
            <a:r>
              <a:rPr lang="en-US" sz="5329" u="sng">
                <a:solidFill>
                  <a:srgbClr val="0F4662"/>
                </a:solidFill>
                <a:latin typeface="Genty Sans"/>
                <a:ea typeface="Genty Sans"/>
                <a:cs typeface="Genty Sans"/>
                <a:sym typeface="Genty Sans"/>
              </a:rPr>
              <a:t>FILLING MISSING DATA IN THE COUNTRY_CODE COLUMN</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1621402" y="5318835"/>
            <a:ext cx="15637898" cy="3381695"/>
          </a:xfrm>
          <a:custGeom>
            <a:avLst/>
            <a:gdLst/>
            <a:ahLst/>
            <a:cxnLst/>
            <a:rect r="r" b="b" t="t" l="l"/>
            <a:pathLst>
              <a:path h="3381695" w="15637898">
                <a:moveTo>
                  <a:pt x="0" y="0"/>
                </a:moveTo>
                <a:lnTo>
                  <a:pt x="15637898" y="0"/>
                </a:lnTo>
                <a:lnTo>
                  <a:pt x="15637898" y="3381695"/>
                </a:lnTo>
                <a:lnTo>
                  <a:pt x="0" y="3381695"/>
                </a:lnTo>
                <a:lnTo>
                  <a:pt x="0" y="0"/>
                </a:lnTo>
                <a:close/>
              </a:path>
            </a:pathLst>
          </a:custGeom>
          <a:blipFill>
            <a:blip r:embed="rId2"/>
            <a:stretch>
              <a:fillRect l="0" t="0" r="0" b="0"/>
            </a:stretch>
          </a:blipFill>
        </p:spPr>
      </p:sp>
      <p:sp>
        <p:nvSpPr>
          <p:cNvPr name="TextBox 3" id="3"/>
          <p:cNvSpPr txBox="true"/>
          <p:nvPr/>
        </p:nvSpPr>
        <p:spPr>
          <a:xfrm rot="0">
            <a:off x="17259300" y="9220200"/>
            <a:ext cx="152400" cy="190500"/>
          </a:xfrm>
          <a:prstGeom prst="rect">
            <a:avLst/>
          </a:prstGeom>
        </p:spPr>
        <p:txBody>
          <a:bodyPr anchor="t" rtlCol="false" tIns="0" lIns="0" bIns="0" rIns="0" wrap="none">
            <a:spAutoFit/>
          </a:bodyPr>
          <a:lstStyle/>
          <a:p>
            <a:pPr algn="ctr">
              <a:lnSpc>
                <a:spcPts val="3359"/>
              </a:lnSpc>
              <a:spcBef>
                <a:spcPct val="0"/>
              </a:spcBef>
            </a:pPr>
            <a:r>
              <a:rPr lang="en-US" sz="2399">
                <a:solidFill>
                  <a:srgbClr val="0F4662"/>
                </a:solidFill>
                <a:latin typeface="Canva Sans"/>
                <a:ea typeface="Canva Sans"/>
                <a:cs typeface="Canva Sans"/>
                <a:sym typeface="Canva Sans"/>
              </a:rPr>
              <a:t>27</a:t>
            </a:r>
          </a:p>
        </p:txBody>
      </p:sp>
      <p:grpSp>
        <p:nvGrpSpPr>
          <p:cNvPr name="Group 4" id="4"/>
          <p:cNvGrpSpPr/>
          <p:nvPr/>
        </p:nvGrpSpPr>
        <p:grpSpPr>
          <a:xfrm rot="0">
            <a:off x="0" y="0"/>
            <a:ext cx="18288000" cy="1907687"/>
            <a:chOff x="0" y="0"/>
            <a:chExt cx="4816593" cy="502436"/>
          </a:xfrm>
        </p:grpSpPr>
        <p:sp>
          <p:nvSpPr>
            <p:cNvPr name="Freeform 5" id="5"/>
            <p:cNvSpPr/>
            <p:nvPr/>
          </p:nvSpPr>
          <p:spPr>
            <a:xfrm flipH="false" flipV="false" rot="0">
              <a:off x="0" y="0"/>
              <a:ext cx="4816592" cy="502436"/>
            </a:xfrm>
            <a:custGeom>
              <a:avLst/>
              <a:gdLst/>
              <a:ahLst/>
              <a:cxnLst/>
              <a:rect r="r" b="b" t="t" l="l"/>
              <a:pathLst>
                <a:path h="502436" w="4816592">
                  <a:moveTo>
                    <a:pt x="0" y="0"/>
                  </a:moveTo>
                  <a:lnTo>
                    <a:pt x="4816592" y="0"/>
                  </a:lnTo>
                  <a:lnTo>
                    <a:pt x="4816592" y="502436"/>
                  </a:lnTo>
                  <a:lnTo>
                    <a:pt x="0" y="502436"/>
                  </a:lnTo>
                  <a:close/>
                </a:path>
              </a:pathLst>
            </a:custGeom>
            <a:solidFill>
              <a:srgbClr val="DBE5EA"/>
            </a:solidFill>
          </p:spPr>
        </p:sp>
        <p:sp>
          <p:nvSpPr>
            <p:cNvPr name="TextBox 6" id="6"/>
            <p:cNvSpPr txBox="true"/>
            <p:nvPr/>
          </p:nvSpPr>
          <p:spPr>
            <a:xfrm>
              <a:off x="0" y="-47625"/>
              <a:ext cx="4816593" cy="550061"/>
            </a:xfrm>
            <a:prstGeom prst="rect">
              <a:avLst/>
            </a:prstGeom>
          </p:spPr>
          <p:txBody>
            <a:bodyPr anchor="ctr" rtlCol="false" tIns="50800" lIns="50800" bIns="50800" rIns="50800"/>
            <a:lstStyle/>
            <a:p>
              <a:pPr algn="ctr">
                <a:lnSpc>
                  <a:spcPts val="3693"/>
                </a:lnSpc>
              </a:pPr>
            </a:p>
          </p:txBody>
        </p:sp>
      </p:grpSp>
      <p:sp>
        <p:nvSpPr>
          <p:cNvPr name="TextBox 7" id="7"/>
          <p:cNvSpPr txBox="true"/>
          <p:nvPr/>
        </p:nvSpPr>
        <p:spPr>
          <a:xfrm rot="0">
            <a:off x="854586" y="441398"/>
            <a:ext cx="16578827" cy="920115"/>
          </a:xfrm>
          <a:prstGeom prst="rect">
            <a:avLst/>
          </a:prstGeom>
        </p:spPr>
        <p:txBody>
          <a:bodyPr anchor="t" rtlCol="false" tIns="0" lIns="0" bIns="0" rIns="0">
            <a:spAutoFit/>
          </a:bodyPr>
          <a:lstStyle/>
          <a:p>
            <a:pPr algn="l">
              <a:lnSpc>
                <a:spcPts val="7559"/>
              </a:lnSpc>
            </a:pPr>
            <a:r>
              <a:rPr lang="en-US" sz="5399" u="sng">
                <a:solidFill>
                  <a:srgbClr val="0F4662"/>
                </a:solidFill>
                <a:latin typeface="Genty Sans"/>
                <a:ea typeface="Genty Sans"/>
                <a:cs typeface="Genty Sans"/>
                <a:sym typeface="Genty Sans"/>
              </a:rPr>
              <a:t>EXTRACTING THE YEAR FROM DATETIME COLUMNS</a:t>
            </a:r>
          </a:p>
        </p:txBody>
      </p:sp>
      <p:sp>
        <p:nvSpPr>
          <p:cNvPr name="TextBox 8" id="8"/>
          <p:cNvSpPr txBox="true"/>
          <p:nvPr/>
        </p:nvSpPr>
        <p:spPr>
          <a:xfrm rot="0">
            <a:off x="1621402" y="2170413"/>
            <a:ext cx="14583053" cy="2742821"/>
          </a:xfrm>
          <a:prstGeom prst="rect">
            <a:avLst/>
          </a:prstGeom>
        </p:spPr>
        <p:txBody>
          <a:bodyPr anchor="t" rtlCol="false" tIns="0" lIns="0" bIns="0" rIns="0">
            <a:spAutoFit/>
          </a:bodyPr>
          <a:lstStyle/>
          <a:p>
            <a:pPr algn="l" marL="734053" indent="-367026" lvl="1">
              <a:lnSpc>
                <a:spcPts val="5507"/>
              </a:lnSpc>
              <a:buAutoNum type="arabicPeriod" startAt="1"/>
            </a:pPr>
            <a:r>
              <a:rPr lang="en-US" sz="3399">
                <a:solidFill>
                  <a:srgbClr val="000000"/>
                </a:solidFill>
                <a:latin typeface="Open Sans"/>
                <a:ea typeface="Open Sans"/>
                <a:cs typeface="Open Sans"/>
                <a:sym typeface="Open Sans"/>
              </a:rPr>
              <a:t>Converts the founded_at, first_funding_at, and last_funding_at columns to datetime format. </a:t>
            </a:r>
            <a:r>
              <a:rPr lang="en-US" sz="3399">
                <a:solidFill>
                  <a:srgbClr val="000000"/>
                </a:solidFill>
                <a:latin typeface="Open Sans"/>
                <a:ea typeface="Open Sans"/>
                <a:cs typeface="Open Sans"/>
                <a:sym typeface="Open Sans"/>
              </a:rPr>
              <a:t>Any invalid or unconvertible values are replaced with NaT (Not a Time) using </a:t>
            </a:r>
            <a:r>
              <a:rPr lang="en-US" b="true" sz="3399">
                <a:solidFill>
                  <a:srgbClr val="000000"/>
                </a:solidFill>
                <a:latin typeface="Open Sans Bold"/>
                <a:ea typeface="Open Sans Bold"/>
                <a:cs typeface="Open Sans Bold"/>
                <a:sym typeface="Open Sans Bold"/>
              </a:rPr>
              <a:t>errors='coerce'</a:t>
            </a:r>
            <a:r>
              <a:rPr lang="en-US" sz="3399">
                <a:solidFill>
                  <a:srgbClr val="000000"/>
                </a:solidFill>
                <a:latin typeface="Open Sans"/>
                <a:ea typeface="Open Sans"/>
                <a:cs typeface="Open Sans"/>
                <a:sym typeface="Open Sans"/>
              </a:rPr>
              <a:t>.</a:t>
            </a:r>
          </a:p>
          <a:p>
            <a:pPr algn="l" marL="734053" indent="-367026" lvl="1">
              <a:lnSpc>
                <a:spcPts val="5507"/>
              </a:lnSpc>
              <a:buAutoNum type="arabicPeriod" startAt="1"/>
            </a:pPr>
            <a:r>
              <a:rPr lang="en-US" sz="3399">
                <a:solidFill>
                  <a:srgbClr val="000000"/>
                </a:solidFill>
                <a:latin typeface="Open Sans"/>
                <a:ea typeface="Open Sans"/>
                <a:cs typeface="Open Sans"/>
                <a:sym typeface="Open Sans"/>
              </a:rPr>
              <a:t>Extracts only the year part of the dates for further analysis.</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10530712" y="3224374"/>
            <a:ext cx="5982177" cy="5384090"/>
          </a:xfrm>
          <a:custGeom>
            <a:avLst/>
            <a:gdLst/>
            <a:ahLst/>
            <a:cxnLst/>
            <a:rect r="r" b="b" t="t" l="l"/>
            <a:pathLst>
              <a:path h="5384090" w="5982177">
                <a:moveTo>
                  <a:pt x="0" y="0"/>
                </a:moveTo>
                <a:lnTo>
                  <a:pt x="5982177" y="0"/>
                </a:lnTo>
                <a:lnTo>
                  <a:pt x="5982177" y="5384089"/>
                </a:lnTo>
                <a:lnTo>
                  <a:pt x="0" y="5384089"/>
                </a:lnTo>
                <a:lnTo>
                  <a:pt x="0" y="0"/>
                </a:lnTo>
                <a:close/>
              </a:path>
            </a:pathLst>
          </a:custGeom>
          <a:blipFill>
            <a:blip r:embed="rId2"/>
            <a:stretch>
              <a:fillRect l="0" t="-645" r="0" b="0"/>
            </a:stretch>
          </a:blipFill>
        </p:spPr>
      </p:sp>
      <p:sp>
        <p:nvSpPr>
          <p:cNvPr name="Freeform 3" id="3"/>
          <p:cNvSpPr/>
          <p:nvPr/>
        </p:nvSpPr>
        <p:spPr>
          <a:xfrm flipH="false" flipV="false" rot="0">
            <a:off x="1945941" y="3224374"/>
            <a:ext cx="6157190" cy="5384090"/>
          </a:xfrm>
          <a:custGeom>
            <a:avLst/>
            <a:gdLst/>
            <a:ahLst/>
            <a:cxnLst/>
            <a:rect r="r" b="b" t="t" l="l"/>
            <a:pathLst>
              <a:path h="5384090" w="6157190">
                <a:moveTo>
                  <a:pt x="0" y="0"/>
                </a:moveTo>
                <a:lnTo>
                  <a:pt x="6157190" y="0"/>
                </a:lnTo>
                <a:lnTo>
                  <a:pt x="6157190" y="5384089"/>
                </a:lnTo>
                <a:lnTo>
                  <a:pt x="0" y="5384089"/>
                </a:lnTo>
                <a:lnTo>
                  <a:pt x="0" y="0"/>
                </a:lnTo>
                <a:close/>
              </a:path>
            </a:pathLst>
          </a:custGeom>
          <a:blipFill>
            <a:blip r:embed="rId3"/>
            <a:stretch>
              <a:fillRect l="0" t="0" r="0" b="0"/>
            </a:stretch>
          </a:blipFill>
        </p:spPr>
      </p:sp>
      <p:sp>
        <p:nvSpPr>
          <p:cNvPr name="Freeform 4" id="4"/>
          <p:cNvSpPr/>
          <p:nvPr/>
        </p:nvSpPr>
        <p:spPr>
          <a:xfrm flipH="false" flipV="false" rot="0">
            <a:off x="5432249" y="8895424"/>
            <a:ext cx="7809860" cy="1205798"/>
          </a:xfrm>
          <a:custGeom>
            <a:avLst/>
            <a:gdLst/>
            <a:ahLst/>
            <a:cxnLst/>
            <a:rect r="r" b="b" t="t" l="l"/>
            <a:pathLst>
              <a:path h="1205798" w="7809860">
                <a:moveTo>
                  <a:pt x="0" y="0"/>
                </a:moveTo>
                <a:lnTo>
                  <a:pt x="7809859" y="0"/>
                </a:lnTo>
                <a:lnTo>
                  <a:pt x="7809859" y="1205798"/>
                </a:lnTo>
                <a:lnTo>
                  <a:pt x="0" y="1205798"/>
                </a:lnTo>
                <a:lnTo>
                  <a:pt x="0" y="0"/>
                </a:lnTo>
                <a:close/>
              </a:path>
            </a:pathLst>
          </a:custGeom>
          <a:blipFill>
            <a:blip r:embed="rId4"/>
            <a:stretch>
              <a:fillRect l="0" t="0" r="0" b="0"/>
            </a:stretch>
          </a:blipFill>
        </p:spPr>
      </p:sp>
      <p:sp>
        <p:nvSpPr>
          <p:cNvPr name="TextBox 5" id="5"/>
          <p:cNvSpPr txBox="true"/>
          <p:nvPr/>
        </p:nvSpPr>
        <p:spPr>
          <a:xfrm rot="0">
            <a:off x="17259300" y="9220200"/>
            <a:ext cx="152400" cy="190500"/>
          </a:xfrm>
          <a:prstGeom prst="rect">
            <a:avLst/>
          </a:prstGeom>
        </p:spPr>
        <p:txBody>
          <a:bodyPr anchor="t" rtlCol="false" tIns="0" lIns="0" bIns="0" rIns="0" wrap="none">
            <a:spAutoFit/>
          </a:bodyPr>
          <a:lstStyle/>
          <a:p>
            <a:pPr algn="ctr">
              <a:lnSpc>
                <a:spcPts val="3359"/>
              </a:lnSpc>
              <a:spcBef>
                <a:spcPct val="0"/>
              </a:spcBef>
            </a:pPr>
            <a:r>
              <a:rPr lang="en-US" sz="2399">
                <a:solidFill>
                  <a:srgbClr val="0F4662"/>
                </a:solidFill>
                <a:latin typeface="Canva Sans"/>
                <a:ea typeface="Canva Sans"/>
                <a:cs typeface="Canva Sans"/>
                <a:sym typeface="Canva Sans"/>
              </a:rPr>
              <a:t>28</a:t>
            </a:r>
          </a:p>
        </p:txBody>
      </p:sp>
      <p:sp>
        <p:nvSpPr>
          <p:cNvPr name="TextBox 6" id="6"/>
          <p:cNvSpPr txBox="true"/>
          <p:nvPr/>
        </p:nvSpPr>
        <p:spPr>
          <a:xfrm rot="0">
            <a:off x="-1684661" y="1949252"/>
            <a:ext cx="8906643" cy="1022833"/>
          </a:xfrm>
          <a:prstGeom prst="rect">
            <a:avLst/>
          </a:prstGeom>
        </p:spPr>
        <p:txBody>
          <a:bodyPr anchor="t" rtlCol="false" tIns="0" lIns="0" bIns="0" rIns="0">
            <a:spAutoFit/>
          </a:bodyPr>
          <a:lstStyle/>
          <a:p>
            <a:pPr algn="ctr">
              <a:lnSpc>
                <a:spcPts val="8409"/>
              </a:lnSpc>
            </a:pPr>
            <a:r>
              <a:rPr lang="en-US" sz="6006">
                <a:solidFill>
                  <a:srgbClr val="6F6D71"/>
                </a:solidFill>
                <a:latin typeface="Genty Sans"/>
                <a:ea typeface="Genty Sans"/>
                <a:cs typeface="Genty Sans"/>
                <a:sym typeface="Genty Sans"/>
              </a:rPr>
              <a:t>Before</a:t>
            </a:r>
          </a:p>
        </p:txBody>
      </p:sp>
      <p:sp>
        <p:nvSpPr>
          <p:cNvPr name="TextBox 7" id="7"/>
          <p:cNvSpPr txBox="true"/>
          <p:nvPr/>
        </p:nvSpPr>
        <p:spPr>
          <a:xfrm rot="0">
            <a:off x="6077391" y="1949252"/>
            <a:ext cx="8906643" cy="1022833"/>
          </a:xfrm>
          <a:prstGeom prst="rect">
            <a:avLst/>
          </a:prstGeom>
        </p:spPr>
        <p:txBody>
          <a:bodyPr anchor="t" rtlCol="false" tIns="0" lIns="0" bIns="0" rIns="0">
            <a:spAutoFit/>
          </a:bodyPr>
          <a:lstStyle/>
          <a:p>
            <a:pPr algn="ctr">
              <a:lnSpc>
                <a:spcPts val="8409"/>
              </a:lnSpc>
            </a:pPr>
            <a:r>
              <a:rPr lang="en-US" sz="6006">
                <a:solidFill>
                  <a:srgbClr val="6F6D71"/>
                </a:solidFill>
                <a:latin typeface="Genty Sans"/>
                <a:ea typeface="Genty Sans"/>
                <a:cs typeface="Genty Sans"/>
                <a:sym typeface="Genty Sans"/>
              </a:rPr>
              <a:t>After</a:t>
            </a:r>
          </a:p>
        </p:txBody>
      </p:sp>
      <p:grpSp>
        <p:nvGrpSpPr>
          <p:cNvPr name="Group 8" id="8"/>
          <p:cNvGrpSpPr/>
          <p:nvPr/>
        </p:nvGrpSpPr>
        <p:grpSpPr>
          <a:xfrm rot="0">
            <a:off x="0" y="0"/>
            <a:ext cx="18288000" cy="1907687"/>
            <a:chOff x="0" y="0"/>
            <a:chExt cx="4816593" cy="502436"/>
          </a:xfrm>
        </p:grpSpPr>
        <p:sp>
          <p:nvSpPr>
            <p:cNvPr name="Freeform 9" id="9"/>
            <p:cNvSpPr/>
            <p:nvPr/>
          </p:nvSpPr>
          <p:spPr>
            <a:xfrm flipH="false" flipV="false" rot="0">
              <a:off x="0" y="0"/>
              <a:ext cx="4816592" cy="502436"/>
            </a:xfrm>
            <a:custGeom>
              <a:avLst/>
              <a:gdLst/>
              <a:ahLst/>
              <a:cxnLst/>
              <a:rect r="r" b="b" t="t" l="l"/>
              <a:pathLst>
                <a:path h="502436" w="4816592">
                  <a:moveTo>
                    <a:pt x="0" y="0"/>
                  </a:moveTo>
                  <a:lnTo>
                    <a:pt x="4816592" y="0"/>
                  </a:lnTo>
                  <a:lnTo>
                    <a:pt x="4816592" y="502436"/>
                  </a:lnTo>
                  <a:lnTo>
                    <a:pt x="0" y="502436"/>
                  </a:lnTo>
                  <a:close/>
                </a:path>
              </a:pathLst>
            </a:custGeom>
            <a:solidFill>
              <a:srgbClr val="DBE5EA"/>
            </a:solidFill>
          </p:spPr>
        </p:sp>
        <p:sp>
          <p:nvSpPr>
            <p:cNvPr name="TextBox 10" id="10"/>
            <p:cNvSpPr txBox="true"/>
            <p:nvPr/>
          </p:nvSpPr>
          <p:spPr>
            <a:xfrm>
              <a:off x="0" y="-47625"/>
              <a:ext cx="4816593" cy="550061"/>
            </a:xfrm>
            <a:prstGeom prst="rect">
              <a:avLst/>
            </a:prstGeom>
          </p:spPr>
          <p:txBody>
            <a:bodyPr anchor="ctr" rtlCol="false" tIns="50800" lIns="50800" bIns="50800" rIns="50800"/>
            <a:lstStyle/>
            <a:p>
              <a:pPr algn="ctr">
                <a:lnSpc>
                  <a:spcPts val="3693"/>
                </a:lnSpc>
              </a:pPr>
            </a:p>
          </p:txBody>
        </p:sp>
      </p:grpSp>
      <p:sp>
        <p:nvSpPr>
          <p:cNvPr name="TextBox 11" id="11"/>
          <p:cNvSpPr txBox="true"/>
          <p:nvPr/>
        </p:nvSpPr>
        <p:spPr>
          <a:xfrm rot="0">
            <a:off x="854586" y="441398"/>
            <a:ext cx="16578827" cy="920115"/>
          </a:xfrm>
          <a:prstGeom prst="rect">
            <a:avLst/>
          </a:prstGeom>
        </p:spPr>
        <p:txBody>
          <a:bodyPr anchor="t" rtlCol="false" tIns="0" lIns="0" bIns="0" rIns="0">
            <a:spAutoFit/>
          </a:bodyPr>
          <a:lstStyle/>
          <a:p>
            <a:pPr algn="l">
              <a:lnSpc>
                <a:spcPts val="7559"/>
              </a:lnSpc>
            </a:pPr>
            <a:r>
              <a:rPr lang="en-US" sz="5399" u="sng">
                <a:solidFill>
                  <a:srgbClr val="0F4662"/>
                </a:solidFill>
                <a:latin typeface="Genty Sans"/>
                <a:ea typeface="Genty Sans"/>
                <a:cs typeface="Genty Sans"/>
                <a:sym typeface="Genty Sans"/>
              </a:rPr>
              <a:t>EXTRACTING THE YEAR FROM DATETIME COLUMNS</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4362460" y="5098876"/>
            <a:ext cx="9563080" cy="3157621"/>
          </a:xfrm>
          <a:custGeom>
            <a:avLst/>
            <a:gdLst/>
            <a:ahLst/>
            <a:cxnLst/>
            <a:rect r="r" b="b" t="t" l="l"/>
            <a:pathLst>
              <a:path h="3157621" w="9563080">
                <a:moveTo>
                  <a:pt x="0" y="0"/>
                </a:moveTo>
                <a:lnTo>
                  <a:pt x="9563080" y="0"/>
                </a:lnTo>
                <a:lnTo>
                  <a:pt x="9563080" y="3157621"/>
                </a:lnTo>
                <a:lnTo>
                  <a:pt x="0" y="3157621"/>
                </a:lnTo>
                <a:lnTo>
                  <a:pt x="0" y="0"/>
                </a:lnTo>
                <a:close/>
              </a:path>
            </a:pathLst>
          </a:custGeom>
          <a:blipFill>
            <a:blip r:embed="rId3"/>
            <a:stretch>
              <a:fillRect l="0" t="0" r="0" b="0"/>
            </a:stretch>
          </a:blipFill>
        </p:spPr>
      </p:sp>
      <p:sp>
        <p:nvSpPr>
          <p:cNvPr name="Freeform 3" id="3"/>
          <p:cNvSpPr/>
          <p:nvPr/>
        </p:nvSpPr>
        <p:spPr>
          <a:xfrm flipH="false" flipV="false" rot="0">
            <a:off x="2212538" y="8494622"/>
            <a:ext cx="13862924" cy="1542250"/>
          </a:xfrm>
          <a:custGeom>
            <a:avLst/>
            <a:gdLst/>
            <a:ahLst/>
            <a:cxnLst/>
            <a:rect r="r" b="b" t="t" l="l"/>
            <a:pathLst>
              <a:path h="1542250" w="13862924">
                <a:moveTo>
                  <a:pt x="0" y="0"/>
                </a:moveTo>
                <a:lnTo>
                  <a:pt x="13862924" y="0"/>
                </a:lnTo>
                <a:lnTo>
                  <a:pt x="13862924" y="1542250"/>
                </a:lnTo>
                <a:lnTo>
                  <a:pt x="0" y="1542250"/>
                </a:lnTo>
                <a:lnTo>
                  <a:pt x="0" y="0"/>
                </a:lnTo>
                <a:close/>
              </a:path>
            </a:pathLst>
          </a:custGeom>
          <a:blipFill>
            <a:blip r:embed="rId4"/>
            <a:stretch>
              <a:fillRect l="0" t="0" r="0" b="0"/>
            </a:stretch>
          </a:blipFill>
        </p:spPr>
      </p:sp>
      <p:sp>
        <p:nvSpPr>
          <p:cNvPr name="TextBox 4" id="4"/>
          <p:cNvSpPr txBox="true"/>
          <p:nvPr/>
        </p:nvSpPr>
        <p:spPr>
          <a:xfrm rot="0">
            <a:off x="17259300" y="9220200"/>
            <a:ext cx="152400" cy="190500"/>
          </a:xfrm>
          <a:prstGeom prst="rect">
            <a:avLst/>
          </a:prstGeom>
        </p:spPr>
        <p:txBody>
          <a:bodyPr anchor="t" rtlCol="false" tIns="0" lIns="0" bIns="0" rIns="0" wrap="none">
            <a:spAutoFit/>
          </a:bodyPr>
          <a:lstStyle/>
          <a:p>
            <a:pPr algn="ctr">
              <a:lnSpc>
                <a:spcPts val="3359"/>
              </a:lnSpc>
              <a:spcBef>
                <a:spcPct val="0"/>
              </a:spcBef>
            </a:pPr>
            <a:r>
              <a:rPr lang="en-US" sz="2399">
                <a:solidFill>
                  <a:srgbClr val="0F4662"/>
                </a:solidFill>
                <a:latin typeface="Canva Sans"/>
                <a:ea typeface="Canva Sans"/>
                <a:cs typeface="Canva Sans"/>
                <a:sym typeface="Canva Sans"/>
              </a:rPr>
              <a:t>29</a:t>
            </a:r>
          </a:p>
        </p:txBody>
      </p:sp>
      <p:grpSp>
        <p:nvGrpSpPr>
          <p:cNvPr name="Group 5" id="5"/>
          <p:cNvGrpSpPr/>
          <p:nvPr/>
        </p:nvGrpSpPr>
        <p:grpSpPr>
          <a:xfrm rot="0">
            <a:off x="0" y="0"/>
            <a:ext cx="18288000" cy="1907687"/>
            <a:chOff x="0" y="0"/>
            <a:chExt cx="4816593" cy="502436"/>
          </a:xfrm>
        </p:grpSpPr>
        <p:sp>
          <p:nvSpPr>
            <p:cNvPr name="Freeform 6" id="6"/>
            <p:cNvSpPr/>
            <p:nvPr/>
          </p:nvSpPr>
          <p:spPr>
            <a:xfrm flipH="false" flipV="false" rot="0">
              <a:off x="0" y="0"/>
              <a:ext cx="4816592" cy="502436"/>
            </a:xfrm>
            <a:custGeom>
              <a:avLst/>
              <a:gdLst/>
              <a:ahLst/>
              <a:cxnLst/>
              <a:rect r="r" b="b" t="t" l="l"/>
              <a:pathLst>
                <a:path h="502436" w="4816592">
                  <a:moveTo>
                    <a:pt x="0" y="0"/>
                  </a:moveTo>
                  <a:lnTo>
                    <a:pt x="4816592" y="0"/>
                  </a:lnTo>
                  <a:lnTo>
                    <a:pt x="4816592" y="502436"/>
                  </a:lnTo>
                  <a:lnTo>
                    <a:pt x="0" y="502436"/>
                  </a:lnTo>
                  <a:close/>
                </a:path>
              </a:pathLst>
            </a:custGeom>
            <a:solidFill>
              <a:srgbClr val="DBE5EA"/>
            </a:solidFill>
          </p:spPr>
        </p:sp>
        <p:sp>
          <p:nvSpPr>
            <p:cNvPr name="TextBox 7" id="7"/>
            <p:cNvSpPr txBox="true"/>
            <p:nvPr/>
          </p:nvSpPr>
          <p:spPr>
            <a:xfrm>
              <a:off x="0" y="-47625"/>
              <a:ext cx="4816593" cy="550061"/>
            </a:xfrm>
            <a:prstGeom prst="rect">
              <a:avLst/>
            </a:prstGeom>
          </p:spPr>
          <p:txBody>
            <a:bodyPr anchor="ctr" rtlCol="false" tIns="50800" lIns="50800" bIns="50800" rIns="50800"/>
            <a:lstStyle/>
            <a:p>
              <a:pPr algn="ctr">
                <a:lnSpc>
                  <a:spcPts val="3693"/>
                </a:lnSpc>
              </a:pPr>
            </a:p>
          </p:txBody>
        </p:sp>
      </p:grpSp>
      <p:sp>
        <p:nvSpPr>
          <p:cNvPr name="TextBox 8" id="8"/>
          <p:cNvSpPr txBox="true"/>
          <p:nvPr/>
        </p:nvSpPr>
        <p:spPr>
          <a:xfrm rot="0">
            <a:off x="1394204" y="319805"/>
            <a:ext cx="15499592" cy="936625"/>
          </a:xfrm>
          <a:prstGeom prst="rect">
            <a:avLst/>
          </a:prstGeom>
        </p:spPr>
        <p:txBody>
          <a:bodyPr anchor="t" rtlCol="false" tIns="0" lIns="0" bIns="0" rIns="0">
            <a:spAutoFit/>
          </a:bodyPr>
          <a:lstStyle/>
          <a:p>
            <a:pPr algn="l">
              <a:lnSpc>
                <a:spcPts val="7699"/>
              </a:lnSpc>
            </a:pPr>
            <a:r>
              <a:rPr lang="en-US" sz="5499" u="sng">
                <a:solidFill>
                  <a:srgbClr val="0F4662"/>
                </a:solidFill>
                <a:latin typeface="Genty Sans"/>
                <a:ea typeface="Genty Sans"/>
                <a:cs typeface="Genty Sans"/>
                <a:sym typeface="Genty Sans"/>
              </a:rPr>
              <a:t>FILLING MISSING DATA IN DATETIME COLUMNS</a:t>
            </a:r>
          </a:p>
        </p:txBody>
      </p:sp>
      <p:sp>
        <p:nvSpPr>
          <p:cNvPr name="TextBox 9" id="9"/>
          <p:cNvSpPr txBox="true"/>
          <p:nvPr/>
        </p:nvSpPr>
        <p:spPr>
          <a:xfrm rot="0">
            <a:off x="677162" y="1926257"/>
            <a:ext cx="16582138" cy="2979599"/>
          </a:xfrm>
          <a:prstGeom prst="rect">
            <a:avLst/>
          </a:prstGeom>
        </p:spPr>
        <p:txBody>
          <a:bodyPr anchor="t" rtlCol="false" tIns="0" lIns="0" bIns="0" rIns="0">
            <a:spAutoFit/>
          </a:bodyPr>
          <a:lstStyle/>
          <a:p>
            <a:pPr algn="l">
              <a:lnSpc>
                <a:spcPts val="6036"/>
              </a:lnSpc>
            </a:pPr>
            <a:r>
              <a:rPr lang="en-US" sz="3143">
                <a:solidFill>
                  <a:srgbClr val="000000"/>
                </a:solidFill>
                <a:latin typeface="Open Sans"/>
                <a:ea typeface="Open Sans"/>
                <a:cs typeface="Open Sans"/>
                <a:sym typeface="Open Sans"/>
              </a:rPr>
              <a:t>Filling missing founded_at years using  :</a:t>
            </a:r>
          </a:p>
          <a:p>
            <a:pPr algn="l" marL="1357527" indent="-452509" lvl="2">
              <a:lnSpc>
                <a:spcPts val="6036"/>
              </a:lnSpc>
              <a:buFont typeface="Arial"/>
              <a:buChar char="⚬"/>
            </a:pPr>
            <a:r>
              <a:rPr lang="en-US" sz="3143">
                <a:solidFill>
                  <a:srgbClr val="000000"/>
                </a:solidFill>
                <a:latin typeface="Open Sans"/>
                <a:ea typeface="Open Sans"/>
                <a:cs typeface="Open Sans"/>
                <a:sym typeface="Open Sans"/>
              </a:rPr>
              <a:t>first_funding_at values if available.</a:t>
            </a:r>
          </a:p>
          <a:p>
            <a:pPr algn="l" marL="1357527" indent="-452509" lvl="2">
              <a:lnSpc>
                <a:spcPts val="6036"/>
              </a:lnSpc>
              <a:buFont typeface="Arial"/>
              <a:buChar char="⚬"/>
            </a:pPr>
            <a:r>
              <a:rPr lang="en-US" sz="3143">
                <a:solidFill>
                  <a:srgbClr val="000000"/>
                </a:solidFill>
                <a:latin typeface="Open Sans"/>
                <a:ea typeface="Open Sans"/>
                <a:cs typeface="Open Sans"/>
                <a:sym typeface="Open Sans"/>
              </a:rPr>
              <a:t>Filling remaining missing values with the most common founded_at date for their corresponding status.</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881228" y="3353907"/>
            <a:ext cx="7477287" cy="1788417"/>
          </a:xfrm>
          <a:custGeom>
            <a:avLst/>
            <a:gdLst/>
            <a:ahLst/>
            <a:cxnLst/>
            <a:rect r="r" b="b" t="t" l="l"/>
            <a:pathLst>
              <a:path h="1788417" w="7477287">
                <a:moveTo>
                  <a:pt x="0" y="0"/>
                </a:moveTo>
                <a:lnTo>
                  <a:pt x="7477287" y="0"/>
                </a:lnTo>
                <a:lnTo>
                  <a:pt x="7477287" y="1788417"/>
                </a:lnTo>
                <a:lnTo>
                  <a:pt x="0" y="1788417"/>
                </a:lnTo>
                <a:lnTo>
                  <a:pt x="0" y="0"/>
                </a:lnTo>
                <a:close/>
              </a:path>
            </a:pathLst>
          </a:custGeom>
          <a:blipFill>
            <a:blip r:embed="rId2"/>
            <a:stretch>
              <a:fillRect l="0" t="0" r="0" b="0"/>
            </a:stretch>
          </a:blipFill>
        </p:spPr>
      </p:sp>
      <p:sp>
        <p:nvSpPr>
          <p:cNvPr name="Freeform 3" id="3"/>
          <p:cNvSpPr/>
          <p:nvPr/>
        </p:nvSpPr>
        <p:spPr>
          <a:xfrm flipH="false" flipV="false" rot="0">
            <a:off x="10819338" y="3353907"/>
            <a:ext cx="6732865" cy="1788417"/>
          </a:xfrm>
          <a:custGeom>
            <a:avLst/>
            <a:gdLst/>
            <a:ahLst/>
            <a:cxnLst/>
            <a:rect r="r" b="b" t="t" l="l"/>
            <a:pathLst>
              <a:path h="1788417" w="6732865">
                <a:moveTo>
                  <a:pt x="0" y="0"/>
                </a:moveTo>
                <a:lnTo>
                  <a:pt x="6732865" y="0"/>
                </a:lnTo>
                <a:lnTo>
                  <a:pt x="6732865" y="1788417"/>
                </a:lnTo>
                <a:lnTo>
                  <a:pt x="0" y="1788417"/>
                </a:lnTo>
                <a:lnTo>
                  <a:pt x="0" y="0"/>
                </a:lnTo>
                <a:close/>
              </a:path>
            </a:pathLst>
          </a:custGeom>
          <a:blipFill>
            <a:blip r:embed="rId3"/>
            <a:stretch>
              <a:fillRect l="0" t="0" r="0" b="0"/>
            </a:stretch>
          </a:blipFill>
        </p:spPr>
      </p:sp>
      <p:sp>
        <p:nvSpPr>
          <p:cNvPr name="Freeform 4" id="4"/>
          <p:cNvSpPr/>
          <p:nvPr/>
        </p:nvSpPr>
        <p:spPr>
          <a:xfrm flipH="false" flipV="false" rot="0">
            <a:off x="4257293" y="6047199"/>
            <a:ext cx="13779677" cy="1670786"/>
          </a:xfrm>
          <a:custGeom>
            <a:avLst/>
            <a:gdLst/>
            <a:ahLst/>
            <a:cxnLst/>
            <a:rect r="r" b="b" t="t" l="l"/>
            <a:pathLst>
              <a:path h="1670786" w="13779677">
                <a:moveTo>
                  <a:pt x="0" y="0"/>
                </a:moveTo>
                <a:lnTo>
                  <a:pt x="13779677" y="0"/>
                </a:lnTo>
                <a:lnTo>
                  <a:pt x="13779677" y="1670786"/>
                </a:lnTo>
                <a:lnTo>
                  <a:pt x="0" y="1670786"/>
                </a:lnTo>
                <a:lnTo>
                  <a:pt x="0" y="0"/>
                </a:lnTo>
                <a:close/>
              </a:path>
            </a:pathLst>
          </a:custGeom>
          <a:blipFill>
            <a:blip r:embed="rId4"/>
            <a:stretch>
              <a:fillRect l="0" t="0" r="0" b="0"/>
            </a:stretch>
          </a:blipFill>
        </p:spPr>
      </p:sp>
      <p:sp>
        <p:nvSpPr>
          <p:cNvPr name="Freeform 5" id="5"/>
          <p:cNvSpPr/>
          <p:nvPr/>
        </p:nvSpPr>
        <p:spPr>
          <a:xfrm flipH="false" flipV="false" rot="0">
            <a:off x="4257293" y="8391837"/>
            <a:ext cx="10745961" cy="1387786"/>
          </a:xfrm>
          <a:custGeom>
            <a:avLst/>
            <a:gdLst/>
            <a:ahLst/>
            <a:cxnLst/>
            <a:rect r="r" b="b" t="t" l="l"/>
            <a:pathLst>
              <a:path h="1387786" w="10745961">
                <a:moveTo>
                  <a:pt x="0" y="0"/>
                </a:moveTo>
                <a:lnTo>
                  <a:pt x="10745961" y="0"/>
                </a:lnTo>
                <a:lnTo>
                  <a:pt x="10745961" y="1387786"/>
                </a:lnTo>
                <a:lnTo>
                  <a:pt x="0" y="1387786"/>
                </a:lnTo>
                <a:lnTo>
                  <a:pt x="0" y="0"/>
                </a:lnTo>
                <a:close/>
              </a:path>
            </a:pathLst>
          </a:custGeom>
          <a:blipFill>
            <a:blip r:embed="rId5"/>
            <a:stretch>
              <a:fillRect l="0" t="0" r="0" b="0"/>
            </a:stretch>
          </a:blipFill>
        </p:spPr>
      </p:sp>
      <p:sp>
        <p:nvSpPr>
          <p:cNvPr name="TextBox 6" id="6"/>
          <p:cNvSpPr txBox="true"/>
          <p:nvPr/>
        </p:nvSpPr>
        <p:spPr>
          <a:xfrm rot="0">
            <a:off x="17259300" y="9220200"/>
            <a:ext cx="152400" cy="190500"/>
          </a:xfrm>
          <a:prstGeom prst="rect">
            <a:avLst/>
          </a:prstGeom>
        </p:spPr>
        <p:txBody>
          <a:bodyPr anchor="t" rtlCol="false" tIns="0" lIns="0" bIns="0" rIns="0" wrap="none">
            <a:spAutoFit/>
          </a:bodyPr>
          <a:lstStyle/>
          <a:p>
            <a:pPr algn="ctr">
              <a:lnSpc>
                <a:spcPts val="3359"/>
              </a:lnSpc>
              <a:spcBef>
                <a:spcPct val="0"/>
              </a:spcBef>
            </a:pPr>
            <a:r>
              <a:rPr lang="en-US" sz="2399">
                <a:solidFill>
                  <a:srgbClr val="0F4662"/>
                </a:solidFill>
                <a:latin typeface="Canva Sans"/>
                <a:ea typeface="Canva Sans"/>
                <a:cs typeface="Canva Sans"/>
                <a:sym typeface="Canva Sans"/>
              </a:rPr>
              <a:t>30</a:t>
            </a:r>
          </a:p>
        </p:txBody>
      </p:sp>
      <p:sp>
        <p:nvSpPr>
          <p:cNvPr name="TextBox 7" id="7"/>
          <p:cNvSpPr txBox="true"/>
          <p:nvPr/>
        </p:nvSpPr>
        <p:spPr>
          <a:xfrm rot="0">
            <a:off x="-1815700" y="2164898"/>
            <a:ext cx="9072688" cy="1039771"/>
          </a:xfrm>
          <a:prstGeom prst="rect">
            <a:avLst/>
          </a:prstGeom>
        </p:spPr>
        <p:txBody>
          <a:bodyPr anchor="t" rtlCol="false" tIns="0" lIns="0" bIns="0" rIns="0">
            <a:spAutoFit/>
          </a:bodyPr>
          <a:lstStyle/>
          <a:p>
            <a:pPr algn="ctr">
              <a:lnSpc>
                <a:spcPts val="8566"/>
              </a:lnSpc>
            </a:pPr>
            <a:r>
              <a:rPr lang="en-US" sz="6118">
                <a:solidFill>
                  <a:srgbClr val="6F6D71"/>
                </a:solidFill>
                <a:latin typeface="Genty Sans"/>
                <a:ea typeface="Genty Sans"/>
                <a:cs typeface="Genty Sans"/>
                <a:sym typeface="Genty Sans"/>
              </a:rPr>
              <a:t>Before</a:t>
            </a:r>
          </a:p>
        </p:txBody>
      </p:sp>
      <p:sp>
        <p:nvSpPr>
          <p:cNvPr name="TextBox 8" id="8"/>
          <p:cNvSpPr txBox="true"/>
          <p:nvPr/>
        </p:nvSpPr>
        <p:spPr>
          <a:xfrm rot="0">
            <a:off x="5930566" y="2164898"/>
            <a:ext cx="9072688" cy="1039771"/>
          </a:xfrm>
          <a:prstGeom prst="rect">
            <a:avLst/>
          </a:prstGeom>
        </p:spPr>
        <p:txBody>
          <a:bodyPr anchor="t" rtlCol="false" tIns="0" lIns="0" bIns="0" rIns="0">
            <a:spAutoFit/>
          </a:bodyPr>
          <a:lstStyle/>
          <a:p>
            <a:pPr algn="ctr">
              <a:lnSpc>
                <a:spcPts val="8566"/>
              </a:lnSpc>
            </a:pPr>
            <a:r>
              <a:rPr lang="en-US" sz="6118">
                <a:solidFill>
                  <a:srgbClr val="6F6D71"/>
                </a:solidFill>
                <a:latin typeface="Genty Sans"/>
                <a:ea typeface="Genty Sans"/>
                <a:cs typeface="Genty Sans"/>
                <a:sym typeface="Genty Sans"/>
              </a:rPr>
              <a:t>After</a:t>
            </a:r>
          </a:p>
        </p:txBody>
      </p:sp>
      <p:sp>
        <p:nvSpPr>
          <p:cNvPr name="TextBox 9" id="9"/>
          <p:cNvSpPr txBox="true"/>
          <p:nvPr/>
        </p:nvSpPr>
        <p:spPr>
          <a:xfrm rot="0">
            <a:off x="-2090828" y="6334946"/>
            <a:ext cx="9072688" cy="1039771"/>
          </a:xfrm>
          <a:prstGeom prst="rect">
            <a:avLst/>
          </a:prstGeom>
        </p:spPr>
        <p:txBody>
          <a:bodyPr anchor="t" rtlCol="false" tIns="0" lIns="0" bIns="0" rIns="0">
            <a:spAutoFit/>
          </a:bodyPr>
          <a:lstStyle/>
          <a:p>
            <a:pPr algn="ctr">
              <a:lnSpc>
                <a:spcPts val="8566"/>
              </a:lnSpc>
            </a:pPr>
            <a:r>
              <a:rPr lang="en-US" sz="6118">
                <a:solidFill>
                  <a:srgbClr val="6F6D71"/>
                </a:solidFill>
                <a:latin typeface="Genty Sans"/>
                <a:ea typeface="Genty Sans"/>
                <a:cs typeface="Genty Sans"/>
                <a:sym typeface="Genty Sans"/>
              </a:rPr>
              <a:t>Before</a:t>
            </a:r>
          </a:p>
        </p:txBody>
      </p:sp>
      <p:sp>
        <p:nvSpPr>
          <p:cNvPr name="TextBox 10" id="10"/>
          <p:cNvSpPr txBox="true"/>
          <p:nvPr/>
        </p:nvSpPr>
        <p:spPr>
          <a:xfrm rot="0">
            <a:off x="-2090828" y="8506377"/>
            <a:ext cx="9072688" cy="1039771"/>
          </a:xfrm>
          <a:prstGeom prst="rect">
            <a:avLst/>
          </a:prstGeom>
        </p:spPr>
        <p:txBody>
          <a:bodyPr anchor="t" rtlCol="false" tIns="0" lIns="0" bIns="0" rIns="0">
            <a:spAutoFit/>
          </a:bodyPr>
          <a:lstStyle/>
          <a:p>
            <a:pPr algn="ctr">
              <a:lnSpc>
                <a:spcPts val="8566"/>
              </a:lnSpc>
            </a:pPr>
            <a:r>
              <a:rPr lang="en-US" sz="6118">
                <a:solidFill>
                  <a:srgbClr val="6F6D71"/>
                </a:solidFill>
                <a:latin typeface="Genty Sans"/>
                <a:ea typeface="Genty Sans"/>
                <a:cs typeface="Genty Sans"/>
                <a:sym typeface="Genty Sans"/>
              </a:rPr>
              <a:t>After</a:t>
            </a:r>
          </a:p>
        </p:txBody>
      </p:sp>
      <p:grpSp>
        <p:nvGrpSpPr>
          <p:cNvPr name="Group 11" id="11"/>
          <p:cNvGrpSpPr/>
          <p:nvPr/>
        </p:nvGrpSpPr>
        <p:grpSpPr>
          <a:xfrm rot="0">
            <a:off x="0" y="0"/>
            <a:ext cx="18288000" cy="1907687"/>
            <a:chOff x="0" y="0"/>
            <a:chExt cx="4816593" cy="502436"/>
          </a:xfrm>
        </p:grpSpPr>
        <p:sp>
          <p:nvSpPr>
            <p:cNvPr name="Freeform 12" id="12"/>
            <p:cNvSpPr/>
            <p:nvPr/>
          </p:nvSpPr>
          <p:spPr>
            <a:xfrm flipH="false" flipV="false" rot="0">
              <a:off x="0" y="0"/>
              <a:ext cx="4816592" cy="502436"/>
            </a:xfrm>
            <a:custGeom>
              <a:avLst/>
              <a:gdLst/>
              <a:ahLst/>
              <a:cxnLst/>
              <a:rect r="r" b="b" t="t" l="l"/>
              <a:pathLst>
                <a:path h="502436" w="4816592">
                  <a:moveTo>
                    <a:pt x="0" y="0"/>
                  </a:moveTo>
                  <a:lnTo>
                    <a:pt x="4816592" y="0"/>
                  </a:lnTo>
                  <a:lnTo>
                    <a:pt x="4816592" y="502436"/>
                  </a:lnTo>
                  <a:lnTo>
                    <a:pt x="0" y="502436"/>
                  </a:lnTo>
                  <a:close/>
                </a:path>
              </a:pathLst>
            </a:custGeom>
            <a:solidFill>
              <a:srgbClr val="DBE5EA"/>
            </a:solidFill>
          </p:spPr>
        </p:sp>
        <p:sp>
          <p:nvSpPr>
            <p:cNvPr name="TextBox 13" id="13"/>
            <p:cNvSpPr txBox="true"/>
            <p:nvPr/>
          </p:nvSpPr>
          <p:spPr>
            <a:xfrm>
              <a:off x="0" y="-47625"/>
              <a:ext cx="4816593" cy="550061"/>
            </a:xfrm>
            <a:prstGeom prst="rect">
              <a:avLst/>
            </a:prstGeom>
          </p:spPr>
          <p:txBody>
            <a:bodyPr anchor="ctr" rtlCol="false" tIns="50800" lIns="50800" bIns="50800" rIns="50800"/>
            <a:lstStyle/>
            <a:p>
              <a:pPr algn="ctr">
                <a:lnSpc>
                  <a:spcPts val="3693"/>
                </a:lnSpc>
              </a:pPr>
            </a:p>
          </p:txBody>
        </p:sp>
      </p:grpSp>
      <p:sp>
        <p:nvSpPr>
          <p:cNvPr name="TextBox 14" id="14"/>
          <p:cNvSpPr txBox="true"/>
          <p:nvPr/>
        </p:nvSpPr>
        <p:spPr>
          <a:xfrm rot="0">
            <a:off x="1394204" y="319805"/>
            <a:ext cx="15499592" cy="936625"/>
          </a:xfrm>
          <a:prstGeom prst="rect">
            <a:avLst/>
          </a:prstGeom>
        </p:spPr>
        <p:txBody>
          <a:bodyPr anchor="t" rtlCol="false" tIns="0" lIns="0" bIns="0" rIns="0">
            <a:spAutoFit/>
          </a:bodyPr>
          <a:lstStyle/>
          <a:p>
            <a:pPr algn="l">
              <a:lnSpc>
                <a:spcPts val="7699"/>
              </a:lnSpc>
            </a:pPr>
            <a:r>
              <a:rPr lang="en-US" sz="5499" u="sng">
                <a:solidFill>
                  <a:srgbClr val="0F4662"/>
                </a:solidFill>
                <a:latin typeface="Genty Sans"/>
                <a:ea typeface="Genty Sans"/>
                <a:cs typeface="Genty Sans"/>
                <a:sym typeface="Genty Sans"/>
              </a:rPr>
              <a:t>FILLING MISSING DATA IN DATETIME COLUMNS</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3437678" y="2786903"/>
            <a:ext cx="12029133" cy="5458245"/>
          </a:xfrm>
          <a:custGeom>
            <a:avLst/>
            <a:gdLst/>
            <a:ahLst/>
            <a:cxnLst/>
            <a:rect r="r" b="b" t="t" l="l"/>
            <a:pathLst>
              <a:path h="5458245" w="12029133">
                <a:moveTo>
                  <a:pt x="0" y="0"/>
                </a:moveTo>
                <a:lnTo>
                  <a:pt x="12029133" y="0"/>
                </a:lnTo>
                <a:lnTo>
                  <a:pt x="12029133" y="5458245"/>
                </a:lnTo>
                <a:lnTo>
                  <a:pt x="0" y="5458245"/>
                </a:lnTo>
                <a:lnTo>
                  <a:pt x="0" y="0"/>
                </a:lnTo>
                <a:close/>
              </a:path>
            </a:pathLst>
          </a:custGeom>
          <a:blipFill>
            <a:blip r:embed="rId2"/>
            <a:stretch>
              <a:fillRect l="0" t="0" r="0" b="0"/>
            </a:stretch>
          </a:blipFill>
        </p:spPr>
      </p:sp>
      <p:sp>
        <p:nvSpPr>
          <p:cNvPr name="TextBox 3" id="3"/>
          <p:cNvSpPr txBox="true"/>
          <p:nvPr/>
        </p:nvSpPr>
        <p:spPr>
          <a:xfrm rot="0">
            <a:off x="17259300" y="9220200"/>
            <a:ext cx="152400" cy="190500"/>
          </a:xfrm>
          <a:prstGeom prst="rect">
            <a:avLst/>
          </a:prstGeom>
        </p:spPr>
        <p:txBody>
          <a:bodyPr anchor="t" rtlCol="false" tIns="0" lIns="0" bIns="0" rIns="0" wrap="none">
            <a:spAutoFit/>
          </a:bodyPr>
          <a:lstStyle/>
          <a:p>
            <a:pPr algn="ctr">
              <a:lnSpc>
                <a:spcPts val="3359"/>
              </a:lnSpc>
              <a:spcBef>
                <a:spcPct val="0"/>
              </a:spcBef>
            </a:pPr>
            <a:r>
              <a:rPr lang="en-US" sz="2399">
                <a:solidFill>
                  <a:srgbClr val="0F4662"/>
                </a:solidFill>
                <a:latin typeface="Canva Sans"/>
                <a:ea typeface="Canva Sans"/>
                <a:cs typeface="Canva Sans"/>
                <a:sym typeface="Canva Sans"/>
              </a:rPr>
              <a:t>31</a:t>
            </a:r>
          </a:p>
        </p:txBody>
      </p:sp>
      <p:grpSp>
        <p:nvGrpSpPr>
          <p:cNvPr name="Group 4" id="4"/>
          <p:cNvGrpSpPr/>
          <p:nvPr/>
        </p:nvGrpSpPr>
        <p:grpSpPr>
          <a:xfrm rot="0">
            <a:off x="0" y="0"/>
            <a:ext cx="18288000" cy="1907687"/>
            <a:chOff x="0" y="0"/>
            <a:chExt cx="4816593" cy="502436"/>
          </a:xfrm>
        </p:grpSpPr>
        <p:sp>
          <p:nvSpPr>
            <p:cNvPr name="Freeform 5" id="5"/>
            <p:cNvSpPr/>
            <p:nvPr/>
          </p:nvSpPr>
          <p:spPr>
            <a:xfrm flipH="false" flipV="false" rot="0">
              <a:off x="0" y="0"/>
              <a:ext cx="4816592" cy="502436"/>
            </a:xfrm>
            <a:custGeom>
              <a:avLst/>
              <a:gdLst/>
              <a:ahLst/>
              <a:cxnLst/>
              <a:rect r="r" b="b" t="t" l="l"/>
              <a:pathLst>
                <a:path h="502436" w="4816592">
                  <a:moveTo>
                    <a:pt x="0" y="0"/>
                  </a:moveTo>
                  <a:lnTo>
                    <a:pt x="4816592" y="0"/>
                  </a:lnTo>
                  <a:lnTo>
                    <a:pt x="4816592" y="502436"/>
                  </a:lnTo>
                  <a:lnTo>
                    <a:pt x="0" y="502436"/>
                  </a:lnTo>
                  <a:close/>
                </a:path>
              </a:pathLst>
            </a:custGeom>
            <a:solidFill>
              <a:srgbClr val="DBE5EA"/>
            </a:solidFill>
          </p:spPr>
        </p:sp>
        <p:sp>
          <p:nvSpPr>
            <p:cNvPr name="TextBox 6" id="6"/>
            <p:cNvSpPr txBox="true"/>
            <p:nvPr/>
          </p:nvSpPr>
          <p:spPr>
            <a:xfrm>
              <a:off x="0" y="-47625"/>
              <a:ext cx="4816593" cy="550061"/>
            </a:xfrm>
            <a:prstGeom prst="rect">
              <a:avLst/>
            </a:prstGeom>
          </p:spPr>
          <p:txBody>
            <a:bodyPr anchor="ctr" rtlCol="false" tIns="50800" lIns="50800" bIns="50800" rIns="50800"/>
            <a:lstStyle/>
            <a:p>
              <a:pPr algn="ctr">
                <a:lnSpc>
                  <a:spcPts val="3693"/>
                </a:lnSpc>
              </a:pPr>
            </a:p>
          </p:txBody>
        </p:sp>
      </p:grpSp>
      <p:sp>
        <p:nvSpPr>
          <p:cNvPr name="TextBox 7" id="7"/>
          <p:cNvSpPr txBox="true"/>
          <p:nvPr/>
        </p:nvSpPr>
        <p:spPr>
          <a:xfrm rot="0">
            <a:off x="2233189" y="418147"/>
            <a:ext cx="14438111" cy="1087756"/>
          </a:xfrm>
          <a:prstGeom prst="rect">
            <a:avLst/>
          </a:prstGeom>
        </p:spPr>
        <p:txBody>
          <a:bodyPr anchor="t" rtlCol="false" tIns="0" lIns="0" bIns="0" rIns="0">
            <a:spAutoFit/>
          </a:bodyPr>
          <a:lstStyle/>
          <a:p>
            <a:pPr algn="l">
              <a:lnSpc>
                <a:spcPts val="8819"/>
              </a:lnSpc>
            </a:pPr>
            <a:r>
              <a:rPr lang="en-US" sz="6299" u="sng">
                <a:solidFill>
                  <a:srgbClr val="0F4662"/>
                </a:solidFill>
                <a:latin typeface="Genty Sans"/>
                <a:ea typeface="Genty Sans"/>
                <a:cs typeface="Genty Sans"/>
                <a:sym typeface="Genty Sans"/>
              </a:rPr>
              <a:t>SIMPLIYING CATEGORY_LIST COLUMN</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3704439" y="6258090"/>
            <a:ext cx="10879123" cy="2036805"/>
          </a:xfrm>
          <a:custGeom>
            <a:avLst/>
            <a:gdLst/>
            <a:ahLst/>
            <a:cxnLst/>
            <a:rect r="r" b="b" t="t" l="l"/>
            <a:pathLst>
              <a:path h="2036805" w="10879123">
                <a:moveTo>
                  <a:pt x="0" y="0"/>
                </a:moveTo>
                <a:lnTo>
                  <a:pt x="10879122" y="0"/>
                </a:lnTo>
                <a:lnTo>
                  <a:pt x="10879122" y="2036805"/>
                </a:lnTo>
                <a:lnTo>
                  <a:pt x="0" y="2036805"/>
                </a:lnTo>
                <a:lnTo>
                  <a:pt x="0" y="0"/>
                </a:lnTo>
                <a:close/>
              </a:path>
            </a:pathLst>
          </a:custGeom>
          <a:blipFill>
            <a:blip r:embed="rId2"/>
            <a:stretch>
              <a:fillRect l="0" t="0" r="0" b="0"/>
            </a:stretch>
          </a:blipFill>
        </p:spPr>
      </p:sp>
      <p:sp>
        <p:nvSpPr>
          <p:cNvPr name="Freeform 3" id="3"/>
          <p:cNvSpPr/>
          <p:nvPr/>
        </p:nvSpPr>
        <p:spPr>
          <a:xfrm flipH="false" flipV="false" rot="0">
            <a:off x="1808256" y="8656174"/>
            <a:ext cx="14226159" cy="960266"/>
          </a:xfrm>
          <a:custGeom>
            <a:avLst/>
            <a:gdLst/>
            <a:ahLst/>
            <a:cxnLst/>
            <a:rect r="r" b="b" t="t" l="l"/>
            <a:pathLst>
              <a:path h="960266" w="14226159">
                <a:moveTo>
                  <a:pt x="0" y="0"/>
                </a:moveTo>
                <a:lnTo>
                  <a:pt x="14226159" y="0"/>
                </a:lnTo>
                <a:lnTo>
                  <a:pt x="14226159" y="960266"/>
                </a:lnTo>
                <a:lnTo>
                  <a:pt x="0" y="960266"/>
                </a:lnTo>
                <a:lnTo>
                  <a:pt x="0" y="0"/>
                </a:lnTo>
                <a:close/>
              </a:path>
            </a:pathLst>
          </a:custGeom>
          <a:blipFill>
            <a:blip r:embed="rId3"/>
            <a:stretch>
              <a:fillRect l="0" t="0" r="0" b="0"/>
            </a:stretch>
          </a:blipFill>
        </p:spPr>
      </p:sp>
      <p:sp>
        <p:nvSpPr>
          <p:cNvPr name="TextBox 4" id="4"/>
          <p:cNvSpPr txBox="true"/>
          <p:nvPr/>
        </p:nvSpPr>
        <p:spPr>
          <a:xfrm rot="0">
            <a:off x="17259300" y="9220200"/>
            <a:ext cx="152400" cy="190500"/>
          </a:xfrm>
          <a:prstGeom prst="rect">
            <a:avLst/>
          </a:prstGeom>
        </p:spPr>
        <p:txBody>
          <a:bodyPr anchor="t" rtlCol="false" tIns="0" lIns="0" bIns="0" rIns="0" wrap="none">
            <a:spAutoFit/>
          </a:bodyPr>
          <a:lstStyle/>
          <a:p>
            <a:pPr algn="ctr">
              <a:lnSpc>
                <a:spcPts val="3359"/>
              </a:lnSpc>
              <a:spcBef>
                <a:spcPct val="0"/>
              </a:spcBef>
            </a:pPr>
            <a:r>
              <a:rPr lang="en-US" sz="2399">
                <a:solidFill>
                  <a:srgbClr val="0F4662"/>
                </a:solidFill>
                <a:latin typeface="Canva Sans"/>
                <a:ea typeface="Canva Sans"/>
                <a:cs typeface="Canva Sans"/>
                <a:sym typeface="Canva Sans"/>
              </a:rPr>
              <a:t>32</a:t>
            </a:r>
          </a:p>
        </p:txBody>
      </p:sp>
      <p:grpSp>
        <p:nvGrpSpPr>
          <p:cNvPr name="Group 5" id="5"/>
          <p:cNvGrpSpPr/>
          <p:nvPr/>
        </p:nvGrpSpPr>
        <p:grpSpPr>
          <a:xfrm rot="0">
            <a:off x="0" y="0"/>
            <a:ext cx="18288000" cy="1907687"/>
            <a:chOff x="0" y="0"/>
            <a:chExt cx="4816593" cy="502436"/>
          </a:xfrm>
        </p:grpSpPr>
        <p:sp>
          <p:nvSpPr>
            <p:cNvPr name="Freeform 6" id="6"/>
            <p:cNvSpPr/>
            <p:nvPr/>
          </p:nvSpPr>
          <p:spPr>
            <a:xfrm flipH="false" flipV="false" rot="0">
              <a:off x="0" y="0"/>
              <a:ext cx="4816592" cy="502436"/>
            </a:xfrm>
            <a:custGeom>
              <a:avLst/>
              <a:gdLst/>
              <a:ahLst/>
              <a:cxnLst/>
              <a:rect r="r" b="b" t="t" l="l"/>
              <a:pathLst>
                <a:path h="502436" w="4816592">
                  <a:moveTo>
                    <a:pt x="0" y="0"/>
                  </a:moveTo>
                  <a:lnTo>
                    <a:pt x="4816592" y="0"/>
                  </a:lnTo>
                  <a:lnTo>
                    <a:pt x="4816592" y="502436"/>
                  </a:lnTo>
                  <a:lnTo>
                    <a:pt x="0" y="502436"/>
                  </a:lnTo>
                  <a:close/>
                </a:path>
              </a:pathLst>
            </a:custGeom>
            <a:solidFill>
              <a:srgbClr val="DBE5EA"/>
            </a:solidFill>
          </p:spPr>
        </p:sp>
        <p:sp>
          <p:nvSpPr>
            <p:cNvPr name="TextBox 7" id="7"/>
            <p:cNvSpPr txBox="true"/>
            <p:nvPr/>
          </p:nvSpPr>
          <p:spPr>
            <a:xfrm>
              <a:off x="0" y="-47625"/>
              <a:ext cx="4816593" cy="550061"/>
            </a:xfrm>
            <a:prstGeom prst="rect">
              <a:avLst/>
            </a:prstGeom>
          </p:spPr>
          <p:txBody>
            <a:bodyPr anchor="ctr" rtlCol="false" tIns="50800" lIns="50800" bIns="50800" rIns="50800"/>
            <a:lstStyle/>
            <a:p>
              <a:pPr algn="ctr">
                <a:lnSpc>
                  <a:spcPts val="3693"/>
                </a:lnSpc>
              </a:pPr>
            </a:p>
          </p:txBody>
        </p:sp>
      </p:grpSp>
      <p:sp>
        <p:nvSpPr>
          <p:cNvPr name="TextBox 8" id="8"/>
          <p:cNvSpPr txBox="true"/>
          <p:nvPr/>
        </p:nvSpPr>
        <p:spPr>
          <a:xfrm rot="0">
            <a:off x="2861198" y="290011"/>
            <a:ext cx="13028484" cy="1194314"/>
          </a:xfrm>
          <a:prstGeom prst="rect">
            <a:avLst/>
          </a:prstGeom>
        </p:spPr>
        <p:txBody>
          <a:bodyPr anchor="t" rtlCol="false" tIns="0" lIns="0" bIns="0" rIns="0">
            <a:spAutoFit/>
          </a:bodyPr>
          <a:lstStyle/>
          <a:p>
            <a:pPr algn="l">
              <a:lnSpc>
                <a:spcPts val="9771"/>
              </a:lnSpc>
            </a:pPr>
            <a:r>
              <a:rPr lang="en-US" sz="6979" u="sng">
                <a:solidFill>
                  <a:srgbClr val="0F4662"/>
                </a:solidFill>
                <a:latin typeface="Genty Sans"/>
                <a:ea typeface="Genty Sans"/>
                <a:cs typeface="Genty Sans"/>
                <a:sym typeface="Genty Sans"/>
              </a:rPr>
              <a:t>ENCODING CATEGORICAL DATA</a:t>
            </a:r>
          </a:p>
        </p:txBody>
      </p:sp>
      <p:sp>
        <p:nvSpPr>
          <p:cNvPr name="TextBox 9" id="9"/>
          <p:cNvSpPr txBox="true"/>
          <p:nvPr/>
        </p:nvSpPr>
        <p:spPr>
          <a:xfrm rot="0">
            <a:off x="799518" y="2094127"/>
            <a:ext cx="17151842" cy="3363863"/>
          </a:xfrm>
          <a:prstGeom prst="rect">
            <a:avLst/>
          </a:prstGeom>
        </p:spPr>
        <p:txBody>
          <a:bodyPr anchor="t" rtlCol="false" tIns="0" lIns="0" bIns="0" rIns="0">
            <a:spAutoFit/>
          </a:bodyPr>
          <a:lstStyle/>
          <a:p>
            <a:pPr algn="l" marL="620833" indent="-310417" lvl="1">
              <a:lnSpc>
                <a:spcPts val="5463"/>
              </a:lnSpc>
              <a:buFont typeface="Arial"/>
              <a:buChar char="•"/>
            </a:pPr>
            <a:r>
              <a:rPr lang="en-US" b="true" sz="2875">
                <a:solidFill>
                  <a:srgbClr val="000000"/>
                </a:solidFill>
                <a:latin typeface="Canva Sans Bold"/>
                <a:ea typeface="Canva Sans Bold"/>
                <a:cs typeface="Canva Sans Bold"/>
                <a:sym typeface="Canva Sans Bold"/>
              </a:rPr>
              <a:t>Staus data : </a:t>
            </a:r>
            <a:r>
              <a:rPr lang="en-US" sz="2875">
                <a:solidFill>
                  <a:srgbClr val="000000"/>
                </a:solidFill>
                <a:latin typeface="Canva Sans"/>
                <a:ea typeface="Canva Sans"/>
                <a:cs typeface="Canva Sans"/>
                <a:sym typeface="Canva Sans"/>
              </a:rPr>
              <a:t>LabelEncoder maps each status class to a unique number which is sufficient for the target variable as it doesn't introduce additional dimensions and does not imply any relationship among the classes to the model.</a:t>
            </a:r>
          </a:p>
          <a:p>
            <a:pPr algn="l" marL="620833" indent="-310417" lvl="1">
              <a:lnSpc>
                <a:spcPts val="5463"/>
              </a:lnSpc>
              <a:buFont typeface="Arial"/>
              <a:buChar char="•"/>
            </a:pPr>
            <a:r>
              <a:rPr lang="en-US" b="true" sz="2875">
                <a:solidFill>
                  <a:srgbClr val="000000"/>
                </a:solidFill>
                <a:latin typeface="Canva Sans Bold"/>
                <a:ea typeface="Canva Sans Bold"/>
                <a:cs typeface="Canva Sans Bold"/>
                <a:sym typeface="Canva Sans Bold"/>
              </a:rPr>
              <a:t>Country and Category data :</a:t>
            </a:r>
            <a:r>
              <a:rPr lang="en-US" sz="2875">
                <a:solidFill>
                  <a:srgbClr val="000000"/>
                </a:solidFill>
                <a:latin typeface="Canva Sans"/>
                <a:ea typeface="Canva Sans"/>
                <a:cs typeface="Canva Sans"/>
                <a:sym typeface="Canva Sans"/>
              </a:rPr>
              <a:t> </a:t>
            </a:r>
            <a:r>
              <a:rPr lang="en-US" sz="2875">
                <a:solidFill>
                  <a:srgbClr val="000000"/>
                </a:solidFill>
                <a:latin typeface="Canva Sans"/>
                <a:ea typeface="Canva Sans"/>
                <a:cs typeface="Canva Sans"/>
                <a:sym typeface="Canva Sans"/>
              </a:rPr>
              <a:t>Unlike Label Encoding, One-Hot Encoding prevents the model from interpreting the categorical values as ordinal (e.g: country_code 2 &gt; country_code 1).</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1435360" y="4812536"/>
            <a:ext cx="15948628" cy="1214412"/>
          </a:xfrm>
          <a:custGeom>
            <a:avLst/>
            <a:gdLst/>
            <a:ahLst/>
            <a:cxnLst/>
            <a:rect r="r" b="b" t="t" l="l"/>
            <a:pathLst>
              <a:path h="1214412" w="15948628">
                <a:moveTo>
                  <a:pt x="0" y="0"/>
                </a:moveTo>
                <a:lnTo>
                  <a:pt x="15948628" y="0"/>
                </a:lnTo>
                <a:lnTo>
                  <a:pt x="15948628" y="1214412"/>
                </a:lnTo>
                <a:lnTo>
                  <a:pt x="0" y="1214412"/>
                </a:lnTo>
                <a:lnTo>
                  <a:pt x="0" y="0"/>
                </a:lnTo>
                <a:close/>
              </a:path>
            </a:pathLst>
          </a:custGeom>
          <a:blipFill>
            <a:blip r:embed="rId3"/>
            <a:stretch>
              <a:fillRect l="0" t="-8345" r="0" b="0"/>
            </a:stretch>
          </a:blipFill>
        </p:spPr>
      </p:sp>
      <p:sp>
        <p:nvSpPr>
          <p:cNvPr name="TextBox 3" id="3"/>
          <p:cNvSpPr txBox="true"/>
          <p:nvPr/>
        </p:nvSpPr>
        <p:spPr>
          <a:xfrm rot="0">
            <a:off x="17259300" y="9220200"/>
            <a:ext cx="152400" cy="190500"/>
          </a:xfrm>
          <a:prstGeom prst="rect">
            <a:avLst/>
          </a:prstGeom>
        </p:spPr>
        <p:txBody>
          <a:bodyPr anchor="t" rtlCol="false" tIns="0" lIns="0" bIns="0" rIns="0" wrap="none">
            <a:spAutoFit/>
          </a:bodyPr>
          <a:lstStyle/>
          <a:p>
            <a:pPr algn="ctr">
              <a:lnSpc>
                <a:spcPts val="3359"/>
              </a:lnSpc>
              <a:spcBef>
                <a:spcPct val="0"/>
              </a:spcBef>
            </a:pPr>
            <a:r>
              <a:rPr lang="en-US" sz="2399">
                <a:solidFill>
                  <a:srgbClr val="0F4662"/>
                </a:solidFill>
                <a:latin typeface="Canva Sans"/>
                <a:ea typeface="Canva Sans"/>
                <a:cs typeface="Canva Sans"/>
                <a:sym typeface="Canva Sans"/>
              </a:rPr>
              <a:t>33</a:t>
            </a:r>
          </a:p>
        </p:txBody>
      </p:sp>
      <p:grpSp>
        <p:nvGrpSpPr>
          <p:cNvPr name="Group 4" id="4"/>
          <p:cNvGrpSpPr/>
          <p:nvPr/>
        </p:nvGrpSpPr>
        <p:grpSpPr>
          <a:xfrm rot="0">
            <a:off x="0" y="0"/>
            <a:ext cx="18288000" cy="1907687"/>
            <a:chOff x="0" y="0"/>
            <a:chExt cx="4816593" cy="502436"/>
          </a:xfrm>
        </p:grpSpPr>
        <p:sp>
          <p:nvSpPr>
            <p:cNvPr name="Freeform 5" id="5"/>
            <p:cNvSpPr/>
            <p:nvPr/>
          </p:nvSpPr>
          <p:spPr>
            <a:xfrm flipH="false" flipV="false" rot="0">
              <a:off x="0" y="0"/>
              <a:ext cx="4816592" cy="502436"/>
            </a:xfrm>
            <a:custGeom>
              <a:avLst/>
              <a:gdLst/>
              <a:ahLst/>
              <a:cxnLst/>
              <a:rect r="r" b="b" t="t" l="l"/>
              <a:pathLst>
                <a:path h="502436" w="4816592">
                  <a:moveTo>
                    <a:pt x="0" y="0"/>
                  </a:moveTo>
                  <a:lnTo>
                    <a:pt x="4816592" y="0"/>
                  </a:lnTo>
                  <a:lnTo>
                    <a:pt x="4816592" y="502436"/>
                  </a:lnTo>
                  <a:lnTo>
                    <a:pt x="0" y="502436"/>
                  </a:lnTo>
                  <a:close/>
                </a:path>
              </a:pathLst>
            </a:custGeom>
            <a:solidFill>
              <a:srgbClr val="DBE5EA"/>
            </a:solidFill>
          </p:spPr>
        </p:sp>
        <p:sp>
          <p:nvSpPr>
            <p:cNvPr name="TextBox 6" id="6"/>
            <p:cNvSpPr txBox="true"/>
            <p:nvPr/>
          </p:nvSpPr>
          <p:spPr>
            <a:xfrm>
              <a:off x="0" y="-47625"/>
              <a:ext cx="4816593" cy="550061"/>
            </a:xfrm>
            <a:prstGeom prst="rect">
              <a:avLst/>
            </a:prstGeom>
          </p:spPr>
          <p:txBody>
            <a:bodyPr anchor="ctr" rtlCol="false" tIns="50800" lIns="50800" bIns="50800" rIns="50800"/>
            <a:lstStyle/>
            <a:p>
              <a:pPr algn="ctr">
                <a:lnSpc>
                  <a:spcPts val="3693"/>
                </a:lnSpc>
              </a:pPr>
            </a:p>
          </p:txBody>
        </p:sp>
      </p:grpSp>
      <p:sp>
        <p:nvSpPr>
          <p:cNvPr name="TextBox 7" id="7"/>
          <p:cNvSpPr txBox="true"/>
          <p:nvPr/>
        </p:nvSpPr>
        <p:spPr>
          <a:xfrm rot="0">
            <a:off x="2039493" y="314523"/>
            <a:ext cx="14209013" cy="1145291"/>
          </a:xfrm>
          <a:prstGeom prst="rect">
            <a:avLst/>
          </a:prstGeom>
        </p:spPr>
        <p:txBody>
          <a:bodyPr anchor="t" rtlCol="false" tIns="0" lIns="0" bIns="0" rIns="0">
            <a:spAutoFit/>
          </a:bodyPr>
          <a:lstStyle/>
          <a:p>
            <a:pPr algn="l">
              <a:lnSpc>
                <a:spcPts val="9351"/>
              </a:lnSpc>
            </a:pPr>
            <a:r>
              <a:rPr lang="en-US" sz="6679" u="sng">
                <a:solidFill>
                  <a:srgbClr val="0F4662"/>
                </a:solidFill>
                <a:latin typeface="Genty Sans"/>
                <a:ea typeface="Genty Sans"/>
                <a:cs typeface="Genty Sans"/>
                <a:sym typeface="Genty Sans"/>
              </a:rPr>
              <a:t>DROPPING UNECCESARY COLUMNS</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12279677" y="3156719"/>
            <a:ext cx="5629358" cy="2783861"/>
          </a:xfrm>
          <a:custGeom>
            <a:avLst/>
            <a:gdLst/>
            <a:ahLst/>
            <a:cxnLst/>
            <a:rect r="r" b="b" t="t" l="l"/>
            <a:pathLst>
              <a:path h="2783861" w="5629358">
                <a:moveTo>
                  <a:pt x="0" y="0"/>
                </a:moveTo>
                <a:lnTo>
                  <a:pt x="5629357" y="0"/>
                </a:lnTo>
                <a:lnTo>
                  <a:pt x="5629357" y="2783861"/>
                </a:lnTo>
                <a:lnTo>
                  <a:pt x="0" y="2783861"/>
                </a:lnTo>
                <a:lnTo>
                  <a:pt x="0" y="0"/>
                </a:lnTo>
                <a:close/>
              </a:path>
            </a:pathLst>
          </a:custGeom>
          <a:blipFill>
            <a:blip r:embed="rId2"/>
            <a:stretch>
              <a:fillRect l="0" t="0" r="0" b="0"/>
            </a:stretch>
          </a:blipFill>
        </p:spPr>
      </p:sp>
      <p:sp>
        <p:nvSpPr>
          <p:cNvPr name="Freeform 3" id="3"/>
          <p:cNvSpPr/>
          <p:nvPr/>
        </p:nvSpPr>
        <p:spPr>
          <a:xfrm flipH="false" flipV="false" rot="0">
            <a:off x="226872" y="2420860"/>
            <a:ext cx="11837566" cy="2722640"/>
          </a:xfrm>
          <a:custGeom>
            <a:avLst/>
            <a:gdLst/>
            <a:ahLst/>
            <a:cxnLst/>
            <a:rect r="r" b="b" t="t" l="l"/>
            <a:pathLst>
              <a:path h="2722640" w="11837566">
                <a:moveTo>
                  <a:pt x="0" y="0"/>
                </a:moveTo>
                <a:lnTo>
                  <a:pt x="11837565" y="0"/>
                </a:lnTo>
                <a:lnTo>
                  <a:pt x="11837565" y="2722640"/>
                </a:lnTo>
                <a:lnTo>
                  <a:pt x="0" y="2722640"/>
                </a:lnTo>
                <a:lnTo>
                  <a:pt x="0" y="0"/>
                </a:lnTo>
                <a:close/>
              </a:path>
            </a:pathLst>
          </a:custGeom>
          <a:blipFill>
            <a:blip r:embed="rId3"/>
            <a:stretch>
              <a:fillRect l="0" t="0" r="0" b="0"/>
            </a:stretch>
          </a:blipFill>
        </p:spPr>
      </p:sp>
      <p:sp>
        <p:nvSpPr>
          <p:cNvPr name="Freeform 4" id="4"/>
          <p:cNvSpPr/>
          <p:nvPr/>
        </p:nvSpPr>
        <p:spPr>
          <a:xfrm flipH="false" flipV="false" rot="0">
            <a:off x="836067" y="6436284"/>
            <a:ext cx="14463064" cy="3001086"/>
          </a:xfrm>
          <a:custGeom>
            <a:avLst/>
            <a:gdLst/>
            <a:ahLst/>
            <a:cxnLst/>
            <a:rect r="r" b="b" t="t" l="l"/>
            <a:pathLst>
              <a:path h="3001086" w="14463064">
                <a:moveTo>
                  <a:pt x="0" y="0"/>
                </a:moveTo>
                <a:lnTo>
                  <a:pt x="14463064" y="0"/>
                </a:lnTo>
                <a:lnTo>
                  <a:pt x="14463064" y="3001086"/>
                </a:lnTo>
                <a:lnTo>
                  <a:pt x="0" y="3001086"/>
                </a:lnTo>
                <a:lnTo>
                  <a:pt x="0" y="0"/>
                </a:lnTo>
                <a:close/>
              </a:path>
            </a:pathLst>
          </a:custGeom>
          <a:blipFill>
            <a:blip r:embed="rId4"/>
            <a:stretch>
              <a:fillRect l="0" t="0" r="0" b="0"/>
            </a:stretch>
          </a:blipFill>
        </p:spPr>
      </p:sp>
      <p:sp>
        <p:nvSpPr>
          <p:cNvPr name="TextBox 5" id="5"/>
          <p:cNvSpPr txBox="true"/>
          <p:nvPr/>
        </p:nvSpPr>
        <p:spPr>
          <a:xfrm rot="0">
            <a:off x="17259300" y="9220200"/>
            <a:ext cx="152400" cy="190500"/>
          </a:xfrm>
          <a:prstGeom prst="rect">
            <a:avLst/>
          </a:prstGeom>
        </p:spPr>
        <p:txBody>
          <a:bodyPr anchor="t" rtlCol="false" tIns="0" lIns="0" bIns="0" rIns="0" wrap="none">
            <a:spAutoFit/>
          </a:bodyPr>
          <a:lstStyle/>
          <a:p>
            <a:pPr algn="ctr">
              <a:lnSpc>
                <a:spcPts val="3359"/>
              </a:lnSpc>
              <a:spcBef>
                <a:spcPct val="0"/>
              </a:spcBef>
            </a:pPr>
            <a:r>
              <a:rPr lang="en-US" sz="2399">
                <a:solidFill>
                  <a:srgbClr val="0F4662"/>
                </a:solidFill>
                <a:latin typeface="Canva Sans"/>
                <a:ea typeface="Canva Sans"/>
                <a:cs typeface="Canva Sans"/>
                <a:sym typeface="Canva Sans"/>
              </a:rPr>
              <a:t>34</a:t>
            </a:r>
          </a:p>
        </p:txBody>
      </p:sp>
      <p:grpSp>
        <p:nvGrpSpPr>
          <p:cNvPr name="Group 6" id="6"/>
          <p:cNvGrpSpPr/>
          <p:nvPr/>
        </p:nvGrpSpPr>
        <p:grpSpPr>
          <a:xfrm rot="0">
            <a:off x="0" y="0"/>
            <a:ext cx="18288000" cy="1907687"/>
            <a:chOff x="0" y="0"/>
            <a:chExt cx="4816593" cy="502436"/>
          </a:xfrm>
        </p:grpSpPr>
        <p:sp>
          <p:nvSpPr>
            <p:cNvPr name="Freeform 7" id="7"/>
            <p:cNvSpPr/>
            <p:nvPr/>
          </p:nvSpPr>
          <p:spPr>
            <a:xfrm flipH="false" flipV="false" rot="0">
              <a:off x="0" y="0"/>
              <a:ext cx="4816592" cy="502436"/>
            </a:xfrm>
            <a:custGeom>
              <a:avLst/>
              <a:gdLst/>
              <a:ahLst/>
              <a:cxnLst/>
              <a:rect r="r" b="b" t="t" l="l"/>
              <a:pathLst>
                <a:path h="502436" w="4816592">
                  <a:moveTo>
                    <a:pt x="0" y="0"/>
                  </a:moveTo>
                  <a:lnTo>
                    <a:pt x="4816592" y="0"/>
                  </a:lnTo>
                  <a:lnTo>
                    <a:pt x="4816592" y="502436"/>
                  </a:lnTo>
                  <a:lnTo>
                    <a:pt x="0" y="502436"/>
                  </a:lnTo>
                  <a:close/>
                </a:path>
              </a:pathLst>
            </a:custGeom>
            <a:solidFill>
              <a:srgbClr val="DBE5EA"/>
            </a:solidFill>
          </p:spPr>
        </p:sp>
        <p:sp>
          <p:nvSpPr>
            <p:cNvPr name="TextBox 8" id="8"/>
            <p:cNvSpPr txBox="true"/>
            <p:nvPr/>
          </p:nvSpPr>
          <p:spPr>
            <a:xfrm>
              <a:off x="0" y="-47625"/>
              <a:ext cx="4816593" cy="550061"/>
            </a:xfrm>
            <a:prstGeom prst="rect">
              <a:avLst/>
            </a:prstGeom>
          </p:spPr>
          <p:txBody>
            <a:bodyPr anchor="ctr" rtlCol="false" tIns="50800" lIns="50800" bIns="50800" rIns="50800"/>
            <a:lstStyle/>
            <a:p>
              <a:pPr algn="ctr">
                <a:lnSpc>
                  <a:spcPts val="3693"/>
                </a:lnSpc>
              </a:pPr>
            </a:p>
          </p:txBody>
        </p:sp>
      </p:grpSp>
      <p:sp>
        <p:nvSpPr>
          <p:cNvPr name="TextBox 9" id="9"/>
          <p:cNvSpPr txBox="true"/>
          <p:nvPr/>
        </p:nvSpPr>
        <p:spPr>
          <a:xfrm rot="0">
            <a:off x="5170602" y="207393"/>
            <a:ext cx="7946796" cy="1477531"/>
          </a:xfrm>
          <a:prstGeom prst="rect">
            <a:avLst/>
          </a:prstGeom>
        </p:spPr>
        <p:txBody>
          <a:bodyPr anchor="t" rtlCol="false" tIns="0" lIns="0" bIns="0" rIns="0">
            <a:spAutoFit/>
          </a:bodyPr>
          <a:lstStyle/>
          <a:p>
            <a:pPr algn="l">
              <a:lnSpc>
                <a:spcPts val="12011"/>
              </a:lnSpc>
            </a:pPr>
            <a:r>
              <a:rPr lang="en-US" sz="8579" u="sng">
                <a:solidFill>
                  <a:srgbClr val="0F4662"/>
                </a:solidFill>
                <a:latin typeface="Genty Sans"/>
                <a:ea typeface="Genty Sans"/>
                <a:cs typeface="Genty Sans"/>
                <a:sym typeface="Genty Sans"/>
              </a:rPr>
              <a:t>FINAL DATASET</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12392244" y="4385311"/>
            <a:ext cx="5060314" cy="5060314"/>
          </a:xfrm>
          <a:custGeom>
            <a:avLst/>
            <a:gdLst/>
            <a:ahLst/>
            <a:cxnLst/>
            <a:rect r="r" b="b" t="t" l="l"/>
            <a:pathLst>
              <a:path h="5060314" w="5060314">
                <a:moveTo>
                  <a:pt x="0" y="0"/>
                </a:moveTo>
                <a:lnTo>
                  <a:pt x="5060314" y="0"/>
                </a:lnTo>
                <a:lnTo>
                  <a:pt x="5060314" y="5060315"/>
                </a:lnTo>
                <a:lnTo>
                  <a:pt x="0" y="5060315"/>
                </a:lnTo>
                <a:lnTo>
                  <a:pt x="0" y="0"/>
                </a:lnTo>
                <a:close/>
              </a:path>
            </a:pathLst>
          </a:custGeom>
          <a:blipFill>
            <a:blip r:embed="rId2"/>
            <a:stretch>
              <a:fillRect l="0" t="0" r="0" b="0"/>
            </a:stretch>
          </a:blipFill>
        </p:spPr>
      </p:sp>
      <p:sp>
        <p:nvSpPr>
          <p:cNvPr name="TextBox 3" id="3"/>
          <p:cNvSpPr txBox="true"/>
          <p:nvPr/>
        </p:nvSpPr>
        <p:spPr>
          <a:xfrm rot="0">
            <a:off x="549228" y="2825853"/>
            <a:ext cx="12488743" cy="3373745"/>
          </a:xfrm>
          <a:prstGeom prst="rect">
            <a:avLst/>
          </a:prstGeom>
        </p:spPr>
        <p:txBody>
          <a:bodyPr anchor="t" rtlCol="false" tIns="0" lIns="0" bIns="0" rIns="0">
            <a:spAutoFit/>
          </a:bodyPr>
          <a:lstStyle/>
          <a:p>
            <a:pPr algn="l">
              <a:lnSpc>
                <a:spcPts val="13545"/>
              </a:lnSpc>
            </a:pPr>
            <a:r>
              <a:rPr lang="en-US" sz="9675">
                <a:solidFill>
                  <a:srgbClr val="0F4662"/>
                </a:solidFill>
                <a:latin typeface="Genty Sans"/>
                <a:ea typeface="Genty Sans"/>
                <a:cs typeface="Genty Sans"/>
                <a:sym typeface="Genty Sans"/>
              </a:rPr>
              <a:t>5. MODELS TRAINING AND EVALUATION</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17259300" y="9220200"/>
            <a:ext cx="152400" cy="190500"/>
          </a:xfrm>
          <a:prstGeom prst="rect">
            <a:avLst/>
          </a:prstGeom>
        </p:spPr>
        <p:txBody>
          <a:bodyPr anchor="t" rtlCol="false" tIns="0" lIns="0" bIns="0" rIns="0" wrap="none">
            <a:spAutoFit/>
          </a:bodyPr>
          <a:lstStyle/>
          <a:p>
            <a:pPr algn="ctr">
              <a:lnSpc>
                <a:spcPts val="3359"/>
              </a:lnSpc>
              <a:spcBef>
                <a:spcPct val="0"/>
              </a:spcBef>
            </a:pPr>
            <a:r>
              <a:rPr lang="en-US" sz="2399">
                <a:solidFill>
                  <a:srgbClr val="0F4662"/>
                </a:solidFill>
                <a:latin typeface="Canva Sans"/>
                <a:ea typeface="Canva Sans"/>
                <a:cs typeface="Canva Sans"/>
                <a:sym typeface="Canva Sans"/>
              </a:rPr>
              <a:t>36</a:t>
            </a:r>
          </a:p>
        </p:txBody>
      </p:sp>
      <p:sp>
        <p:nvSpPr>
          <p:cNvPr name="Freeform 3" id="3"/>
          <p:cNvSpPr/>
          <p:nvPr/>
        </p:nvSpPr>
        <p:spPr>
          <a:xfrm flipH="false" flipV="false" rot="0">
            <a:off x="599483" y="3840461"/>
            <a:ext cx="17089034" cy="2606078"/>
          </a:xfrm>
          <a:custGeom>
            <a:avLst/>
            <a:gdLst/>
            <a:ahLst/>
            <a:cxnLst/>
            <a:rect r="r" b="b" t="t" l="l"/>
            <a:pathLst>
              <a:path h="2606078" w="17089034">
                <a:moveTo>
                  <a:pt x="0" y="0"/>
                </a:moveTo>
                <a:lnTo>
                  <a:pt x="17089034" y="0"/>
                </a:lnTo>
                <a:lnTo>
                  <a:pt x="17089034" y="2606078"/>
                </a:lnTo>
                <a:lnTo>
                  <a:pt x="0" y="2606078"/>
                </a:lnTo>
                <a:lnTo>
                  <a:pt x="0" y="0"/>
                </a:lnTo>
                <a:close/>
              </a:path>
            </a:pathLst>
          </a:custGeom>
          <a:blipFill>
            <a:blip r:embed="rId3"/>
            <a:stretch>
              <a:fillRect l="0" t="0" r="0" b="0"/>
            </a:stretch>
          </a:blipFill>
        </p:spPr>
      </p:sp>
      <p:grpSp>
        <p:nvGrpSpPr>
          <p:cNvPr name="Group 4" id="4"/>
          <p:cNvGrpSpPr/>
          <p:nvPr/>
        </p:nvGrpSpPr>
        <p:grpSpPr>
          <a:xfrm rot="0">
            <a:off x="0" y="0"/>
            <a:ext cx="18288000" cy="1907687"/>
            <a:chOff x="0" y="0"/>
            <a:chExt cx="4816593" cy="502436"/>
          </a:xfrm>
        </p:grpSpPr>
        <p:sp>
          <p:nvSpPr>
            <p:cNvPr name="Freeform 5" id="5"/>
            <p:cNvSpPr/>
            <p:nvPr/>
          </p:nvSpPr>
          <p:spPr>
            <a:xfrm flipH="false" flipV="false" rot="0">
              <a:off x="0" y="0"/>
              <a:ext cx="4816592" cy="502436"/>
            </a:xfrm>
            <a:custGeom>
              <a:avLst/>
              <a:gdLst/>
              <a:ahLst/>
              <a:cxnLst/>
              <a:rect r="r" b="b" t="t" l="l"/>
              <a:pathLst>
                <a:path h="502436" w="4816592">
                  <a:moveTo>
                    <a:pt x="0" y="0"/>
                  </a:moveTo>
                  <a:lnTo>
                    <a:pt x="4816592" y="0"/>
                  </a:lnTo>
                  <a:lnTo>
                    <a:pt x="4816592" y="502436"/>
                  </a:lnTo>
                  <a:lnTo>
                    <a:pt x="0" y="502436"/>
                  </a:lnTo>
                  <a:close/>
                </a:path>
              </a:pathLst>
            </a:custGeom>
            <a:solidFill>
              <a:srgbClr val="DBE5EA"/>
            </a:solidFill>
          </p:spPr>
        </p:sp>
        <p:sp>
          <p:nvSpPr>
            <p:cNvPr name="TextBox 6" id="6"/>
            <p:cNvSpPr txBox="true"/>
            <p:nvPr/>
          </p:nvSpPr>
          <p:spPr>
            <a:xfrm>
              <a:off x="0" y="-47625"/>
              <a:ext cx="4816593" cy="550061"/>
            </a:xfrm>
            <a:prstGeom prst="rect">
              <a:avLst/>
            </a:prstGeom>
          </p:spPr>
          <p:txBody>
            <a:bodyPr anchor="ctr" rtlCol="false" tIns="50800" lIns="50800" bIns="50800" rIns="50800"/>
            <a:lstStyle/>
            <a:p>
              <a:pPr algn="ctr">
                <a:lnSpc>
                  <a:spcPts val="3693"/>
                </a:lnSpc>
              </a:pPr>
            </a:p>
          </p:txBody>
        </p:sp>
      </p:grpSp>
      <p:sp>
        <p:nvSpPr>
          <p:cNvPr name="TextBox 7" id="7"/>
          <p:cNvSpPr txBox="true"/>
          <p:nvPr/>
        </p:nvSpPr>
        <p:spPr>
          <a:xfrm rot="0">
            <a:off x="360588" y="363705"/>
            <a:ext cx="17566825" cy="1056451"/>
          </a:xfrm>
          <a:prstGeom prst="rect">
            <a:avLst/>
          </a:prstGeom>
        </p:spPr>
        <p:txBody>
          <a:bodyPr anchor="t" rtlCol="false" tIns="0" lIns="0" bIns="0" rIns="0">
            <a:spAutoFit/>
          </a:bodyPr>
          <a:lstStyle/>
          <a:p>
            <a:pPr algn="l">
              <a:lnSpc>
                <a:spcPts val="8623"/>
              </a:lnSpc>
            </a:pPr>
            <a:r>
              <a:rPr lang="en-US" sz="6159" u="sng">
                <a:solidFill>
                  <a:srgbClr val="0F4662"/>
                </a:solidFill>
                <a:latin typeface="Genty Sans"/>
                <a:ea typeface="Genty Sans"/>
                <a:cs typeface="Genty Sans"/>
                <a:sym typeface="Genty Sans"/>
              </a:rPr>
              <a:t>DATA SPLITTING : TRAINING AND TESTING SETS</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907687"/>
            <a:chOff x="0" y="0"/>
            <a:chExt cx="4816593" cy="502436"/>
          </a:xfrm>
        </p:grpSpPr>
        <p:sp>
          <p:nvSpPr>
            <p:cNvPr name="Freeform 3" id="3"/>
            <p:cNvSpPr/>
            <p:nvPr/>
          </p:nvSpPr>
          <p:spPr>
            <a:xfrm flipH="false" flipV="false" rot="0">
              <a:off x="0" y="0"/>
              <a:ext cx="4816592" cy="502436"/>
            </a:xfrm>
            <a:custGeom>
              <a:avLst/>
              <a:gdLst/>
              <a:ahLst/>
              <a:cxnLst/>
              <a:rect r="r" b="b" t="t" l="l"/>
              <a:pathLst>
                <a:path h="502436" w="4816592">
                  <a:moveTo>
                    <a:pt x="0" y="0"/>
                  </a:moveTo>
                  <a:lnTo>
                    <a:pt x="4816592" y="0"/>
                  </a:lnTo>
                  <a:lnTo>
                    <a:pt x="4816592" y="502436"/>
                  </a:lnTo>
                  <a:lnTo>
                    <a:pt x="0" y="502436"/>
                  </a:lnTo>
                  <a:close/>
                </a:path>
              </a:pathLst>
            </a:custGeom>
            <a:solidFill>
              <a:srgbClr val="DBE5EA"/>
            </a:solidFill>
          </p:spPr>
        </p:sp>
        <p:sp>
          <p:nvSpPr>
            <p:cNvPr name="TextBox 4" id="4"/>
            <p:cNvSpPr txBox="true"/>
            <p:nvPr/>
          </p:nvSpPr>
          <p:spPr>
            <a:xfrm>
              <a:off x="0" y="-47625"/>
              <a:ext cx="4816593" cy="550061"/>
            </a:xfrm>
            <a:prstGeom prst="rect">
              <a:avLst/>
            </a:prstGeom>
          </p:spPr>
          <p:txBody>
            <a:bodyPr anchor="ctr" rtlCol="false" tIns="50800" lIns="50800" bIns="50800" rIns="50800"/>
            <a:lstStyle/>
            <a:p>
              <a:pPr algn="ctr">
                <a:lnSpc>
                  <a:spcPts val="3693"/>
                </a:lnSpc>
              </a:pPr>
            </a:p>
          </p:txBody>
        </p:sp>
      </p:grpSp>
      <p:sp>
        <p:nvSpPr>
          <p:cNvPr name="Freeform 5" id="5"/>
          <p:cNvSpPr/>
          <p:nvPr/>
        </p:nvSpPr>
        <p:spPr>
          <a:xfrm flipH="false" flipV="false" rot="0">
            <a:off x="6005501" y="2198276"/>
            <a:ext cx="11713837" cy="7760417"/>
          </a:xfrm>
          <a:custGeom>
            <a:avLst/>
            <a:gdLst/>
            <a:ahLst/>
            <a:cxnLst/>
            <a:rect r="r" b="b" t="t" l="l"/>
            <a:pathLst>
              <a:path h="7760417" w="11713837">
                <a:moveTo>
                  <a:pt x="0" y="0"/>
                </a:moveTo>
                <a:lnTo>
                  <a:pt x="11713836" y="0"/>
                </a:lnTo>
                <a:lnTo>
                  <a:pt x="11713836" y="7760417"/>
                </a:lnTo>
                <a:lnTo>
                  <a:pt x="0" y="7760417"/>
                </a:lnTo>
                <a:lnTo>
                  <a:pt x="0" y="0"/>
                </a:lnTo>
                <a:close/>
              </a:path>
            </a:pathLst>
          </a:custGeom>
          <a:blipFill>
            <a:blip r:embed="rId2"/>
            <a:stretch>
              <a:fillRect l="0" t="0" r="0" b="0"/>
            </a:stretch>
          </a:blipFill>
        </p:spPr>
      </p:sp>
      <p:sp>
        <p:nvSpPr>
          <p:cNvPr name="TextBox 6" id="6"/>
          <p:cNvSpPr txBox="true"/>
          <p:nvPr/>
        </p:nvSpPr>
        <p:spPr>
          <a:xfrm rot="0">
            <a:off x="17719337" y="9741523"/>
            <a:ext cx="152400" cy="190500"/>
          </a:xfrm>
          <a:prstGeom prst="rect">
            <a:avLst/>
          </a:prstGeom>
        </p:spPr>
        <p:txBody>
          <a:bodyPr anchor="t" rtlCol="false" tIns="0" lIns="0" bIns="0" rIns="0" wrap="none">
            <a:spAutoFit/>
          </a:bodyPr>
          <a:lstStyle/>
          <a:p>
            <a:pPr algn="ctr">
              <a:lnSpc>
                <a:spcPts val="3359"/>
              </a:lnSpc>
              <a:spcBef>
                <a:spcPct val="0"/>
              </a:spcBef>
            </a:pPr>
            <a:r>
              <a:rPr lang="en-US" sz="2399">
                <a:solidFill>
                  <a:srgbClr val="0F4662"/>
                </a:solidFill>
                <a:latin typeface="Canva Sans"/>
                <a:ea typeface="Canva Sans"/>
                <a:cs typeface="Canva Sans"/>
                <a:sym typeface="Canva Sans"/>
              </a:rPr>
              <a:t>37</a:t>
            </a:r>
          </a:p>
        </p:txBody>
      </p:sp>
      <p:sp>
        <p:nvSpPr>
          <p:cNvPr name="TextBox 7" id="7"/>
          <p:cNvSpPr txBox="true"/>
          <p:nvPr/>
        </p:nvSpPr>
        <p:spPr>
          <a:xfrm rot="0">
            <a:off x="892362" y="314523"/>
            <a:ext cx="16503275" cy="1145291"/>
          </a:xfrm>
          <a:prstGeom prst="rect">
            <a:avLst/>
          </a:prstGeom>
        </p:spPr>
        <p:txBody>
          <a:bodyPr anchor="t" rtlCol="false" tIns="0" lIns="0" bIns="0" rIns="0">
            <a:spAutoFit/>
          </a:bodyPr>
          <a:lstStyle/>
          <a:p>
            <a:pPr algn="l">
              <a:lnSpc>
                <a:spcPts val="9351"/>
              </a:lnSpc>
            </a:pPr>
            <a:r>
              <a:rPr lang="en-US" sz="6679" u="sng">
                <a:solidFill>
                  <a:srgbClr val="0F4662"/>
                </a:solidFill>
                <a:latin typeface="Genty Sans"/>
                <a:ea typeface="Genty Sans"/>
                <a:cs typeface="Genty Sans"/>
                <a:sym typeface="Genty Sans"/>
              </a:rPr>
              <a:t>DATA TRAINING AND PREDICTING PHASE</a:t>
            </a:r>
          </a:p>
        </p:txBody>
      </p:sp>
      <p:sp>
        <p:nvSpPr>
          <p:cNvPr name="TextBox 8" id="8"/>
          <p:cNvSpPr txBox="true"/>
          <p:nvPr/>
        </p:nvSpPr>
        <p:spPr>
          <a:xfrm rot="0">
            <a:off x="356642" y="1950626"/>
            <a:ext cx="5286313" cy="8046560"/>
          </a:xfrm>
          <a:prstGeom prst="rect">
            <a:avLst/>
          </a:prstGeom>
        </p:spPr>
        <p:txBody>
          <a:bodyPr anchor="t" rtlCol="false" tIns="0" lIns="0" bIns="0" rIns="0">
            <a:spAutoFit/>
          </a:bodyPr>
          <a:lstStyle/>
          <a:p>
            <a:pPr algn="l" marL="588443" indent="-294222" lvl="1">
              <a:lnSpc>
                <a:spcPts val="5859"/>
              </a:lnSpc>
              <a:buFont typeface="Arial"/>
              <a:buChar char="•"/>
            </a:pPr>
            <a:r>
              <a:rPr lang="en-US" sz="2725">
                <a:solidFill>
                  <a:srgbClr val="000000"/>
                </a:solidFill>
                <a:latin typeface="Canva Sans"/>
                <a:ea typeface="Canva Sans"/>
                <a:cs typeface="Canva Sans"/>
                <a:sym typeface="Canva Sans"/>
              </a:rPr>
              <a:t>The </a:t>
            </a:r>
            <a:r>
              <a:rPr lang="en-US" b="true" sz="2725">
                <a:solidFill>
                  <a:srgbClr val="000000"/>
                </a:solidFill>
                <a:latin typeface="Canva Sans Bold"/>
                <a:ea typeface="Canva Sans Bold"/>
                <a:cs typeface="Canva Sans Bold"/>
                <a:sym typeface="Canva Sans Bold"/>
              </a:rPr>
              <a:t>saga</a:t>
            </a:r>
            <a:r>
              <a:rPr lang="en-US" sz="2725">
                <a:solidFill>
                  <a:srgbClr val="000000"/>
                </a:solidFill>
                <a:latin typeface="Canva Sans"/>
                <a:ea typeface="Canva Sans"/>
                <a:cs typeface="Canva Sans"/>
                <a:sym typeface="Canva Sans"/>
              </a:rPr>
              <a:t> solver (optimization algorithm) is more suited for large-scale datasets then the default solver lbfgs.</a:t>
            </a:r>
          </a:p>
          <a:p>
            <a:pPr algn="l" marL="588443" indent="-294222" lvl="1">
              <a:lnSpc>
                <a:spcPts val="5859"/>
              </a:lnSpc>
              <a:buFont typeface="Arial"/>
              <a:buChar char="•"/>
            </a:pPr>
            <a:r>
              <a:rPr lang="en-US" sz="2725">
                <a:solidFill>
                  <a:srgbClr val="000000"/>
                </a:solidFill>
                <a:latin typeface="Canva Sans"/>
                <a:ea typeface="Canva Sans"/>
                <a:cs typeface="Canva Sans"/>
                <a:sym typeface="Canva Sans"/>
              </a:rPr>
              <a:t>Increasing </a:t>
            </a:r>
            <a:r>
              <a:rPr lang="en-US" b="true" sz="2725">
                <a:solidFill>
                  <a:srgbClr val="000000"/>
                </a:solidFill>
                <a:latin typeface="Canva Sans Bold"/>
                <a:ea typeface="Canva Sans Bold"/>
                <a:cs typeface="Canva Sans Bold"/>
                <a:sym typeface="Canva Sans Bold"/>
              </a:rPr>
              <a:t>max_iter</a:t>
            </a:r>
            <a:r>
              <a:rPr lang="en-US" sz="2725">
                <a:solidFill>
                  <a:srgbClr val="000000"/>
                </a:solidFill>
                <a:latin typeface="Canva Sans"/>
                <a:ea typeface="Canva Sans"/>
                <a:cs typeface="Canva Sans"/>
                <a:sym typeface="Canva Sans"/>
              </a:rPr>
              <a:t> from 100 </a:t>
            </a:r>
            <a:r>
              <a:rPr lang="en-US" sz="2725">
                <a:solidFill>
                  <a:srgbClr val="000000"/>
                </a:solidFill>
                <a:latin typeface="Canva Sans"/>
                <a:ea typeface="Canva Sans"/>
                <a:cs typeface="Canva Sans"/>
                <a:sym typeface="Canva Sans"/>
              </a:rPr>
              <a:t>to 1000 ensures the algorithm has enough iterations to converge particularly for complex data.</a:t>
            </a:r>
          </a:p>
        </p:txBody>
      </p:sp>
    </p:spTree>
  </p:cSld>
  <p:clrMapOvr>
    <a:masterClrMapping/>
  </p:clrMapOvr>
</p:sld>
</file>

<file path=ppt/slides/slide38.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549228" y="2384863"/>
            <a:ext cx="14845606" cy="4012584"/>
          </a:xfrm>
          <a:prstGeom prst="rect">
            <a:avLst/>
          </a:prstGeom>
        </p:spPr>
        <p:txBody>
          <a:bodyPr anchor="t" rtlCol="false" tIns="0" lIns="0" bIns="0" rIns="0">
            <a:spAutoFit/>
          </a:bodyPr>
          <a:lstStyle/>
          <a:p>
            <a:pPr algn="l">
              <a:lnSpc>
                <a:spcPts val="16101"/>
              </a:lnSpc>
            </a:pPr>
            <a:r>
              <a:rPr lang="en-US" sz="11501">
                <a:solidFill>
                  <a:srgbClr val="0F4662"/>
                </a:solidFill>
                <a:latin typeface="Genty Sans"/>
                <a:ea typeface="Genty Sans"/>
                <a:cs typeface="Genty Sans"/>
                <a:sym typeface="Genty Sans"/>
              </a:rPr>
              <a:t>6. RESULTS </a:t>
            </a:r>
          </a:p>
          <a:p>
            <a:pPr algn="l">
              <a:lnSpc>
                <a:spcPts val="16101"/>
              </a:lnSpc>
            </a:pPr>
            <a:r>
              <a:rPr lang="en-US" sz="11501">
                <a:solidFill>
                  <a:srgbClr val="0F4662"/>
                </a:solidFill>
                <a:latin typeface="Genty Sans"/>
                <a:ea typeface="Genty Sans"/>
                <a:cs typeface="Genty Sans"/>
                <a:sym typeface="Genty Sans"/>
              </a:rPr>
              <a:t>AND KEY INSIGHTS</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2176293" y="2613894"/>
            <a:ext cx="13935415" cy="7002546"/>
          </a:xfrm>
          <a:custGeom>
            <a:avLst/>
            <a:gdLst/>
            <a:ahLst/>
            <a:cxnLst/>
            <a:rect r="r" b="b" t="t" l="l"/>
            <a:pathLst>
              <a:path h="7002546" w="13935415">
                <a:moveTo>
                  <a:pt x="0" y="0"/>
                </a:moveTo>
                <a:lnTo>
                  <a:pt x="13935414" y="0"/>
                </a:lnTo>
                <a:lnTo>
                  <a:pt x="13935414" y="7002546"/>
                </a:lnTo>
                <a:lnTo>
                  <a:pt x="0" y="7002546"/>
                </a:lnTo>
                <a:lnTo>
                  <a:pt x="0" y="0"/>
                </a:lnTo>
                <a:close/>
              </a:path>
            </a:pathLst>
          </a:custGeom>
          <a:blipFill>
            <a:blip r:embed="rId2"/>
            <a:stretch>
              <a:fillRect l="0" t="0" r="0" b="0"/>
            </a:stretch>
          </a:blipFill>
        </p:spPr>
      </p:sp>
      <p:sp>
        <p:nvSpPr>
          <p:cNvPr name="TextBox 3" id="3"/>
          <p:cNvSpPr txBox="true"/>
          <p:nvPr/>
        </p:nvSpPr>
        <p:spPr>
          <a:xfrm rot="0">
            <a:off x="17259300" y="9220200"/>
            <a:ext cx="152400" cy="190500"/>
          </a:xfrm>
          <a:prstGeom prst="rect">
            <a:avLst/>
          </a:prstGeom>
        </p:spPr>
        <p:txBody>
          <a:bodyPr anchor="t" rtlCol="false" tIns="0" lIns="0" bIns="0" rIns="0" wrap="none">
            <a:spAutoFit/>
          </a:bodyPr>
          <a:lstStyle/>
          <a:p>
            <a:pPr algn="ctr">
              <a:lnSpc>
                <a:spcPts val="3359"/>
              </a:lnSpc>
              <a:spcBef>
                <a:spcPct val="0"/>
              </a:spcBef>
            </a:pPr>
            <a:r>
              <a:rPr lang="en-US" sz="2399">
                <a:solidFill>
                  <a:srgbClr val="0F4662"/>
                </a:solidFill>
                <a:latin typeface="Canva Sans"/>
                <a:ea typeface="Canva Sans"/>
                <a:cs typeface="Canva Sans"/>
                <a:sym typeface="Canva Sans"/>
              </a:rPr>
              <a:t>39</a:t>
            </a:r>
          </a:p>
        </p:txBody>
      </p:sp>
      <p:grpSp>
        <p:nvGrpSpPr>
          <p:cNvPr name="Group 4" id="4"/>
          <p:cNvGrpSpPr/>
          <p:nvPr/>
        </p:nvGrpSpPr>
        <p:grpSpPr>
          <a:xfrm rot="0">
            <a:off x="0" y="0"/>
            <a:ext cx="18288000" cy="1907687"/>
            <a:chOff x="0" y="0"/>
            <a:chExt cx="4816593" cy="502436"/>
          </a:xfrm>
        </p:grpSpPr>
        <p:sp>
          <p:nvSpPr>
            <p:cNvPr name="Freeform 5" id="5"/>
            <p:cNvSpPr/>
            <p:nvPr/>
          </p:nvSpPr>
          <p:spPr>
            <a:xfrm flipH="false" flipV="false" rot="0">
              <a:off x="0" y="0"/>
              <a:ext cx="4816592" cy="502436"/>
            </a:xfrm>
            <a:custGeom>
              <a:avLst/>
              <a:gdLst/>
              <a:ahLst/>
              <a:cxnLst/>
              <a:rect r="r" b="b" t="t" l="l"/>
              <a:pathLst>
                <a:path h="502436" w="4816592">
                  <a:moveTo>
                    <a:pt x="0" y="0"/>
                  </a:moveTo>
                  <a:lnTo>
                    <a:pt x="4816592" y="0"/>
                  </a:lnTo>
                  <a:lnTo>
                    <a:pt x="4816592" y="502436"/>
                  </a:lnTo>
                  <a:lnTo>
                    <a:pt x="0" y="502436"/>
                  </a:lnTo>
                  <a:close/>
                </a:path>
              </a:pathLst>
            </a:custGeom>
            <a:solidFill>
              <a:srgbClr val="DBE5EA"/>
            </a:solidFill>
          </p:spPr>
        </p:sp>
        <p:sp>
          <p:nvSpPr>
            <p:cNvPr name="TextBox 6" id="6"/>
            <p:cNvSpPr txBox="true"/>
            <p:nvPr/>
          </p:nvSpPr>
          <p:spPr>
            <a:xfrm>
              <a:off x="0" y="-47625"/>
              <a:ext cx="4816593" cy="550061"/>
            </a:xfrm>
            <a:prstGeom prst="rect">
              <a:avLst/>
            </a:prstGeom>
          </p:spPr>
          <p:txBody>
            <a:bodyPr anchor="ctr" rtlCol="false" tIns="50800" lIns="50800" bIns="50800" rIns="50800"/>
            <a:lstStyle/>
            <a:p>
              <a:pPr algn="ctr">
                <a:lnSpc>
                  <a:spcPts val="3693"/>
                </a:lnSpc>
              </a:pPr>
            </a:p>
          </p:txBody>
        </p:sp>
      </p:grpSp>
      <p:sp>
        <p:nvSpPr>
          <p:cNvPr name="TextBox 7" id="7"/>
          <p:cNvSpPr txBox="true"/>
          <p:nvPr/>
        </p:nvSpPr>
        <p:spPr>
          <a:xfrm rot="0">
            <a:off x="1028700" y="290011"/>
            <a:ext cx="16230600" cy="1194314"/>
          </a:xfrm>
          <a:prstGeom prst="rect">
            <a:avLst/>
          </a:prstGeom>
        </p:spPr>
        <p:txBody>
          <a:bodyPr anchor="t" rtlCol="false" tIns="0" lIns="0" bIns="0" rIns="0">
            <a:spAutoFit/>
          </a:bodyPr>
          <a:lstStyle/>
          <a:p>
            <a:pPr algn="l">
              <a:lnSpc>
                <a:spcPts val="9771"/>
              </a:lnSpc>
            </a:pPr>
            <a:r>
              <a:rPr lang="en-US" sz="6979" u="sng">
                <a:solidFill>
                  <a:srgbClr val="0F4662"/>
                </a:solidFill>
                <a:latin typeface="Genty Sans"/>
                <a:ea typeface="Genty Sans"/>
                <a:cs typeface="Genty Sans"/>
                <a:sym typeface="Genty Sans"/>
              </a:rPr>
              <a:t>MODELS PERFORMANCE COMPARISON</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279412" y="3651551"/>
            <a:ext cx="17729175" cy="4321486"/>
          </a:xfrm>
          <a:custGeom>
            <a:avLst/>
            <a:gdLst/>
            <a:ahLst/>
            <a:cxnLst/>
            <a:rect r="r" b="b" t="t" l="l"/>
            <a:pathLst>
              <a:path h="4321486" w="17729175">
                <a:moveTo>
                  <a:pt x="0" y="0"/>
                </a:moveTo>
                <a:lnTo>
                  <a:pt x="17729176" y="0"/>
                </a:lnTo>
                <a:lnTo>
                  <a:pt x="17729176" y="4321487"/>
                </a:lnTo>
                <a:lnTo>
                  <a:pt x="0" y="4321487"/>
                </a:lnTo>
                <a:lnTo>
                  <a:pt x="0" y="0"/>
                </a:lnTo>
                <a:close/>
              </a:path>
            </a:pathLst>
          </a:custGeom>
          <a:blipFill>
            <a:blip r:embed="rId2"/>
            <a:stretch>
              <a:fillRect l="0" t="0" r="0" b="0"/>
            </a:stretch>
          </a:blipFill>
        </p:spPr>
      </p:sp>
      <p:sp>
        <p:nvSpPr>
          <p:cNvPr name="TextBox 3" id="3"/>
          <p:cNvSpPr txBox="true"/>
          <p:nvPr/>
        </p:nvSpPr>
        <p:spPr>
          <a:xfrm rot="0">
            <a:off x="17259300" y="9220200"/>
            <a:ext cx="152400" cy="190500"/>
          </a:xfrm>
          <a:prstGeom prst="rect">
            <a:avLst/>
          </a:prstGeom>
        </p:spPr>
        <p:txBody>
          <a:bodyPr anchor="t" rtlCol="false" tIns="0" lIns="0" bIns="0" rIns="0" wrap="none">
            <a:spAutoFit/>
          </a:bodyPr>
          <a:lstStyle/>
          <a:p>
            <a:pPr algn="ctr">
              <a:lnSpc>
                <a:spcPts val="3359"/>
              </a:lnSpc>
              <a:spcBef>
                <a:spcPct val="0"/>
              </a:spcBef>
            </a:pPr>
            <a:r>
              <a:rPr lang="en-US" sz="2399">
                <a:solidFill>
                  <a:srgbClr val="0F4662"/>
                </a:solidFill>
                <a:latin typeface="Canva Sans"/>
                <a:ea typeface="Canva Sans"/>
                <a:cs typeface="Canva Sans"/>
                <a:sym typeface="Canva Sans"/>
              </a:rPr>
              <a:t>40</a:t>
            </a:r>
          </a:p>
        </p:txBody>
      </p:sp>
      <p:grpSp>
        <p:nvGrpSpPr>
          <p:cNvPr name="Group 4" id="4"/>
          <p:cNvGrpSpPr/>
          <p:nvPr/>
        </p:nvGrpSpPr>
        <p:grpSpPr>
          <a:xfrm rot="0">
            <a:off x="0" y="0"/>
            <a:ext cx="18288000" cy="1907687"/>
            <a:chOff x="0" y="0"/>
            <a:chExt cx="4816593" cy="502436"/>
          </a:xfrm>
        </p:grpSpPr>
        <p:sp>
          <p:nvSpPr>
            <p:cNvPr name="Freeform 5" id="5"/>
            <p:cNvSpPr/>
            <p:nvPr/>
          </p:nvSpPr>
          <p:spPr>
            <a:xfrm flipH="false" flipV="false" rot="0">
              <a:off x="0" y="0"/>
              <a:ext cx="4816592" cy="502436"/>
            </a:xfrm>
            <a:custGeom>
              <a:avLst/>
              <a:gdLst/>
              <a:ahLst/>
              <a:cxnLst/>
              <a:rect r="r" b="b" t="t" l="l"/>
              <a:pathLst>
                <a:path h="502436" w="4816592">
                  <a:moveTo>
                    <a:pt x="0" y="0"/>
                  </a:moveTo>
                  <a:lnTo>
                    <a:pt x="4816592" y="0"/>
                  </a:lnTo>
                  <a:lnTo>
                    <a:pt x="4816592" y="502436"/>
                  </a:lnTo>
                  <a:lnTo>
                    <a:pt x="0" y="502436"/>
                  </a:lnTo>
                  <a:close/>
                </a:path>
              </a:pathLst>
            </a:custGeom>
            <a:solidFill>
              <a:srgbClr val="DBE5EA"/>
            </a:solidFill>
          </p:spPr>
        </p:sp>
        <p:sp>
          <p:nvSpPr>
            <p:cNvPr name="TextBox 6" id="6"/>
            <p:cNvSpPr txBox="true"/>
            <p:nvPr/>
          </p:nvSpPr>
          <p:spPr>
            <a:xfrm>
              <a:off x="0" y="-47625"/>
              <a:ext cx="4816593" cy="550061"/>
            </a:xfrm>
            <a:prstGeom prst="rect">
              <a:avLst/>
            </a:prstGeom>
          </p:spPr>
          <p:txBody>
            <a:bodyPr anchor="ctr" rtlCol="false" tIns="50800" lIns="50800" bIns="50800" rIns="50800"/>
            <a:lstStyle/>
            <a:p>
              <a:pPr algn="ctr">
                <a:lnSpc>
                  <a:spcPts val="3693"/>
                </a:lnSpc>
              </a:pPr>
            </a:p>
          </p:txBody>
        </p:sp>
      </p:grpSp>
      <p:sp>
        <p:nvSpPr>
          <p:cNvPr name="TextBox 7" id="7"/>
          <p:cNvSpPr txBox="true"/>
          <p:nvPr/>
        </p:nvSpPr>
        <p:spPr>
          <a:xfrm rot="0">
            <a:off x="1340771" y="389380"/>
            <a:ext cx="15606458" cy="1145291"/>
          </a:xfrm>
          <a:prstGeom prst="rect">
            <a:avLst/>
          </a:prstGeom>
        </p:spPr>
        <p:txBody>
          <a:bodyPr anchor="t" rtlCol="false" tIns="0" lIns="0" bIns="0" rIns="0">
            <a:spAutoFit/>
          </a:bodyPr>
          <a:lstStyle/>
          <a:p>
            <a:pPr algn="l">
              <a:lnSpc>
                <a:spcPts val="9351"/>
              </a:lnSpc>
            </a:pPr>
            <a:r>
              <a:rPr lang="en-US" sz="6679" u="sng">
                <a:solidFill>
                  <a:srgbClr val="0F4662"/>
                </a:solidFill>
                <a:latin typeface="Genty Sans"/>
                <a:ea typeface="Genty Sans"/>
                <a:cs typeface="Genty Sans"/>
                <a:sym typeface="Genty Sans"/>
              </a:rPr>
              <a:t>MODELS PERFORMANCE COMPARISON</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17259300" y="9220200"/>
            <a:ext cx="152400" cy="190500"/>
          </a:xfrm>
          <a:prstGeom prst="rect">
            <a:avLst/>
          </a:prstGeom>
        </p:spPr>
        <p:txBody>
          <a:bodyPr anchor="t" rtlCol="false" tIns="0" lIns="0" bIns="0" rIns="0" wrap="none">
            <a:spAutoFit/>
          </a:bodyPr>
          <a:lstStyle/>
          <a:p>
            <a:pPr algn="ctr">
              <a:lnSpc>
                <a:spcPts val="3359"/>
              </a:lnSpc>
              <a:spcBef>
                <a:spcPct val="0"/>
              </a:spcBef>
            </a:pPr>
            <a:r>
              <a:rPr lang="en-US" sz="2399">
                <a:solidFill>
                  <a:srgbClr val="0F4662"/>
                </a:solidFill>
                <a:latin typeface="Canva Sans"/>
                <a:ea typeface="Canva Sans"/>
                <a:cs typeface="Canva Sans"/>
                <a:sym typeface="Canva Sans"/>
              </a:rPr>
              <a:t>41</a:t>
            </a:r>
          </a:p>
        </p:txBody>
      </p:sp>
      <p:grpSp>
        <p:nvGrpSpPr>
          <p:cNvPr name="Group 3" id="3"/>
          <p:cNvGrpSpPr/>
          <p:nvPr/>
        </p:nvGrpSpPr>
        <p:grpSpPr>
          <a:xfrm rot="0">
            <a:off x="0" y="0"/>
            <a:ext cx="18288000" cy="1907687"/>
            <a:chOff x="0" y="0"/>
            <a:chExt cx="4816593" cy="502436"/>
          </a:xfrm>
        </p:grpSpPr>
        <p:sp>
          <p:nvSpPr>
            <p:cNvPr name="Freeform 4" id="4"/>
            <p:cNvSpPr/>
            <p:nvPr/>
          </p:nvSpPr>
          <p:spPr>
            <a:xfrm flipH="false" flipV="false" rot="0">
              <a:off x="0" y="0"/>
              <a:ext cx="4816592" cy="502436"/>
            </a:xfrm>
            <a:custGeom>
              <a:avLst/>
              <a:gdLst/>
              <a:ahLst/>
              <a:cxnLst/>
              <a:rect r="r" b="b" t="t" l="l"/>
              <a:pathLst>
                <a:path h="502436" w="4816592">
                  <a:moveTo>
                    <a:pt x="0" y="0"/>
                  </a:moveTo>
                  <a:lnTo>
                    <a:pt x="4816592" y="0"/>
                  </a:lnTo>
                  <a:lnTo>
                    <a:pt x="4816592" y="502436"/>
                  </a:lnTo>
                  <a:lnTo>
                    <a:pt x="0" y="502436"/>
                  </a:lnTo>
                  <a:close/>
                </a:path>
              </a:pathLst>
            </a:custGeom>
            <a:solidFill>
              <a:srgbClr val="DBE5EA"/>
            </a:solidFill>
          </p:spPr>
        </p:sp>
        <p:sp>
          <p:nvSpPr>
            <p:cNvPr name="TextBox 5" id="5"/>
            <p:cNvSpPr txBox="true"/>
            <p:nvPr/>
          </p:nvSpPr>
          <p:spPr>
            <a:xfrm>
              <a:off x="0" y="-47625"/>
              <a:ext cx="4816593" cy="550061"/>
            </a:xfrm>
            <a:prstGeom prst="rect">
              <a:avLst/>
            </a:prstGeom>
          </p:spPr>
          <p:txBody>
            <a:bodyPr anchor="ctr" rtlCol="false" tIns="50800" lIns="50800" bIns="50800" rIns="50800"/>
            <a:lstStyle/>
            <a:p>
              <a:pPr algn="ctr">
                <a:lnSpc>
                  <a:spcPts val="3693"/>
                </a:lnSpc>
              </a:pPr>
            </a:p>
          </p:txBody>
        </p:sp>
      </p:grpSp>
      <p:sp>
        <p:nvSpPr>
          <p:cNvPr name="TextBox 6" id="6"/>
          <p:cNvSpPr txBox="true"/>
          <p:nvPr/>
        </p:nvSpPr>
        <p:spPr>
          <a:xfrm rot="0">
            <a:off x="3968938" y="145863"/>
            <a:ext cx="8836004" cy="1444510"/>
          </a:xfrm>
          <a:prstGeom prst="rect">
            <a:avLst/>
          </a:prstGeom>
        </p:spPr>
        <p:txBody>
          <a:bodyPr anchor="t" rtlCol="false" tIns="0" lIns="0" bIns="0" rIns="0">
            <a:spAutoFit/>
          </a:bodyPr>
          <a:lstStyle/>
          <a:p>
            <a:pPr algn="l">
              <a:lnSpc>
                <a:spcPts val="11731"/>
              </a:lnSpc>
            </a:pPr>
            <a:r>
              <a:rPr lang="en-US" sz="8379" u="sng">
                <a:solidFill>
                  <a:srgbClr val="0F4662"/>
                </a:solidFill>
                <a:latin typeface="Genty Sans"/>
                <a:ea typeface="Genty Sans"/>
                <a:cs typeface="Genty Sans"/>
                <a:sym typeface="Genty Sans"/>
              </a:rPr>
              <a:t>INTERPRETATION</a:t>
            </a:r>
          </a:p>
        </p:txBody>
      </p:sp>
      <p:sp>
        <p:nvSpPr>
          <p:cNvPr name="TextBox 7" id="7"/>
          <p:cNvSpPr txBox="true"/>
          <p:nvPr/>
        </p:nvSpPr>
        <p:spPr>
          <a:xfrm rot="0">
            <a:off x="468295" y="2159137"/>
            <a:ext cx="16964301" cy="7099163"/>
          </a:xfrm>
          <a:prstGeom prst="rect">
            <a:avLst/>
          </a:prstGeom>
        </p:spPr>
        <p:txBody>
          <a:bodyPr anchor="t" rtlCol="false" tIns="0" lIns="0" bIns="0" rIns="0">
            <a:spAutoFit/>
          </a:bodyPr>
          <a:lstStyle/>
          <a:p>
            <a:pPr algn="l" marL="646206" indent="-323103" lvl="1">
              <a:lnSpc>
                <a:spcPts val="5178"/>
              </a:lnSpc>
              <a:buFont typeface="Arial"/>
              <a:buChar char="•"/>
            </a:pPr>
            <a:r>
              <a:rPr lang="en-US" b="true" sz="2993">
                <a:solidFill>
                  <a:srgbClr val="0F4662"/>
                </a:solidFill>
                <a:latin typeface="Canva Sans Bold"/>
                <a:ea typeface="Canva Sans Bold"/>
                <a:cs typeface="Canva Sans Bold"/>
                <a:sym typeface="Canva Sans Bold"/>
              </a:rPr>
              <a:t>Data Independence Assumption in Naive Bayes :</a:t>
            </a:r>
            <a:r>
              <a:rPr lang="en-US" sz="2993">
                <a:solidFill>
                  <a:srgbClr val="000000"/>
                </a:solidFill>
                <a:latin typeface="Canva Sans"/>
                <a:ea typeface="Canva Sans"/>
                <a:cs typeface="Canva Sans"/>
                <a:sym typeface="Canva Sans"/>
              </a:rPr>
              <a:t> Naive Bayes assumes that the features in the dataset are independent of each other. However, the success of startups often depends on multiple correlated factors, such as funding, year and location. This assumption of independence makes it challenging for Naive Bayes to accurately model these relationships, resulting in suboptimal performance.</a:t>
            </a:r>
          </a:p>
          <a:p>
            <a:pPr algn="l">
              <a:lnSpc>
                <a:spcPts val="5178"/>
              </a:lnSpc>
            </a:pPr>
          </a:p>
          <a:p>
            <a:pPr algn="l" marL="646206" indent="-323103" lvl="1">
              <a:lnSpc>
                <a:spcPts val="5178"/>
              </a:lnSpc>
              <a:buFont typeface="Arial"/>
              <a:buChar char="•"/>
            </a:pPr>
            <a:r>
              <a:rPr lang="en-US" b="true" sz="2993">
                <a:solidFill>
                  <a:srgbClr val="0F4662"/>
                </a:solidFill>
                <a:latin typeface="Canva Sans Bold"/>
                <a:ea typeface="Canva Sans Bold"/>
                <a:cs typeface="Canva Sans Bold"/>
                <a:sym typeface="Canva Sans Bold"/>
              </a:rPr>
              <a:t>Complexity of the Dataset : </a:t>
            </a:r>
            <a:r>
              <a:rPr lang="en-US" sz="2993">
                <a:solidFill>
                  <a:srgbClr val="000000"/>
                </a:solidFill>
                <a:latin typeface="Canva Sans"/>
                <a:ea typeface="Canva Sans"/>
                <a:cs typeface="Canva Sans"/>
                <a:sym typeface="Canva Sans"/>
              </a:rPr>
              <a:t>KNN, Logistic Regression and Decision Trees are more flexible in handling complex relationships between features. KNN can capture non-linear relationships by considering proximity, Logistic Regression can model interactions between features especially with regularization and Decision Trees can capture hierarchical, non-linear patterns through splits on features. </a:t>
            </a:r>
          </a:p>
        </p:txBody>
      </p:sp>
      <p:sp>
        <p:nvSpPr>
          <p:cNvPr name="Freeform 8" id="8"/>
          <p:cNvSpPr/>
          <p:nvPr/>
        </p:nvSpPr>
        <p:spPr>
          <a:xfrm flipH="false" flipV="false" rot="0">
            <a:off x="13061774" y="439456"/>
            <a:ext cx="1251828" cy="1028775"/>
          </a:xfrm>
          <a:custGeom>
            <a:avLst/>
            <a:gdLst/>
            <a:ahLst/>
            <a:cxnLst/>
            <a:rect r="r" b="b" t="t" l="l"/>
            <a:pathLst>
              <a:path h="1028775" w="1251828">
                <a:moveTo>
                  <a:pt x="0" y="0"/>
                </a:moveTo>
                <a:lnTo>
                  <a:pt x="1251828" y="0"/>
                </a:lnTo>
                <a:lnTo>
                  <a:pt x="1251828" y="1028775"/>
                </a:lnTo>
                <a:lnTo>
                  <a:pt x="0" y="10287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728755" y="3703590"/>
            <a:ext cx="16708960" cy="4015273"/>
          </a:xfrm>
          <a:prstGeom prst="rect">
            <a:avLst/>
          </a:prstGeom>
        </p:spPr>
        <p:txBody>
          <a:bodyPr anchor="t" rtlCol="false" tIns="0" lIns="0" bIns="0" rIns="0">
            <a:spAutoFit/>
          </a:bodyPr>
          <a:lstStyle/>
          <a:p>
            <a:pPr algn="l" marL="769118" indent="-384559" lvl="1">
              <a:lnSpc>
                <a:spcPts val="6483"/>
              </a:lnSpc>
              <a:buFont typeface="Arial"/>
              <a:buChar char="•"/>
            </a:pPr>
            <a:r>
              <a:rPr lang="en-US" b="true" sz="3562">
                <a:solidFill>
                  <a:srgbClr val="0F4662"/>
                </a:solidFill>
                <a:latin typeface="Canva Sans Bold"/>
                <a:ea typeface="Canva Sans Bold"/>
                <a:cs typeface="Canva Sans Bold"/>
                <a:sym typeface="Canva Sans Bold"/>
              </a:rPr>
              <a:t>Data Quality and Size : </a:t>
            </a:r>
            <a:r>
              <a:rPr lang="en-US" sz="3562">
                <a:solidFill>
                  <a:srgbClr val="000000"/>
                </a:solidFill>
                <a:latin typeface="Canva Sans"/>
                <a:ea typeface="Canva Sans"/>
                <a:cs typeface="Canva Sans"/>
                <a:sym typeface="Canva Sans"/>
              </a:rPr>
              <a:t>With a large, well-cleaned dataset, models like KNN, Logistic Regression and Decision Trees can all perform well because they have more data to learn complex patterns. Naive Bayes, on the other hand, is relatively simple and may not be powerful enough for complex datasets, especially when there are feature dependencies.</a:t>
            </a:r>
          </a:p>
        </p:txBody>
      </p:sp>
      <p:sp>
        <p:nvSpPr>
          <p:cNvPr name="TextBox 3" id="3"/>
          <p:cNvSpPr txBox="true"/>
          <p:nvPr/>
        </p:nvSpPr>
        <p:spPr>
          <a:xfrm rot="0">
            <a:off x="17259300" y="9220200"/>
            <a:ext cx="152400" cy="190500"/>
          </a:xfrm>
          <a:prstGeom prst="rect">
            <a:avLst/>
          </a:prstGeom>
        </p:spPr>
        <p:txBody>
          <a:bodyPr anchor="t" rtlCol="false" tIns="0" lIns="0" bIns="0" rIns="0" wrap="none">
            <a:spAutoFit/>
          </a:bodyPr>
          <a:lstStyle/>
          <a:p>
            <a:pPr algn="ctr">
              <a:lnSpc>
                <a:spcPts val="3359"/>
              </a:lnSpc>
              <a:spcBef>
                <a:spcPct val="0"/>
              </a:spcBef>
            </a:pPr>
            <a:r>
              <a:rPr lang="en-US" sz="2399">
                <a:solidFill>
                  <a:srgbClr val="0F4662"/>
                </a:solidFill>
                <a:latin typeface="Canva Sans"/>
                <a:ea typeface="Canva Sans"/>
                <a:cs typeface="Canva Sans"/>
                <a:sym typeface="Canva Sans"/>
              </a:rPr>
              <a:t>42</a:t>
            </a:r>
          </a:p>
        </p:txBody>
      </p:sp>
      <p:grpSp>
        <p:nvGrpSpPr>
          <p:cNvPr name="Group 4" id="4"/>
          <p:cNvGrpSpPr/>
          <p:nvPr/>
        </p:nvGrpSpPr>
        <p:grpSpPr>
          <a:xfrm rot="0">
            <a:off x="0" y="0"/>
            <a:ext cx="18288000" cy="1907687"/>
            <a:chOff x="0" y="0"/>
            <a:chExt cx="4816593" cy="502436"/>
          </a:xfrm>
        </p:grpSpPr>
        <p:sp>
          <p:nvSpPr>
            <p:cNvPr name="Freeform 5" id="5"/>
            <p:cNvSpPr/>
            <p:nvPr/>
          </p:nvSpPr>
          <p:spPr>
            <a:xfrm flipH="false" flipV="false" rot="0">
              <a:off x="0" y="0"/>
              <a:ext cx="4816592" cy="502436"/>
            </a:xfrm>
            <a:custGeom>
              <a:avLst/>
              <a:gdLst/>
              <a:ahLst/>
              <a:cxnLst/>
              <a:rect r="r" b="b" t="t" l="l"/>
              <a:pathLst>
                <a:path h="502436" w="4816592">
                  <a:moveTo>
                    <a:pt x="0" y="0"/>
                  </a:moveTo>
                  <a:lnTo>
                    <a:pt x="4816592" y="0"/>
                  </a:lnTo>
                  <a:lnTo>
                    <a:pt x="4816592" y="502436"/>
                  </a:lnTo>
                  <a:lnTo>
                    <a:pt x="0" y="502436"/>
                  </a:lnTo>
                  <a:close/>
                </a:path>
              </a:pathLst>
            </a:custGeom>
            <a:solidFill>
              <a:srgbClr val="DBE5EA"/>
            </a:solidFill>
          </p:spPr>
        </p:sp>
        <p:sp>
          <p:nvSpPr>
            <p:cNvPr name="TextBox 6" id="6"/>
            <p:cNvSpPr txBox="true"/>
            <p:nvPr/>
          </p:nvSpPr>
          <p:spPr>
            <a:xfrm>
              <a:off x="0" y="-47625"/>
              <a:ext cx="4816593" cy="550061"/>
            </a:xfrm>
            <a:prstGeom prst="rect">
              <a:avLst/>
            </a:prstGeom>
          </p:spPr>
          <p:txBody>
            <a:bodyPr anchor="ctr" rtlCol="false" tIns="50800" lIns="50800" bIns="50800" rIns="50800"/>
            <a:lstStyle/>
            <a:p>
              <a:pPr algn="ctr">
                <a:lnSpc>
                  <a:spcPts val="3693"/>
                </a:lnSpc>
              </a:pPr>
            </a:p>
          </p:txBody>
        </p:sp>
      </p:grpSp>
      <p:sp>
        <p:nvSpPr>
          <p:cNvPr name="TextBox 7" id="7"/>
          <p:cNvSpPr txBox="true"/>
          <p:nvPr/>
        </p:nvSpPr>
        <p:spPr>
          <a:xfrm rot="0">
            <a:off x="3968938" y="145863"/>
            <a:ext cx="8836004" cy="1444510"/>
          </a:xfrm>
          <a:prstGeom prst="rect">
            <a:avLst/>
          </a:prstGeom>
        </p:spPr>
        <p:txBody>
          <a:bodyPr anchor="t" rtlCol="false" tIns="0" lIns="0" bIns="0" rIns="0">
            <a:spAutoFit/>
          </a:bodyPr>
          <a:lstStyle/>
          <a:p>
            <a:pPr algn="l">
              <a:lnSpc>
                <a:spcPts val="11731"/>
              </a:lnSpc>
            </a:pPr>
            <a:r>
              <a:rPr lang="en-US" sz="8379" u="sng">
                <a:solidFill>
                  <a:srgbClr val="0F4662"/>
                </a:solidFill>
                <a:latin typeface="Genty Sans"/>
                <a:ea typeface="Genty Sans"/>
                <a:cs typeface="Genty Sans"/>
                <a:sym typeface="Genty Sans"/>
              </a:rPr>
              <a:t>INTERPRETATION</a:t>
            </a:r>
          </a:p>
        </p:txBody>
      </p:sp>
      <p:sp>
        <p:nvSpPr>
          <p:cNvPr name="Freeform 8" id="8"/>
          <p:cNvSpPr/>
          <p:nvPr/>
        </p:nvSpPr>
        <p:spPr>
          <a:xfrm flipH="false" flipV="false" rot="0">
            <a:off x="13061774" y="439456"/>
            <a:ext cx="1251828" cy="1028775"/>
          </a:xfrm>
          <a:custGeom>
            <a:avLst/>
            <a:gdLst/>
            <a:ahLst/>
            <a:cxnLst/>
            <a:rect r="r" b="b" t="t" l="l"/>
            <a:pathLst>
              <a:path h="1028775" w="1251828">
                <a:moveTo>
                  <a:pt x="0" y="0"/>
                </a:moveTo>
                <a:lnTo>
                  <a:pt x="1251828" y="0"/>
                </a:lnTo>
                <a:lnTo>
                  <a:pt x="1251828" y="1028775"/>
                </a:lnTo>
                <a:lnTo>
                  <a:pt x="0" y="10287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907687"/>
            <a:chOff x="0" y="0"/>
            <a:chExt cx="4816593" cy="502436"/>
          </a:xfrm>
        </p:grpSpPr>
        <p:sp>
          <p:nvSpPr>
            <p:cNvPr name="Freeform 3" id="3"/>
            <p:cNvSpPr/>
            <p:nvPr/>
          </p:nvSpPr>
          <p:spPr>
            <a:xfrm flipH="false" flipV="false" rot="0">
              <a:off x="0" y="0"/>
              <a:ext cx="4816592" cy="502436"/>
            </a:xfrm>
            <a:custGeom>
              <a:avLst/>
              <a:gdLst/>
              <a:ahLst/>
              <a:cxnLst/>
              <a:rect r="r" b="b" t="t" l="l"/>
              <a:pathLst>
                <a:path h="502436" w="4816592">
                  <a:moveTo>
                    <a:pt x="0" y="0"/>
                  </a:moveTo>
                  <a:lnTo>
                    <a:pt x="4816592" y="0"/>
                  </a:lnTo>
                  <a:lnTo>
                    <a:pt x="4816592" y="502436"/>
                  </a:lnTo>
                  <a:lnTo>
                    <a:pt x="0" y="502436"/>
                  </a:lnTo>
                  <a:close/>
                </a:path>
              </a:pathLst>
            </a:custGeom>
            <a:solidFill>
              <a:srgbClr val="DBE5EA"/>
            </a:solidFill>
          </p:spPr>
        </p:sp>
        <p:sp>
          <p:nvSpPr>
            <p:cNvPr name="TextBox 4" id="4"/>
            <p:cNvSpPr txBox="true"/>
            <p:nvPr/>
          </p:nvSpPr>
          <p:spPr>
            <a:xfrm>
              <a:off x="0" y="-47625"/>
              <a:ext cx="4816593" cy="550061"/>
            </a:xfrm>
            <a:prstGeom prst="rect">
              <a:avLst/>
            </a:prstGeom>
          </p:spPr>
          <p:txBody>
            <a:bodyPr anchor="ctr" rtlCol="false" tIns="50800" lIns="50800" bIns="50800" rIns="50800"/>
            <a:lstStyle/>
            <a:p>
              <a:pPr algn="ctr">
                <a:lnSpc>
                  <a:spcPts val="3693"/>
                </a:lnSpc>
              </a:pPr>
            </a:p>
          </p:txBody>
        </p:sp>
      </p:grpSp>
      <p:sp>
        <p:nvSpPr>
          <p:cNvPr name="Freeform 5" id="5"/>
          <p:cNvSpPr/>
          <p:nvPr/>
        </p:nvSpPr>
        <p:spPr>
          <a:xfrm flipH="false" flipV="false" rot="0">
            <a:off x="3743723" y="3946817"/>
            <a:ext cx="10800554" cy="6156316"/>
          </a:xfrm>
          <a:custGeom>
            <a:avLst/>
            <a:gdLst/>
            <a:ahLst/>
            <a:cxnLst/>
            <a:rect r="r" b="b" t="t" l="l"/>
            <a:pathLst>
              <a:path h="6156316" w="10800554">
                <a:moveTo>
                  <a:pt x="0" y="0"/>
                </a:moveTo>
                <a:lnTo>
                  <a:pt x="10800554" y="0"/>
                </a:lnTo>
                <a:lnTo>
                  <a:pt x="10800554" y="6156316"/>
                </a:lnTo>
                <a:lnTo>
                  <a:pt x="0" y="6156316"/>
                </a:lnTo>
                <a:lnTo>
                  <a:pt x="0" y="0"/>
                </a:lnTo>
                <a:close/>
              </a:path>
            </a:pathLst>
          </a:custGeom>
          <a:blipFill>
            <a:blip r:embed="rId2"/>
            <a:stretch>
              <a:fillRect l="0" t="0" r="0" b="0"/>
            </a:stretch>
          </a:blipFill>
        </p:spPr>
      </p:sp>
      <p:sp>
        <p:nvSpPr>
          <p:cNvPr name="TextBox 6" id="6"/>
          <p:cNvSpPr txBox="true"/>
          <p:nvPr/>
        </p:nvSpPr>
        <p:spPr>
          <a:xfrm rot="0">
            <a:off x="17259300" y="9220200"/>
            <a:ext cx="152400" cy="190500"/>
          </a:xfrm>
          <a:prstGeom prst="rect">
            <a:avLst/>
          </a:prstGeom>
        </p:spPr>
        <p:txBody>
          <a:bodyPr anchor="t" rtlCol="false" tIns="0" lIns="0" bIns="0" rIns="0" wrap="none">
            <a:spAutoFit/>
          </a:bodyPr>
          <a:lstStyle/>
          <a:p>
            <a:pPr algn="ctr">
              <a:lnSpc>
                <a:spcPts val="3359"/>
              </a:lnSpc>
              <a:spcBef>
                <a:spcPct val="0"/>
              </a:spcBef>
            </a:pPr>
            <a:r>
              <a:rPr lang="en-US" sz="2399">
                <a:solidFill>
                  <a:srgbClr val="0F4662"/>
                </a:solidFill>
                <a:latin typeface="Canva Sans"/>
                <a:ea typeface="Canva Sans"/>
                <a:cs typeface="Canva Sans"/>
                <a:sym typeface="Canva Sans"/>
              </a:rPr>
              <a:t>43</a:t>
            </a:r>
          </a:p>
        </p:txBody>
      </p:sp>
      <p:sp>
        <p:nvSpPr>
          <p:cNvPr name="TextBox 7" id="7"/>
          <p:cNvSpPr txBox="true"/>
          <p:nvPr/>
        </p:nvSpPr>
        <p:spPr>
          <a:xfrm rot="0">
            <a:off x="956727" y="481708"/>
            <a:ext cx="16654284" cy="986669"/>
          </a:xfrm>
          <a:prstGeom prst="rect">
            <a:avLst/>
          </a:prstGeom>
        </p:spPr>
        <p:txBody>
          <a:bodyPr anchor="t" rtlCol="false" tIns="0" lIns="0" bIns="0" rIns="0">
            <a:spAutoFit/>
          </a:bodyPr>
          <a:lstStyle/>
          <a:p>
            <a:pPr algn="l">
              <a:lnSpc>
                <a:spcPts val="8091"/>
              </a:lnSpc>
            </a:pPr>
            <a:r>
              <a:rPr lang="en-US" sz="5779" u="sng">
                <a:solidFill>
                  <a:srgbClr val="0F4662"/>
                </a:solidFill>
                <a:latin typeface="Genty Sans"/>
                <a:ea typeface="Genty Sans"/>
                <a:cs typeface="Genty Sans"/>
                <a:sym typeface="Genty Sans"/>
              </a:rPr>
              <a:t>FEATURES IMPORTANCE WITH DECISION TREES</a:t>
            </a:r>
          </a:p>
        </p:txBody>
      </p:sp>
      <p:sp>
        <p:nvSpPr>
          <p:cNvPr name="TextBox 8" id="8"/>
          <p:cNvSpPr txBox="true"/>
          <p:nvPr/>
        </p:nvSpPr>
        <p:spPr>
          <a:xfrm rot="0">
            <a:off x="712887" y="2067524"/>
            <a:ext cx="16726972" cy="1490856"/>
          </a:xfrm>
          <a:prstGeom prst="rect">
            <a:avLst/>
          </a:prstGeom>
        </p:spPr>
        <p:txBody>
          <a:bodyPr anchor="t" rtlCol="false" tIns="0" lIns="0" bIns="0" rIns="0">
            <a:spAutoFit/>
          </a:bodyPr>
          <a:lstStyle/>
          <a:p>
            <a:pPr algn="l">
              <a:lnSpc>
                <a:spcPts val="6230"/>
              </a:lnSpc>
            </a:pPr>
            <a:r>
              <a:rPr lang="en-US" sz="3099">
                <a:solidFill>
                  <a:srgbClr val="000000"/>
                </a:solidFill>
                <a:latin typeface="Open Sans"/>
                <a:ea typeface="Open Sans"/>
                <a:cs typeface="Open Sans"/>
                <a:sym typeface="Open Sans"/>
              </a:rPr>
              <a:t>Decision Trees are particularly useful for understanding feature importance because they can assign a score to each feature based on how important it is in making predictions.</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13988837" y="5419568"/>
            <a:ext cx="3404062" cy="4114800"/>
          </a:xfrm>
          <a:custGeom>
            <a:avLst/>
            <a:gdLst/>
            <a:ahLst/>
            <a:cxnLst/>
            <a:rect r="r" b="b" t="t" l="l"/>
            <a:pathLst>
              <a:path h="4114800" w="3404062">
                <a:moveTo>
                  <a:pt x="0" y="0"/>
                </a:moveTo>
                <a:lnTo>
                  <a:pt x="3404062" y="0"/>
                </a:lnTo>
                <a:lnTo>
                  <a:pt x="340406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828302" y="3406091"/>
            <a:ext cx="12732977" cy="2220651"/>
          </a:xfrm>
          <a:prstGeom prst="rect">
            <a:avLst/>
          </a:prstGeom>
        </p:spPr>
        <p:txBody>
          <a:bodyPr anchor="t" rtlCol="false" tIns="0" lIns="0" bIns="0" rIns="0">
            <a:spAutoFit/>
          </a:bodyPr>
          <a:lstStyle/>
          <a:p>
            <a:pPr algn="l" marL="0" indent="0" lvl="0">
              <a:lnSpc>
                <a:spcPts val="18194"/>
              </a:lnSpc>
              <a:spcBef>
                <a:spcPct val="0"/>
              </a:spcBef>
            </a:pPr>
            <a:r>
              <a:rPr lang="en-US" sz="12996">
                <a:solidFill>
                  <a:srgbClr val="0F4662"/>
                </a:solidFill>
                <a:latin typeface="Genty Sans"/>
                <a:ea typeface="Genty Sans"/>
                <a:cs typeface="Genty Sans"/>
                <a:sym typeface="Genty Sans"/>
              </a:rPr>
              <a:t>7. CONCLUSION</a:t>
            </a:r>
          </a:p>
        </p:txBody>
      </p:sp>
    </p:spTree>
  </p:cSld>
  <p:clrMapOvr>
    <a:masterClrMapping/>
  </p:clrMapOvr>
</p:sld>
</file>

<file path=ppt/slides/slide45.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1028700" y="1843327"/>
            <a:ext cx="16998425" cy="7936295"/>
          </a:xfrm>
          <a:prstGeom prst="rect">
            <a:avLst/>
          </a:prstGeom>
        </p:spPr>
        <p:txBody>
          <a:bodyPr anchor="t" rtlCol="false" tIns="0" lIns="0" bIns="0" rIns="0">
            <a:spAutoFit/>
          </a:bodyPr>
          <a:lstStyle/>
          <a:p>
            <a:pPr algn="l">
              <a:lnSpc>
                <a:spcPts val="7081"/>
              </a:lnSpc>
            </a:pPr>
            <a:r>
              <a:rPr lang="en-US" sz="2914">
                <a:solidFill>
                  <a:srgbClr val="000000"/>
                </a:solidFill>
                <a:latin typeface="Open Sans"/>
                <a:ea typeface="Open Sans"/>
                <a:cs typeface="Open Sans"/>
                <a:sym typeface="Open Sans"/>
              </a:rPr>
              <a:t>Our project aimed to predict the success of startups using supervised learning models. </a:t>
            </a:r>
          </a:p>
          <a:p>
            <a:pPr algn="l">
              <a:lnSpc>
                <a:spcPts val="7081"/>
              </a:lnSpc>
            </a:pPr>
            <a:r>
              <a:rPr lang="en-US" sz="2914">
                <a:solidFill>
                  <a:srgbClr val="000000"/>
                </a:solidFill>
                <a:latin typeface="Open Sans"/>
                <a:ea typeface="Open Sans"/>
                <a:cs typeface="Open Sans"/>
                <a:sym typeface="Open Sans"/>
              </a:rPr>
              <a:t>After evaluating KNN, Logistic Regression, Naive Bayes and Decision Tree, we found that </a:t>
            </a:r>
            <a:r>
              <a:rPr lang="en-US" sz="2914" b="true">
                <a:solidFill>
                  <a:srgbClr val="000000"/>
                </a:solidFill>
                <a:latin typeface="Open Sans Bold"/>
                <a:ea typeface="Open Sans Bold"/>
                <a:cs typeface="Open Sans Bold"/>
                <a:sym typeface="Open Sans Bold"/>
              </a:rPr>
              <a:t>KNN</a:t>
            </a:r>
            <a:r>
              <a:rPr lang="en-US" sz="2914">
                <a:solidFill>
                  <a:srgbClr val="000000"/>
                </a:solidFill>
                <a:latin typeface="Open Sans"/>
                <a:ea typeface="Open Sans"/>
                <a:cs typeface="Open Sans"/>
                <a:sym typeface="Open Sans"/>
              </a:rPr>
              <a:t> </a:t>
            </a:r>
          </a:p>
          <a:p>
            <a:pPr algn="l">
              <a:lnSpc>
                <a:spcPts val="7081"/>
              </a:lnSpc>
            </a:pPr>
            <a:r>
              <a:rPr lang="en-US" sz="2914">
                <a:solidFill>
                  <a:srgbClr val="000000"/>
                </a:solidFill>
                <a:latin typeface="Open Sans"/>
                <a:ea typeface="Open Sans"/>
                <a:cs typeface="Open Sans"/>
                <a:sym typeface="Open Sans"/>
              </a:rPr>
              <a:t>and </a:t>
            </a:r>
            <a:r>
              <a:rPr lang="en-US" sz="2914" b="true">
                <a:solidFill>
                  <a:srgbClr val="000000"/>
                </a:solidFill>
                <a:latin typeface="Open Sans Bold"/>
                <a:ea typeface="Open Sans Bold"/>
                <a:cs typeface="Open Sans Bold"/>
                <a:sym typeface="Open Sans Bold"/>
              </a:rPr>
              <a:t>Logistic Regression</a:t>
            </a:r>
            <a:r>
              <a:rPr lang="en-US" sz="2914">
                <a:solidFill>
                  <a:srgbClr val="000000"/>
                </a:solidFill>
                <a:latin typeface="Open Sans"/>
                <a:ea typeface="Open Sans"/>
                <a:cs typeface="Open Sans"/>
                <a:sym typeface="Open Sans"/>
              </a:rPr>
              <a:t> performed the best achieving the highest</a:t>
            </a:r>
            <a:r>
              <a:rPr lang="en-US" sz="2914" b="true">
                <a:solidFill>
                  <a:srgbClr val="000000"/>
                </a:solidFill>
                <a:latin typeface="Open Sans Bold"/>
                <a:ea typeface="Open Sans Bold"/>
                <a:cs typeface="Open Sans Bold"/>
                <a:sym typeface="Open Sans Bold"/>
              </a:rPr>
              <a:t> accuracy ≈ 80%</a:t>
            </a:r>
            <a:r>
              <a:rPr lang="en-US" sz="2914">
                <a:solidFill>
                  <a:srgbClr val="000000"/>
                </a:solidFill>
                <a:latin typeface="Open Sans"/>
                <a:ea typeface="Open Sans"/>
                <a:cs typeface="Open Sans"/>
                <a:sym typeface="Open Sans"/>
              </a:rPr>
              <a:t>.</a:t>
            </a:r>
          </a:p>
          <a:p>
            <a:pPr algn="l">
              <a:lnSpc>
                <a:spcPts val="7081"/>
              </a:lnSpc>
            </a:pPr>
            <a:r>
              <a:rPr lang="en-US" sz="2914">
                <a:solidFill>
                  <a:srgbClr val="000000"/>
                </a:solidFill>
                <a:latin typeface="Open Sans"/>
                <a:ea typeface="Open Sans"/>
                <a:cs typeface="Open Sans"/>
                <a:sym typeface="Open Sans"/>
              </a:rPr>
              <a:t>Additionally, with the help of </a:t>
            </a:r>
            <a:r>
              <a:rPr lang="en-US" sz="2914" b="true">
                <a:solidFill>
                  <a:srgbClr val="000000"/>
                </a:solidFill>
                <a:latin typeface="Open Sans Bold"/>
                <a:ea typeface="Open Sans Bold"/>
                <a:cs typeface="Open Sans Bold"/>
                <a:sym typeface="Open Sans Bold"/>
              </a:rPr>
              <a:t>Decision Tree</a:t>
            </a:r>
            <a:r>
              <a:rPr lang="en-US" sz="2914">
                <a:solidFill>
                  <a:srgbClr val="000000"/>
                </a:solidFill>
                <a:latin typeface="Open Sans"/>
                <a:ea typeface="Open Sans"/>
                <a:cs typeface="Open Sans"/>
                <a:sym typeface="Open Sans"/>
              </a:rPr>
              <a:t>, we identified that the most influential factors</a:t>
            </a:r>
            <a:r>
              <a:rPr lang="en-US" sz="2914" b="true">
                <a:solidFill>
                  <a:srgbClr val="000000"/>
                </a:solidFill>
                <a:latin typeface="Open Sans Bold"/>
                <a:ea typeface="Open Sans Bold"/>
                <a:cs typeface="Open Sans Bold"/>
                <a:sym typeface="Open Sans Bold"/>
              </a:rPr>
              <a:t> </a:t>
            </a:r>
            <a:r>
              <a:rPr lang="en-US" sz="2914">
                <a:solidFill>
                  <a:srgbClr val="000000"/>
                </a:solidFill>
                <a:latin typeface="Open Sans"/>
                <a:ea typeface="Open Sans"/>
                <a:cs typeface="Open Sans"/>
                <a:sym typeface="Open Sans"/>
              </a:rPr>
              <a:t>contributing to a startup’s success were the total funding received and the date of first funding. This insight emphasizes the critical role that </a:t>
            </a:r>
            <a:r>
              <a:rPr lang="en-US" sz="2914" b="true">
                <a:solidFill>
                  <a:srgbClr val="000000"/>
                </a:solidFill>
                <a:latin typeface="Open Sans Bold"/>
                <a:ea typeface="Open Sans Bold"/>
                <a:cs typeface="Open Sans Bold"/>
                <a:sym typeface="Open Sans Bold"/>
              </a:rPr>
              <a:t>financial backing and timing</a:t>
            </a:r>
            <a:r>
              <a:rPr lang="en-US" sz="2914">
                <a:solidFill>
                  <a:srgbClr val="000000"/>
                </a:solidFill>
                <a:latin typeface="Open Sans"/>
                <a:ea typeface="Open Sans"/>
                <a:cs typeface="Open Sans"/>
                <a:sym typeface="Open Sans"/>
              </a:rPr>
              <a:t> play in a startup’s potential for </a:t>
            </a:r>
            <a:r>
              <a:rPr lang="en-US" sz="2914" b="true">
                <a:solidFill>
                  <a:srgbClr val="000000"/>
                </a:solidFill>
                <a:latin typeface="Open Sans Bold"/>
                <a:ea typeface="Open Sans Bold"/>
                <a:cs typeface="Open Sans Bold"/>
                <a:sym typeface="Open Sans Bold"/>
              </a:rPr>
              <a:t>success</a:t>
            </a:r>
            <a:r>
              <a:rPr lang="en-US" sz="2914">
                <a:solidFill>
                  <a:srgbClr val="000000"/>
                </a:solidFill>
                <a:latin typeface="Open Sans"/>
                <a:ea typeface="Open Sans"/>
                <a:cs typeface="Open Sans"/>
                <a:sym typeface="Open Sans"/>
              </a:rPr>
              <a:t>.</a:t>
            </a:r>
          </a:p>
          <a:p>
            <a:pPr algn="l">
              <a:lnSpc>
                <a:spcPts val="7081"/>
              </a:lnSpc>
            </a:pPr>
            <a:r>
              <a:rPr lang="en-US" sz="2914">
                <a:solidFill>
                  <a:srgbClr val="000000"/>
                </a:solidFill>
                <a:latin typeface="Open Sans"/>
                <a:ea typeface="Open Sans"/>
                <a:cs typeface="Open Sans"/>
                <a:sym typeface="Open Sans"/>
              </a:rPr>
              <a:t>By applying machine learning, we provided valuable insights that can help entrepreneurs and investors make informed decisions based on predictive analytics.</a:t>
            </a:r>
          </a:p>
        </p:txBody>
      </p:sp>
      <p:grpSp>
        <p:nvGrpSpPr>
          <p:cNvPr name="Group 3" id="3"/>
          <p:cNvGrpSpPr/>
          <p:nvPr/>
        </p:nvGrpSpPr>
        <p:grpSpPr>
          <a:xfrm rot="0">
            <a:off x="0" y="0"/>
            <a:ext cx="18288000" cy="1907687"/>
            <a:chOff x="0" y="0"/>
            <a:chExt cx="4816593" cy="502436"/>
          </a:xfrm>
        </p:grpSpPr>
        <p:sp>
          <p:nvSpPr>
            <p:cNvPr name="Freeform 4" id="4"/>
            <p:cNvSpPr/>
            <p:nvPr/>
          </p:nvSpPr>
          <p:spPr>
            <a:xfrm flipH="false" flipV="false" rot="0">
              <a:off x="0" y="0"/>
              <a:ext cx="4816592" cy="502436"/>
            </a:xfrm>
            <a:custGeom>
              <a:avLst/>
              <a:gdLst/>
              <a:ahLst/>
              <a:cxnLst/>
              <a:rect r="r" b="b" t="t" l="l"/>
              <a:pathLst>
                <a:path h="502436" w="4816592">
                  <a:moveTo>
                    <a:pt x="0" y="0"/>
                  </a:moveTo>
                  <a:lnTo>
                    <a:pt x="4816592" y="0"/>
                  </a:lnTo>
                  <a:lnTo>
                    <a:pt x="4816592" y="502436"/>
                  </a:lnTo>
                  <a:lnTo>
                    <a:pt x="0" y="502436"/>
                  </a:lnTo>
                  <a:close/>
                </a:path>
              </a:pathLst>
            </a:custGeom>
            <a:solidFill>
              <a:srgbClr val="DBE5EA"/>
            </a:solidFill>
          </p:spPr>
        </p:sp>
        <p:sp>
          <p:nvSpPr>
            <p:cNvPr name="TextBox 5" id="5"/>
            <p:cNvSpPr txBox="true"/>
            <p:nvPr/>
          </p:nvSpPr>
          <p:spPr>
            <a:xfrm>
              <a:off x="0" y="-47625"/>
              <a:ext cx="4816593" cy="550061"/>
            </a:xfrm>
            <a:prstGeom prst="rect">
              <a:avLst/>
            </a:prstGeom>
          </p:spPr>
          <p:txBody>
            <a:bodyPr anchor="ctr" rtlCol="false" tIns="50800" lIns="50800" bIns="50800" rIns="50800"/>
            <a:lstStyle/>
            <a:p>
              <a:pPr algn="ctr">
                <a:lnSpc>
                  <a:spcPts val="3693"/>
                </a:lnSpc>
              </a:pPr>
            </a:p>
          </p:txBody>
        </p:sp>
      </p:grpSp>
      <p:sp>
        <p:nvSpPr>
          <p:cNvPr name="TextBox 6" id="6"/>
          <p:cNvSpPr txBox="true"/>
          <p:nvPr/>
        </p:nvSpPr>
        <p:spPr>
          <a:xfrm rot="0">
            <a:off x="4568756" y="334779"/>
            <a:ext cx="9150487" cy="1104779"/>
          </a:xfrm>
          <a:prstGeom prst="rect">
            <a:avLst/>
          </a:prstGeom>
        </p:spPr>
        <p:txBody>
          <a:bodyPr anchor="t" rtlCol="false" tIns="0" lIns="0" bIns="0" rIns="0">
            <a:spAutoFit/>
          </a:bodyPr>
          <a:lstStyle/>
          <a:p>
            <a:pPr algn="l">
              <a:lnSpc>
                <a:spcPts val="8931"/>
              </a:lnSpc>
            </a:pPr>
            <a:r>
              <a:rPr lang="en-US" sz="6379" u="sng">
                <a:solidFill>
                  <a:srgbClr val="0F4662"/>
                </a:solidFill>
                <a:latin typeface="Genty Sans"/>
                <a:ea typeface="Genty Sans"/>
                <a:cs typeface="Genty Sans"/>
                <a:sym typeface="Genty Sans"/>
              </a:rPr>
              <a:t>SUMMARY OF FINDINGS</a:t>
            </a:r>
          </a:p>
        </p:txBody>
      </p:sp>
      <p:sp>
        <p:nvSpPr>
          <p:cNvPr name="TextBox 7" id="7"/>
          <p:cNvSpPr txBox="true"/>
          <p:nvPr/>
        </p:nvSpPr>
        <p:spPr>
          <a:xfrm rot="0">
            <a:off x="17259300" y="9220200"/>
            <a:ext cx="152400" cy="190500"/>
          </a:xfrm>
          <a:prstGeom prst="rect">
            <a:avLst/>
          </a:prstGeom>
        </p:spPr>
        <p:txBody>
          <a:bodyPr anchor="t" rtlCol="false" tIns="0" lIns="0" bIns="0" rIns="0" wrap="none">
            <a:spAutoFit/>
          </a:bodyPr>
          <a:lstStyle/>
          <a:p>
            <a:pPr algn="ctr">
              <a:lnSpc>
                <a:spcPts val="3359"/>
              </a:lnSpc>
              <a:spcBef>
                <a:spcPct val="0"/>
              </a:spcBef>
            </a:pPr>
            <a:r>
              <a:rPr lang="en-US" sz="2399">
                <a:solidFill>
                  <a:srgbClr val="0F4662"/>
                </a:solidFill>
                <a:latin typeface="Canva Sans"/>
                <a:ea typeface="Canva Sans"/>
                <a:cs typeface="Canva Sans"/>
                <a:sym typeface="Canva Sans"/>
              </a:rPr>
              <a:t>45</a:t>
            </a:r>
          </a:p>
        </p:txBody>
      </p:sp>
    </p:spTree>
  </p:cSld>
  <p:clrMapOvr>
    <a:masterClrMapping/>
  </p:clrMapOvr>
</p:sld>
</file>

<file path=ppt/slides/slide46.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637154" y="3369664"/>
            <a:ext cx="14411340" cy="3185722"/>
          </a:xfrm>
          <a:prstGeom prst="rect">
            <a:avLst/>
          </a:prstGeom>
        </p:spPr>
        <p:txBody>
          <a:bodyPr anchor="t" rtlCol="false" tIns="0" lIns="0" bIns="0" rIns="0">
            <a:spAutoFit/>
          </a:bodyPr>
          <a:lstStyle/>
          <a:p>
            <a:pPr algn="ctr" marL="0" indent="0" lvl="0">
              <a:lnSpc>
                <a:spcPts val="26009"/>
              </a:lnSpc>
              <a:spcBef>
                <a:spcPct val="0"/>
              </a:spcBef>
            </a:pPr>
            <a:r>
              <a:rPr lang="en-US" sz="18577">
                <a:solidFill>
                  <a:srgbClr val="0F4662"/>
                </a:solidFill>
                <a:latin typeface="Genty Sans"/>
                <a:ea typeface="Genty Sans"/>
                <a:cs typeface="Genty Sans"/>
                <a:sym typeface="Genty Sans"/>
              </a:rPr>
              <a:t>THANK YOU !</a:t>
            </a:r>
          </a:p>
        </p:txBody>
      </p:sp>
      <p:sp>
        <p:nvSpPr>
          <p:cNvPr name="AutoShape 3" id="3"/>
          <p:cNvSpPr/>
          <p:nvPr/>
        </p:nvSpPr>
        <p:spPr>
          <a:xfrm>
            <a:off x="10767060" y="2348682"/>
            <a:ext cx="6492240" cy="0"/>
          </a:xfrm>
          <a:prstGeom prst="line">
            <a:avLst/>
          </a:prstGeom>
          <a:ln cap="flat" w="76200">
            <a:solidFill>
              <a:srgbClr val="0F4662"/>
            </a:solidFill>
            <a:prstDash val="solid"/>
            <a:headEnd type="none" len="sm" w="sm"/>
            <a:tailEnd type="none" len="sm" w="sm"/>
          </a:ln>
        </p:spPr>
      </p:sp>
      <p:sp>
        <p:nvSpPr>
          <p:cNvPr name="AutoShape 4" id="4"/>
          <p:cNvSpPr/>
          <p:nvPr/>
        </p:nvSpPr>
        <p:spPr>
          <a:xfrm>
            <a:off x="1028700" y="8226682"/>
            <a:ext cx="6492240" cy="0"/>
          </a:xfrm>
          <a:prstGeom prst="line">
            <a:avLst/>
          </a:prstGeom>
          <a:ln cap="flat" w="76200">
            <a:solidFill>
              <a:srgbClr val="0F4662"/>
            </a:solidFill>
            <a:prstDash val="solid"/>
            <a:headEnd type="none" len="sm" w="sm"/>
            <a:tailEnd type="none" len="sm" w="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DAGYQoHlLw8</dc:identifier>
  <dcterms:modified xsi:type="dcterms:W3CDTF">2011-08-01T06:04:30Z</dcterms:modified>
  <cp:revision>1</cp:revision>
  <dc:title>ML</dc:title>
</cp:coreProperties>
</file>